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C1C"/>
        </a:solidFill>
      </p:bgPr>
    </p:bg>
    <p:spTree>
      <p:nvGrpSpPr>
        <p:cNvPr id="1" name=""/>
        <p:cNvGrpSpPr/>
        <p:nvPr/>
      </p:nvGrpSpPr>
      <p:grpSpPr>
        <a:xfrm>
          <a:off x="0" y="0"/>
          <a:ext cx="0" cy="0"/>
          <a:chOff x="0" y="0"/>
          <a:chExt cx="0" cy="0"/>
        </a:xfrm>
      </p:grpSpPr>
      <p:sp>
        <p:nvSpPr>
          <p:cNvPr id="2" name="BackPanel"/>
          <p:cNvSpPr/>
          <p:nvPr/>
        </p:nvSpPr>
        <p:spPr>
          <a:xfrm>
            <a:off x="8595360" y="-548640"/>
            <a:ext cx="3840480" cy="6583680"/>
          </a:xfrm>
          <a:prstGeom prst="roundRect">
            <a:avLst>
              <a:gd name="adj" fmla="val 14286"/>
            </a:avLst>
          </a:prstGeom>
          <a:solidFill>
            <a:srgbClr val="1F233E"/>
          </a:solidFill>
          <a:ln w="12700">
            <a:solidFill>
              <a:srgbClr val="1F233E"/>
            </a:solidFill>
            <a:prstDash val="solid"/>
          </a:ln>
        </p:spPr>
      </p:sp>
      <p:sp>
        <p:nvSpPr>
          <p:cNvPr id="3" name="PurpleFrame"/>
          <p:cNvSpPr/>
          <p:nvPr/>
        </p:nvSpPr>
        <p:spPr>
          <a:xfrm>
            <a:off x="9052560" y="320040"/>
            <a:ext cx="2926080" cy="5852160"/>
          </a:xfrm>
          <a:prstGeom prst="roundRect">
            <a:avLst>
              <a:gd name="adj" fmla="val 21875"/>
            </a:avLst>
          </a:prstGeom>
          <a:solidFill>
            <a:srgbClr val="7E57FF"/>
          </a:solidFill>
          <a:ln w="12700">
            <a:solidFill>
              <a:srgbClr val="7E57FF"/>
            </a:solidFill>
            <a:prstDash val="solid"/>
          </a:ln>
        </p:spPr>
      </p:sp>
      <p:sp>
        <p:nvSpPr>
          <p:cNvPr id="4" name="Screen"/>
          <p:cNvSpPr/>
          <p:nvPr/>
        </p:nvSpPr>
        <p:spPr>
          <a:xfrm>
            <a:off x="9372600" y="777240"/>
            <a:ext cx="2286000" cy="4846320"/>
          </a:xfrm>
          <a:prstGeom prst="roundRect">
            <a:avLst>
              <a:gd name="adj" fmla="val 20000"/>
            </a:avLst>
          </a:prstGeom>
          <a:solidFill>
            <a:srgbClr val="0A0C1C"/>
          </a:solidFill>
          <a:ln w="12700">
            <a:solidFill>
              <a:srgbClr val="0A0C1C"/>
            </a:solidFill>
            <a:prstDash val="solid"/>
          </a:ln>
          <a:effectLst>
            <a:outerShdw sx="100000" sy="100000" kx="0" ky="0" algn="bl" rotWithShape="0" blurRad="127000" dist="38100" dir="5400000">
              <a:srgbClr val="000000">
                <a:alpha val="40000"/>
              </a:srgbClr>
            </a:outerShdw>
          </a:effectLst>
        </p:spPr>
      </p:sp>
      <p:sp>
        <p:nvSpPr>
          <p:cNvPr id="5" name="Slot1"/>
          <p:cNvSpPr/>
          <p:nvPr/>
        </p:nvSpPr>
        <p:spPr>
          <a:xfrm>
            <a:off x="9601200" y="1143000"/>
            <a:ext cx="512064" cy="566928"/>
          </a:xfrm>
          <a:prstGeom prst="roundRect">
            <a:avLst>
              <a:gd name="adj" fmla="val 17857"/>
            </a:avLst>
          </a:prstGeom>
          <a:solidFill>
            <a:srgbClr val="34C98B"/>
          </a:solidFill>
          <a:ln w="12700">
            <a:solidFill>
              <a:srgbClr val="34C98B"/>
            </a:solidFill>
            <a:prstDash val="solid"/>
          </a:ln>
        </p:spPr>
      </p:sp>
      <p:sp>
        <p:nvSpPr>
          <p:cNvPr id="6" name="Slot2"/>
          <p:cNvSpPr/>
          <p:nvPr/>
        </p:nvSpPr>
        <p:spPr>
          <a:xfrm>
            <a:off x="10204704" y="1143000"/>
            <a:ext cx="512064" cy="566928"/>
          </a:xfrm>
          <a:prstGeom prst="roundRect">
            <a:avLst>
              <a:gd name="adj" fmla="val 17857"/>
            </a:avLst>
          </a:prstGeom>
          <a:solidFill>
            <a:srgbClr val="4991FF"/>
          </a:solidFill>
          <a:ln w="12700">
            <a:solidFill>
              <a:srgbClr val="4991FF"/>
            </a:solidFill>
            <a:prstDash val="solid"/>
          </a:ln>
        </p:spPr>
      </p:sp>
      <p:sp>
        <p:nvSpPr>
          <p:cNvPr id="7" name="Slot3"/>
          <p:cNvSpPr/>
          <p:nvPr/>
        </p:nvSpPr>
        <p:spPr>
          <a:xfrm>
            <a:off x="10808208" y="1143000"/>
            <a:ext cx="512064" cy="566928"/>
          </a:xfrm>
          <a:prstGeom prst="roundRect">
            <a:avLst>
              <a:gd name="adj" fmla="val 17857"/>
            </a:avLst>
          </a:prstGeom>
          <a:solidFill>
            <a:srgbClr val="7E57FF"/>
          </a:solidFill>
          <a:ln w="12700">
            <a:solidFill>
              <a:srgbClr val="7E57FF"/>
            </a:solidFill>
            <a:prstDash val="solid"/>
          </a:ln>
        </p:spPr>
      </p:sp>
      <p:sp>
        <p:nvSpPr>
          <p:cNvPr id="8" name="Slot4"/>
          <p:cNvSpPr/>
          <p:nvPr/>
        </p:nvSpPr>
        <p:spPr>
          <a:xfrm>
            <a:off x="9601200" y="1837944"/>
            <a:ext cx="512064" cy="566928"/>
          </a:xfrm>
          <a:prstGeom prst="roundRect">
            <a:avLst>
              <a:gd name="adj" fmla="val 17857"/>
            </a:avLst>
          </a:prstGeom>
          <a:solidFill>
            <a:srgbClr val="36D3D6"/>
          </a:solidFill>
          <a:ln w="12700">
            <a:solidFill>
              <a:srgbClr val="36D3D6"/>
            </a:solidFill>
            <a:prstDash val="solid"/>
          </a:ln>
        </p:spPr>
      </p:sp>
      <p:sp>
        <p:nvSpPr>
          <p:cNvPr id="9" name="Slot5"/>
          <p:cNvSpPr/>
          <p:nvPr/>
        </p:nvSpPr>
        <p:spPr>
          <a:xfrm>
            <a:off x="10204704" y="1837944"/>
            <a:ext cx="512064" cy="566928"/>
          </a:xfrm>
          <a:prstGeom prst="roundRect">
            <a:avLst>
              <a:gd name="adj" fmla="val 17857"/>
            </a:avLst>
          </a:prstGeom>
          <a:solidFill>
            <a:srgbClr val="EB5B99"/>
          </a:solidFill>
          <a:ln w="12700">
            <a:solidFill>
              <a:srgbClr val="EB5B99"/>
            </a:solidFill>
            <a:prstDash val="solid"/>
          </a:ln>
        </p:spPr>
      </p:sp>
      <p:sp>
        <p:nvSpPr>
          <p:cNvPr id="10" name="Slot6"/>
          <p:cNvSpPr/>
          <p:nvPr/>
        </p:nvSpPr>
        <p:spPr>
          <a:xfrm>
            <a:off x="10808208" y="1837944"/>
            <a:ext cx="512064" cy="566928"/>
          </a:xfrm>
          <a:prstGeom prst="roundRect">
            <a:avLst>
              <a:gd name="adj" fmla="val 17857"/>
            </a:avLst>
          </a:prstGeom>
          <a:solidFill>
            <a:srgbClr val="4991FF"/>
          </a:solidFill>
          <a:ln w="12700">
            <a:solidFill>
              <a:srgbClr val="4991FF"/>
            </a:solidFill>
            <a:prstDash val="solid"/>
          </a:ln>
        </p:spPr>
      </p:sp>
      <p:sp>
        <p:nvSpPr>
          <p:cNvPr id="11" name="Slot7"/>
          <p:cNvSpPr/>
          <p:nvPr/>
        </p:nvSpPr>
        <p:spPr>
          <a:xfrm>
            <a:off x="9601200" y="2532888"/>
            <a:ext cx="512064" cy="566928"/>
          </a:xfrm>
          <a:prstGeom prst="roundRect">
            <a:avLst>
              <a:gd name="adj" fmla="val 17857"/>
            </a:avLst>
          </a:prstGeom>
          <a:solidFill>
            <a:srgbClr val="36D3D6"/>
          </a:solidFill>
          <a:ln w="12700">
            <a:solidFill>
              <a:srgbClr val="36D3D6"/>
            </a:solidFill>
            <a:prstDash val="solid"/>
          </a:ln>
        </p:spPr>
      </p:sp>
      <p:sp>
        <p:nvSpPr>
          <p:cNvPr id="12" name="Slot8"/>
          <p:cNvSpPr/>
          <p:nvPr/>
        </p:nvSpPr>
        <p:spPr>
          <a:xfrm>
            <a:off x="10204704" y="2532888"/>
            <a:ext cx="512064" cy="566928"/>
          </a:xfrm>
          <a:prstGeom prst="roundRect">
            <a:avLst>
              <a:gd name="adj" fmla="val 17857"/>
            </a:avLst>
          </a:prstGeom>
          <a:solidFill>
            <a:srgbClr val="34C98B"/>
          </a:solidFill>
          <a:ln w="12700">
            <a:solidFill>
              <a:srgbClr val="34C98B"/>
            </a:solidFill>
            <a:prstDash val="solid"/>
          </a:ln>
        </p:spPr>
      </p:sp>
      <p:sp>
        <p:nvSpPr>
          <p:cNvPr id="13" name="Slot9"/>
          <p:cNvSpPr/>
          <p:nvPr/>
        </p:nvSpPr>
        <p:spPr>
          <a:xfrm>
            <a:off x="10808208" y="2532888"/>
            <a:ext cx="512064" cy="566928"/>
          </a:xfrm>
          <a:prstGeom prst="roundRect">
            <a:avLst>
              <a:gd name="adj" fmla="val 17857"/>
            </a:avLst>
          </a:prstGeom>
          <a:solidFill>
            <a:srgbClr val="7E57FF"/>
          </a:solidFill>
          <a:ln w="12700">
            <a:solidFill>
              <a:srgbClr val="7E57FF"/>
            </a:solidFill>
            <a:prstDash val="solid"/>
          </a:ln>
        </p:spPr>
      </p:sp>
      <p:sp>
        <p:nvSpPr>
          <p:cNvPr id="14" name="Slot10"/>
          <p:cNvSpPr/>
          <p:nvPr/>
        </p:nvSpPr>
        <p:spPr>
          <a:xfrm>
            <a:off x="9601200" y="3227832"/>
            <a:ext cx="512064" cy="566928"/>
          </a:xfrm>
          <a:prstGeom prst="roundRect">
            <a:avLst>
              <a:gd name="adj" fmla="val 17857"/>
            </a:avLst>
          </a:prstGeom>
          <a:solidFill>
            <a:srgbClr val="EB5B99"/>
          </a:solidFill>
          <a:ln w="12700">
            <a:solidFill>
              <a:srgbClr val="EB5B99"/>
            </a:solidFill>
            <a:prstDash val="solid"/>
          </a:ln>
        </p:spPr>
      </p:sp>
      <p:sp>
        <p:nvSpPr>
          <p:cNvPr id="15" name="Slot11"/>
          <p:cNvSpPr/>
          <p:nvPr/>
        </p:nvSpPr>
        <p:spPr>
          <a:xfrm>
            <a:off x="10204704" y="3227832"/>
            <a:ext cx="512064" cy="566928"/>
          </a:xfrm>
          <a:prstGeom prst="roundRect">
            <a:avLst>
              <a:gd name="adj" fmla="val 17857"/>
            </a:avLst>
          </a:prstGeom>
          <a:solidFill>
            <a:srgbClr val="34C98B"/>
          </a:solidFill>
          <a:ln w="12700">
            <a:solidFill>
              <a:srgbClr val="34C98B"/>
            </a:solidFill>
            <a:prstDash val="solid"/>
          </a:ln>
        </p:spPr>
      </p:sp>
      <p:sp>
        <p:nvSpPr>
          <p:cNvPr id="16" name="Slot12"/>
          <p:cNvSpPr/>
          <p:nvPr/>
        </p:nvSpPr>
        <p:spPr>
          <a:xfrm>
            <a:off x="10808208" y="3227832"/>
            <a:ext cx="512064" cy="566928"/>
          </a:xfrm>
          <a:prstGeom prst="roundRect">
            <a:avLst>
              <a:gd name="adj" fmla="val 17857"/>
            </a:avLst>
          </a:prstGeom>
          <a:solidFill>
            <a:srgbClr val="4991FF"/>
          </a:solidFill>
          <a:ln w="12700">
            <a:solidFill>
              <a:srgbClr val="4991FF"/>
            </a:solidFill>
            <a:prstDash val="solid"/>
          </a:ln>
        </p:spPr>
      </p:sp>
      <p:sp>
        <p:nvSpPr>
          <p:cNvPr id="17" name="Text 15"/>
          <p:cNvSpPr txBox="1"/>
          <p:nvPr/>
        </p:nvSpPr>
        <p:spPr>
          <a:xfrm>
            <a:off x="9372600" y="4069080"/>
            <a:ext cx="2286000" cy="457200"/>
          </a:xfrm>
          <a:prstGeom prst="rect">
            <a:avLst/>
          </a:prstGeom>
          <a:noFill/>
          <a:ln/>
        </p:spPr>
        <p:txBody>
          <a:bodyPr wrap="square" lIns="0" tIns="0" rIns="0" bIns="0" rtlCol="0" anchor="ctr"/>
          <a:lstStyle/>
          <a:p>
            <a:pPr algn="ctr" indent="0" marL="0">
              <a:buNone/>
            </a:pPr>
            <a:r>
              <a:rPr lang="en-US" sz="2600" b="1" dirty="0">
                <a:solidFill>
                  <a:srgbClr val="36D3D6"/>
                </a:solidFill>
              </a:rPr>
              <a:t>SLOT</a:t>
            </a:r>
            <a:endParaRPr lang="en-US" sz="2600" dirty="0"/>
          </a:p>
        </p:txBody>
      </p:sp>
      <p:sp>
        <p:nvSpPr>
          <p:cNvPr id="18" name="Text 16"/>
          <p:cNvSpPr txBox="1"/>
          <p:nvPr/>
        </p:nvSpPr>
        <p:spPr>
          <a:xfrm>
            <a:off x="9372600" y="4572000"/>
            <a:ext cx="2286000" cy="274320"/>
          </a:xfrm>
          <a:prstGeom prst="rect">
            <a:avLst/>
          </a:prstGeom>
          <a:noFill/>
          <a:ln/>
        </p:spPr>
        <p:txBody>
          <a:bodyPr wrap="square" lIns="0" tIns="0" rIns="0" bIns="0" rtlCol="0" anchor="ctr"/>
          <a:lstStyle/>
          <a:p>
            <a:pPr algn="ctr" indent="0" marL="0">
              <a:buNone/>
            </a:pPr>
            <a:r>
              <a:rPr lang="en-US" sz="900" b="1" dirty="0">
                <a:solidFill>
                  <a:srgbClr val="AAB0CD"/>
                </a:solidFill>
              </a:rPr>
              <a:t>OPTIMIZED STORAGE</a:t>
            </a:r>
            <a:endParaRPr lang="en-US" sz="900" dirty="0"/>
          </a:p>
        </p:txBody>
      </p:sp>
      <p:sp>
        <p:nvSpPr>
          <p:cNvPr id="19" name="Text 17"/>
          <p:cNvSpPr txBox="1"/>
          <p:nvPr/>
        </p:nvSpPr>
        <p:spPr>
          <a:xfrm>
            <a:off x="10881360" y="5852160"/>
            <a:ext cx="914400" cy="228600"/>
          </a:xfrm>
          <a:prstGeom prst="rect">
            <a:avLst/>
          </a:prstGeom>
          <a:noFill/>
          <a:ln/>
        </p:spPr>
        <p:txBody>
          <a:bodyPr wrap="square" lIns="0" tIns="0" rIns="0" bIns="0" rtlCol="0" anchor="ctr"/>
          <a:lstStyle/>
          <a:p>
            <a:pPr algn="r" indent="0" marL="0">
              <a:buNone/>
            </a:pPr>
            <a:r>
              <a:rPr lang="en-US" sz="900" b="1" dirty="0">
                <a:solidFill>
                  <a:srgbClr val="FFFFFF"/>
                </a:solidFill>
              </a:rPr>
              <a:t>2026</a:t>
            </a:r>
            <a:endParaRPr lang="en-US" sz="900" dirty="0"/>
          </a:p>
        </p:txBody>
      </p:sp>
      <p:sp>
        <p:nvSpPr>
          <p:cNvPr id="20" name="Text 18"/>
          <p:cNvSpPr txBox="1"/>
          <p:nvPr/>
        </p:nvSpPr>
        <p:spPr>
          <a:xfrm>
            <a:off x="640080" y="594360"/>
            <a:ext cx="5486400" cy="274320"/>
          </a:xfrm>
          <a:prstGeom prst="rect">
            <a:avLst/>
          </a:prstGeom>
          <a:noFill/>
          <a:ln/>
        </p:spPr>
        <p:txBody>
          <a:bodyPr wrap="square" lIns="0" tIns="0" rIns="0" bIns="0" rtlCol="0" anchor="ctr"/>
          <a:lstStyle/>
          <a:p>
            <a:pPr indent="0" marL="0">
              <a:buNone/>
            </a:pPr>
            <a:r>
              <a:rPr lang="en-US" sz="1100" b="1" dirty="0">
                <a:solidFill>
                  <a:srgbClr val="36D3D6"/>
                </a:solidFill>
              </a:rPr>
              <a:t>PROJECT PRESENTATION</a:t>
            </a:r>
            <a:endParaRPr lang="en-US" sz="1100" dirty="0"/>
          </a:p>
        </p:txBody>
      </p:sp>
      <p:sp>
        <p:nvSpPr>
          <p:cNvPr id="21" name="Text 19"/>
          <p:cNvSpPr txBox="1"/>
          <p:nvPr/>
        </p:nvSpPr>
        <p:spPr>
          <a:xfrm>
            <a:off x="640080" y="1051560"/>
            <a:ext cx="7498080" cy="1463040"/>
          </a:xfrm>
          <a:prstGeom prst="rect">
            <a:avLst/>
          </a:prstGeom>
          <a:noFill/>
          <a:ln/>
        </p:spPr>
        <p:txBody>
          <a:bodyPr wrap="square" lIns="0" tIns="0" rIns="0" bIns="0" rtlCol="0" anchor="t"/>
          <a:lstStyle/>
          <a:p>
            <a:pPr indent="0" marL="0">
              <a:buNone/>
            </a:pPr>
            <a:r>
              <a:rPr lang="en-US" sz="4000" b="1" dirty="0">
                <a:solidFill>
                  <a:srgbClr val="F5F7FF"/>
                </a:solidFill>
              </a:rPr>
              <a:t>Inventory &amp; Warehouse</a:t>
            </a:r>
            <a:endParaRPr lang="en-US" sz="4000" dirty="0"/>
          </a:p>
          <a:p>
            <a:pPr indent="0" marL="0">
              <a:buNone/>
            </a:pPr>
            <a:r>
              <a:rPr lang="en-US" sz="4000" b="1" dirty="0">
                <a:solidFill>
                  <a:srgbClr val="F5F7FF"/>
                </a:solidFill>
              </a:rPr>
              <a:t>Management System</a:t>
            </a:r>
            <a:endParaRPr lang="en-US" sz="4000" dirty="0"/>
          </a:p>
        </p:txBody>
      </p:sp>
      <p:sp>
        <p:nvSpPr>
          <p:cNvPr id="22" name="Text 20"/>
          <p:cNvSpPr txBox="1"/>
          <p:nvPr/>
        </p:nvSpPr>
        <p:spPr>
          <a:xfrm>
            <a:off x="658368" y="2743200"/>
            <a:ext cx="7498080" cy="457200"/>
          </a:xfrm>
          <a:prstGeom prst="rect">
            <a:avLst/>
          </a:prstGeom>
          <a:noFill/>
          <a:ln/>
        </p:spPr>
        <p:txBody>
          <a:bodyPr wrap="square" lIns="0" tIns="0" rIns="0" bIns="0" rtlCol="0" anchor="ctr"/>
          <a:lstStyle/>
          <a:p>
            <a:pPr indent="0" marL="0">
              <a:buNone/>
            </a:pPr>
            <a:r>
              <a:rPr lang="en-US" sz="2200" b="1" dirty="0">
                <a:solidFill>
                  <a:srgbClr val="7E57FF"/>
                </a:solidFill>
              </a:rPr>
              <a:t>with Warehouse Slotting Optimization</a:t>
            </a:r>
            <a:endParaRPr lang="en-US" sz="2200" dirty="0"/>
          </a:p>
        </p:txBody>
      </p:sp>
      <p:sp>
        <p:nvSpPr>
          <p:cNvPr id="23" name="Text 21"/>
          <p:cNvSpPr txBox="1"/>
          <p:nvPr/>
        </p:nvSpPr>
        <p:spPr>
          <a:xfrm>
            <a:off x="658368" y="3474720"/>
            <a:ext cx="6766560" cy="640080"/>
          </a:xfrm>
          <a:prstGeom prst="rect">
            <a:avLst/>
          </a:prstGeom>
          <a:noFill/>
          <a:ln/>
        </p:spPr>
        <p:txBody>
          <a:bodyPr wrap="square" lIns="0" tIns="0" rIns="0" bIns="0" rtlCol="0" anchor="t"/>
          <a:lstStyle/>
          <a:p>
            <a:pPr indent="0" marL="0">
              <a:buNone/>
            </a:pPr>
            <a:r>
              <a:rPr lang="en-US" sz="1400" dirty="0">
                <a:solidFill>
                  <a:srgbClr val="AAB0CD"/>
                </a:solidFill>
              </a:rPr>
              <a:t>A web-based platform for managing products, warehouses, suppliers, staff, stock transactions and orders.</a:t>
            </a:r>
            <a:endParaRPr lang="en-US" sz="1400" dirty="0"/>
          </a:p>
        </p:txBody>
      </p:sp>
      <p:sp>
        <p:nvSpPr>
          <p:cNvPr id="24" name="Text 22"/>
          <p:cNvSpPr txBox="1"/>
          <p:nvPr/>
        </p:nvSpPr>
        <p:spPr>
          <a:xfrm>
            <a:off x="658368" y="4754880"/>
            <a:ext cx="5486400" cy="228600"/>
          </a:xfrm>
          <a:prstGeom prst="rect">
            <a:avLst/>
          </a:prstGeom>
          <a:noFill/>
          <a:ln/>
        </p:spPr>
        <p:txBody>
          <a:bodyPr wrap="square" lIns="0" tIns="0" rIns="0" bIns="0" rtlCol="0" anchor="ctr"/>
          <a:lstStyle/>
          <a:p>
            <a:pPr indent="0" marL="0">
              <a:buNone/>
            </a:pPr>
            <a:r>
              <a:rPr lang="en-US" sz="900" b="1" dirty="0">
                <a:solidFill>
                  <a:srgbClr val="AAB0CD"/>
                </a:solidFill>
              </a:rPr>
              <a:t>TEAM 17 • SEC 12 • MEMBERS</a:t>
            </a:r>
            <a:endParaRPr lang="en-US" sz="900" dirty="0"/>
          </a:p>
        </p:txBody>
      </p:sp>
      <p:sp>
        <p:nvSpPr>
          <p:cNvPr id="25" name="Text 23"/>
          <p:cNvSpPr txBox="1"/>
          <p:nvPr/>
        </p:nvSpPr>
        <p:spPr>
          <a:xfrm>
            <a:off x="658368" y="5074920"/>
            <a:ext cx="5486400" cy="777240"/>
          </a:xfrm>
          <a:prstGeom prst="rect">
            <a:avLst/>
          </a:prstGeom>
          <a:noFill/>
          <a:ln/>
        </p:spPr>
        <p:txBody>
          <a:bodyPr wrap="square" lIns="0" tIns="0" rIns="0" bIns="0" rtlCol="0" anchor="t"/>
          <a:lstStyle/>
          <a:p>
            <a:pPr indent="0" marL="0">
              <a:buNone/>
            </a:pPr>
            <a:r>
              <a:rPr lang="en-US" sz="1100" dirty="0">
                <a:solidFill>
                  <a:srgbClr val="F5F7FF"/>
                </a:solidFill>
              </a:rPr>
              <a:t>M. Laasya Sri — 2520090196</a:t>
            </a:r>
            <a:endParaRPr lang="en-US" sz="1100" dirty="0"/>
          </a:p>
          <a:p>
            <a:pPr indent="0" marL="0">
              <a:buNone/>
            </a:pPr>
            <a:r>
              <a:rPr lang="en-US" sz="1100" dirty="0">
                <a:solidFill>
                  <a:srgbClr val="F5F7FF"/>
                </a:solidFill>
              </a:rPr>
              <a:t>M. Rajini — 2520090197</a:t>
            </a:r>
            <a:endParaRPr lang="en-US" sz="1100" dirty="0"/>
          </a:p>
          <a:p>
            <a:pPr indent="0" marL="0">
              <a:buNone/>
            </a:pPr>
            <a:r>
              <a:rPr lang="en-US" sz="1100" dirty="0">
                <a:solidFill>
                  <a:srgbClr val="F5F7FF"/>
                </a:solidFill>
              </a:rPr>
              <a:t>K. Ramya — 2520090313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C1C"/>
        </a:solidFill>
      </p:bgPr>
    </p:bg>
    <p:spTree>
      <p:nvGrpSpPr>
        <p:cNvPr id="1" name=""/>
        <p:cNvGrpSpPr/>
        <p:nvPr/>
      </p:nvGrpSpPr>
      <p:grpSpPr>
        <a:xfrm>
          <a:off x="0" y="0"/>
          <a:ext cx="0" cy="0"/>
          <a:chOff x="0" y="0"/>
          <a:chExt cx="0" cy="0"/>
        </a:xfrm>
      </p:grpSpPr>
      <p:sp>
        <p:nvSpPr>
          <p:cNvPr id="2" name="Title"/>
          <p:cNvSpPr txBox="1"/>
          <p:nvPr/>
        </p:nvSpPr>
        <p:spPr>
          <a:xfrm>
            <a:off x="594360" y="566928"/>
            <a:ext cx="9601200" cy="548640"/>
          </a:xfrm>
          <a:prstGeom prst="rect">
            <a:avLst/>
          </a:prstGeom>
          <a:noFill/>
          <a:ln/>
        </p:spPr>
        <p:txBody>
          <a:bodyPr wrap="square" lIns="0" tIns="0" rIns="0" bIns="0" rtlCol="0" anchor="ctr"/>
          <a:lstStyle/>
          <a:p>
            <a:pPr indent="0" marL="0">
              <a:buNone/>
            </a:pPr>
            <a:r>
              <a:rPr lang="en-US" sz="2800" b="1" dirty="0">
                <a:solidFill>
                  <a:srgbClr val="F5F7FF"/>
                </a:solidFill>
              </a:rPr>
              <a:t>Abstract</a:t>
            </a:r>
            <a:endParaRPr lang="en-US" sz="2800" dirty="0"/>
          </a:p>
        </p:txBody>
      </p:sp>
      <p:sp>
        <p:nvSpPr>
          <p:cNvPr id="3" name="Subtitle"/>
          <p:cNvSpPr txBox="1"/>
          <p:nvPr/>
        </p:nvSpPr>
        <p:spPr>
          <a:xfrm>
            <a:off x="612648" y="1170432"/>
            <a:ext cx="9601200" cy="320040"/>
          </a:xfrm>
          <a:prstGeom prst="rect">
            <a:avLst/>
          </a:prstGeom>
          <a:noFill/>
          <a:ln/>
        </p:spPr>
        <p:txBody>
          <a:bodyPr wrap="square" lIns="0" tIns="0" rIns="0" bIns="0" rtlCol="0" anchor="ctr"/>
          <a:lstStyle/>
          <a:p>
            <a:pPr indent="0" marL="0">
              <a:buNone/>
            </a:pPr>
            <a:r>
              <a:rPr lang="en-US" sz="1200" dirty="0">
                <a:solidFill>
                  <a:srgbClr val="AAB0CD"/>
                </a:solidFill>
              </a:rPr>
              <a:t>A concise overview of the proposed solution</a:t>
            </a:r>
            <a:endParaRPr lang="en-US" sz="1200" dirty="0"/>
          </a:p>
        </p:txBody>
      </p:sp>
      <p:sp>
        <p:nvSpPr>
          <p:cNvPr id="4" name="PageNo"/>
          <p:cNvSpPr txBox="1"/>
          <p:nvPr/>
        </p:nvSpPr>
        <p:spPr>
          <a:xfrm>
            <a:off x="11155680" y="320040"/>
            <a:ext cx="457200" cy="228600"/>
          </a:xfrm>
          <a:prstGeom prst="rect">
            <a:avLst/>
          </a:prstGeom>
          <a:noFill/>
          <a:ln/>
        </p:spPr>
        <p:txBody>
          <a:bodyPr wrap="square" lIns="0" tIns="0" rIns="0" bIns="0" rtlCol="0" anchor="ctr"/>
          <a:lstStyle/>
          <a:p>
            <a:pPr algn="r" indent="0" marL="0">
              <a:buNone/>
            </a:pPr>
            <a:r>
              <a:rPr lang="en-US" sz="800" b="1" dirty="0">
                <a:solidFill>
                  <a:srgbClr val="AAB0CD"/>
                </a:solidFill>
              </a:rPr>
              <a:t>02</a:t>
            </a:r>
            <a:endParaRPr lang="en-US" sz="800" dirty="0"/>
          </a:p>
        </p:txBody>
      </p:sp>
      <p:sp>
        <p:nvSpPr>
          <p:cNvPr id="5" name="Footer"/>
          <p:cNvSpPr txBox="1"/>
          <p:nvPr/>
        </p:nvSpPr>
        <p:spPr>
          <a:xfrm>
            <a:off x="594360" y="6446520"/>
            <a:ext cx="7315200" cy="228600"/>
          </a:xfrm>
          <a:prstGeom prst="rect">
            <a:avLst/>
          </a:prstGeom>
          <a:noFill/>
          <a:ln/>
        </p:spPr>
        <p:txBody>
          <a:bodyPr wrap="square" lIns="0" tIns="0" rIns="0" bIns="0" rtlCol="0" anchor="ctr"/>
          <a:lstStyle/>
          <a:p>
            <a:pPr indent="0" marL="0">
              <a:buNone/>
            </a:pPr>
            <a:r>
              <a:rPr lang="en-US" sz="800" b="1" dirty="0">
                <a:solidFill>
                  <a:srgbClr val="AAB0CD"/>
                </a:solidFill>
              </a:rPr>
              <a:t>INVENTORY &amp; WAREHOUSE MANAGEMENT • SLOTTING OPTIMIZATION</a:t>
            </a:r>
            <a:endParaRPr lang="en-US" sz="800" dirty="0"/>
          </a:p>
        </p:txBody>
      </p:sp>
      <p:sp>
        <p:nvSpPr>
          <p:cNvPr id="6" name="Card"/>
          <p:cNvSpPr/>
          <p:nvPr/>
        </p:nvSpPr>
        <p:spPr>
          <a:xfrm>
            <a:off x="731520" y="1737360"/>
            <a:ext cx="10698480" cy="4526280"/>
          </a:xfrm>
          <a:prstGeom prst="roundRect">
            <a:avLst>
              <a:gd name="adj" fmla="val 7071"/>
            </a:avLst>
          </a:prstGeom>
          <a:solidFill>
            <a:srgbClr val="181B31"/>
          </a:solidFill>
          <a:ln w="12700">
            <a:solidFill>
              <a:srgbClr val="181B31"/>
            </a:solidFill>
            <a:prstDash val="solid"/>
          </a:ln>
        </p:spPr>
      </p:sp>
      <p:sp>
        <p:nvSpPr>
          <p:cNvPr id="7" name="Text 5"/>
          <p:cNvSpPr txBox="1"/>
          <p:nvPr/>
        </p:nvSpPr>
        <p:spPr>
          <a:xfrm>
            <a:off x="1051560" y="2011680"/>
            <a:ext cx="4572000" cy="274320"/>
          </a:xfrm>
          <a:prstGeom prst="rect">
            <a:avLst/>
          </a:prstGeom>
          <a:noFill/>
          <a:ln/>
        </p:spPr>
        <p:txBody>
          <a:bodyPr wrap="square" lIns="0" tIns="0" rIns="0" bIns="0" rtlCol="0" anchor="ctr"/>
          <a:lstStyle/>
          <a:p>
            <a:pPr indent="0" marL="0">
              <a:buNone/>
            </a:pPr>
            <a:r>
              <a:rPr lang="en-US" sz="1100" b="1" spc="100" kern="0" dirty="0">
                <a:solidFill>
                  <a:srgbClr val="36D3D6"/>
                </a:solidFill>
              </a:rPr>
              <a:t>PROJECT ABSTRACT</a:t>
            </a:r>
            <a:endParaRPr lang="en-US" sz="1100" dirty="0"/>
          </a:p>
        </p:txBody>
      </p:sp>
      <p:sp>
        <p:nvSpPr>
          <p:cNvPr id="8" name="Text 6"/>
          <p:cNvSpPr txBox="1"/>
          <p:nvPr/>
        </p:nvSpPr>
        <p:spPr>
          <a:xfrm>
            <a:off x="1051560" y="2377440"/>
            <a:ext cx="9966960" cy="3657600"/>
          </a:xfrm>
          <a:prstGeom prst="rect">
            <a:avLst/>
          </a:prstGeom>
          <a:noFill/>
          <a:ln/>
        </p:spPr>
        <p:txBody>
          <a:bodyPr wrap="square" lIns="0" tIns="0" rIns="0" bIns="0" rtlCol="0" anchor="t"/>
          <a:lstStyle/>
          <a:p>
            <a:pPr indent="0" marL="0">
              <a:spcAft>
                <a:spcPts val="1000"/>
              </a:spcAft>
              <a:buNone/>
            </a:pPr>
            <a:r>
              <a:rPr lang="en-US" sz="1500" dirty="0">
                <a:solidFill>
                  <a:srgbClr val="F5F7FF"/>
                </a:solidFill>
              </a:rPr>
              <a:t>The Inventory and Warehouse Management System is a web-based application designed to efficiently manage products, warehouses, suppliers, staff, stock transactions and orders through a centralized platform. It provides a secure and organized environment for monitoring inventory, tracking stock movement, managing warehouse capacity and viewing the products stored in each warehouse.</a:t>
            </a:r>
            <a:endParaRPr lang="en-US" sz="1500" dirty="0"/>
          </a:p>
          <a:p>
            <a:pPr indent="0" marL="0">
              <a:spcAft>
                <a:spcPts val="1000"/>
              </a:spcAft>
              <a:buNone/>
            </a:pPr>
            <a:r>
              <a:rPr lang="en-US" sz="1500" dirty="0">
                <a:solidFill>
                  <a:srgbClr val="F5F7FF"/>
                </a:solidFill>
              </a:rPr>
              <a:t>The system also focuses on improving warehouse efficiency through Warehouse Slotting Optimization. DSA techniques such as sorting, priority queues and greedy algorithms prioritize products based on demand and assign them to suitable warehouse locations, considering storage capacity, product requirements and accessibility.</a:t>
            </a:r>
            <a:endParaRPr lang="en-US" sz="1500" dirty="0"/>
          </a:p>
          <a:p>
            <a:pPr indent="0" marL="0">
              <a:buNone/>
            </a:pPr>
            <a:r>
              <a:rPr lang="en-US" sz="1500" dirty="0">
                <a:solidFill>
                  <a:srgbClr val="F5F7FF"/>
                </a:solidFill>
              </a:rPr>
              <a:t>The proposed system improves inventory visibility, utilizes warehouse space efficiently and reduces the time and distance required for product retrieval. Authentication and role-based access control protect the system. It can be developed using React.js, Node.js, Express.js and MySQL.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C1C"/>
        </a:solidFill>
      </p:bgPr>
    </p:bg>
    <p:spTree>
      <p:nvGrpSpPr>
        <p:cNvPr id="1" name=""/>
        <p:cNvGrpSpPr/>
        <p:nvPr/>
      </p:nvGrpSpPr>
      <p:grpSpPr>
        <a:xfrm>
          <a:off x="0" y="0"/>
          <a:ext cx="0" cy="0"/>
          <a:chOff x="0" y="0"/>
          <a:chExt cx="0" cy="0"/>
        </a:xfrm>
      </p:grpSpPr>
      <p:sp>
        <p:nvSpPr>
          <p:cNvPr id="2" name="Title"/>
          <p:cNvSpPr txBox="1"/>
          <p:nvPr/>
        </p:nvSpPr>
        <p:spPr>
          <a:xfrm>
            <a:off x="594360" y="566928"/>
            <a:ext cx="9601200" cy="548640"/>
          </a:xfrm>
          <a:prstGeom prst="rect">
            <a:avLst/>
          </a:prstGeom>
          <a:noFill/>
          <a:ln/>
        </p:spPr>
        <p:txBody>
          <a:bodyPr wrap="square" lIns="0" tIns="0" rIns="0" bIns="0" rtlCol="0" anchor="ctr"/>
          <a:lstStyle/>
          <a:p>
            <a:pPr indent="0" marL="0">
              <a:buNone/>
            </a:pPr>
            <a:r>
              <a:rPr lang="en-US" sz="2800" b="1" dirty="0">
                <a:solidFill>
                  <a:srgbClr val="F5F7FF"/>
                </a:solidFill>
              </a:rPr>
              <a:t>Introduction</a:t>
            </a:r>
            <a:endParaRPr lang="en-US" sz="2800" dirty="0"/>
          </a:p>
        </p:txBody>
      </p:sp>
      <p:sp>
        <p:nvSpPr>
          <p:cNvPr id="3" name="Subtitle"/>
          <p:cNvSpPr txBox="1"/>
          <p:nvPr/>
        </p:nvSpPr>
        <p:spPr>
          <a:xfrm>
            <a:off x="612648" y="1170432"/>
            <a:ext cx="9601200" cy="320040"/>
          </a:xfrm>
          <a:prstGeom prst="rect">
            <a:avLst/>
          </a:prstGeom>
          <a:noFill/>
          <a:ln/>
        </p:spPr>
        <p:txBody>
          <a:bodyPr wrap="square" lIns="0" tIns="0" rIns="0" bIns="0" rtlCol="0" anchor="ctr"/>
          <a:lstStyle/>
          <a:p>
            <a:pPr indent="0" marL="0">
              <a:buNone/>
            </a:pPr>
            <a:r>
              <a:rPr lang="en-US" sz="1200" dirty="0">
                <a:solidFill>
                  <a:srgbClr val="AAB0CD"/>
                </a:solidFill>
              </a:rPr>
              <a:t>Making inventory and warehouse operations simple, organized and efficient</a:t>
            </a:r>
            <a:endParaRPr lang="en-US" sz="1200" dirty="0"/>
          </a:p>
        </p:txBody>
      </p:sp>
      <p:sp>
        <p:nvSpPr>
          <p:cNvPr id="4" name="PageNo"/>
          <p:cNvSpPr txBox="1"/>
          <p:nvPr/>
        </p:nvSpPr>
        <p:spPr>
          <a:xfrm>
            <a:off x="11155680" y="320040"/>
            <a:ext cx="457200" cy="228600"/>
          </a:xfrm>
          <a:prstGeom prst="rect">
            <a:avLst/>
          </a:prstGeom>
          <a:noFill/>
          <a:ln/>
        </p:spPr>
        <p:txBody>
          <a:bodyPr wrap="square" lIns="0" tIns="0" rIns="0" bIns="0" rtlCol="0" anchor="ctr"/>
          <a:lstStyle/>
          <a:p>
            <a:pPr algn="r" indent="0" marL="0">
              <a:buNone/>
            </a:pPr>
            <a:r>
              <a:rPr lang="en-US" sz="800" b="1" dirty="0">
                <a:solidFill>
                  <a:srgbClr val="AAB0CD"/>
                </a:solidFill>
              </a:rPr>
              <a:t>03</a:t>
            </a:r>
            <a:endParaRPr lang="en-US" sz="800" dirty="0"/>
          </a:p>
        </p:txBody>
      </p:sp>
      <p:sp>
        <p:nvSpPr>
          <p:cNvPr id="5" name="Footer"/>
          <p:cNvSpPr txBox="1"/>
          <p:nvPr/>
        </p:nvSpPr>
        <p:spPr>
          <a:xfrm>
            <a:off x="594360" y="6446520"/>
            <a:ext cx="7315200" cy="228600"/>
          </a:xfrm>
          <a:prstGeom prst="rect">
            <a:avLst/>
          </a:prstGeom>
          <a:noFill/>
          <a:ln/>
        </p:spPr>
        <p:txBody>
          <a:bodyPr wrap="square" lIns="0" tIns="0" rIns="0" bIns="0" rtlCol="0" anchor="ctr"/>
          <a:lstStyle/>
          <a:p>
            <a:pPr indent="0" marL="0">
              <a:buNone/>
            </a:pPr>
            <a:r>
              <a:rPr lang="en-US" sz="800" b="1" dirty="0">
                <a:solidFill>
                  <a:srgbClr val="AAB0CD"/>
                </a:solidFill>
              </a:rPr>
              <a:t>INVENTORY &amp; WAREHOUSE MANAGEMENT • SLOTTING OPTIMIZATION</a:t>
            </a:r>
            <a:endParaRPr lang="en-US" sz="800" dirty="0"/>
          </a:p>
        </p:txBody>
      </p:sp>
      <p:sp>
        <p:nvSpPr>
          <p:cNvPr id="6" name="Card"/>
          <p:cNvSpPr/>
          <p:nvPr/>
        </p:nvSpPr>
        <p:spPr>
          <a:xfrm>
            <a:off x="731520" y="1783080"/>
            <a:ext cx="7040880" cy="4389120"/>
          </a:xfrm>
          <a:prstGeom prst="roundRect">
            <a:avLst>
              <a:gd name="adj" fmla="val 7292"/>
            </a:avLst>
          </a:prstGeom>
          <a:solidFill>
            <a:srgbClr val="181B31"/>
          </a:solidFill>
          <a:ln w="12700">
            <a:solidFill>
              <a:srgbClr val="181B31"/>
            </a:solidFill>
            <a:prstDash val="solid"/>
          </a:ln>
        </p:spPr>
      </p:sp>
      <p:sp>
        <p:nvSpPr>
          <p:cNvPr id="7" name="Text 5"/>
          <p:cNvSpPr txBox="1"/>
          <p:nvPr/>
        </p:nvSpPr>
        <p:spPr>
          <a:xfrm>
            <a:off x="1051560" y="2057400"/>
            <a:ext cx="4572000" cy="274320"/>
          </a:xfrm>
          <a:prstGeom prst="rect">
            <a:avLst/>
          </a:prstGeom>
          <a:noFill/>
          <a:ln/>
        </p:spPr>
        <p:txBody>
          <a:bodyPr wrap="square" lIns="0" tIns="0" rIns="0" bIns="0" rtlCol="0" anchor="ctr"/>
          <a:lstStyle/>
          <a:p>
            <a:pPr indent="0" marL="0">
              <a:buNone/>
            </a:pPr>
            <a:r>
              <a:rPr lang="en-US" sz="1100" b="1" spc="100" kern="0" dirty="0">
                <a:solidFill>
                  <a:srgbClr val="36D3D6"/>
                </a:solidFill>
              </a:rPr>
              <a:t>THE IDEA</a:t>
            </a:r>
            <a:endParaRPr lang="en-US" sz="1100" dirty="0"/>
          </a:p>
        </p:txBody>
      </p:sp>
      <p:sp>
        <p:nvSpPr>
          <p:cNvPr id="8" name="Text 6"/>
          <p:cNvSpPr txBox="1"/>
          <p:nvPr/>
        </p:nvSpPr>
        <p:spPr>
          <a:xfrm>
            <a:off x="1051560" y="2423160"/>
            <a:ext cx="6400800" cy="822960"/>
          </a:xfrm>
          <a:prstGeom prst="rect">
            <a:avLst/>
          </a:prstGeom>
          <a:noFill/>
          <a:ln/>
        </p:spPr>
        <p:txBody>
          <a:bodyPr wrap="square" lIns="0" tIns="0" rIns="0" bIns="0" rtlCol="0" anchor="t"/>
          <a:lstStyle/>
          <a:p>
            <a:pPr indent="0" marL="0">
              <a:buNone/>
            </a:pPr>
            <a:r>
              <a:rPr lang="en-US" sz="2200" b="1" dirty="0">
                <a:solidFill>
                  <a:srgbClr val="F5F7FF"/>
                </a:solidFill>
              </a:rPr>
              <a:t>One platform for the complete inventory lifecycle.</a:t>
            </a:r>
            <a:endParaRPr lang="en-US" sz="2200" dirty="0"/>
          </a:p>
        </p:txBody>
      </p:sp>
      <p:sp>
        <p:nvSpPr>
          <p:cNvPr id="9" name="Marker"/>
          <p:cNvSpPr/>
          <p:nvPr/>
        </p:nvSpPr>
        <p:spPr>
          <a:xfrm>
            <a:off x="1051560" y="3383280"/>
            <a:ext cx="365760" cy="365760"/>
          </a:xfrm>
          <a:prstGeom prst="ellipse">
            <a:avLst/>
          </a:prstGeom>
          <a:solidFill>
            <a:srgbClr val="34C98B"/>
          </a:solidFill>
          <a:ln w="12700">
            <a:solidFill>
              <a:srgbClr val="34C98B"/>
            </a:solidFill>
            <a:prstDash val="solid"/>
          </a:ln>
        </p:spPr>
      </p:sp>
      <p:sp>
        <p:nvSpPr>
          <p:cNvPr id="10" name="Text 8"/>
          <p:cNvSpPr txBox="1"/>
          <p:nvPr/>
        </p:nvSpPr>
        <p:spPr>
          <a:xfrm>
            <a:off x="1051560" y="33832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1" name="Text 9"/>
          <p:cNvSpPr txBox="1"/>
          <p:nvPr/>
        </p:nvSpPr>
        <p:spPr>
          <a:xfrm>
            <a:off x="1581912" y="3337560"/>
            <a:ext cx="5943600" cy="457200"/>
          </a:xfrm>
          <a:prstGeom prst="rect">
            <a:avLst/>
          </a:prstGeom>
          <a:noFill/>
          <a:ln/>
        </p:spPr>
        <p:txBody>
          <a:bodyPr wrap="square" lIns="0" tIns="0" rIns="0" bIns="0" rtlCol="0" anchor="ctr"/>
          <a:lstStyle/>
          <a:p>
            <a:pPr indent="0" marL="0">
              <a:buNone/>
            </a:pPr>
            <a:r>
              <a:rPr lang="en-US" sz="1300" b="1" dirty="0">
                <a:solidFill>
                  <a:srgbClr val="F5F7FF"/>
                </a:solidFill>
              </a:rPr>
              <a:t>Manage products, suppliers, staff and warehouses</a:t>
            </a:r>
            <a:endParaRPr lang="en-US" sz="1300" dirty="0"/>
          </a:p>
        </p:txBody>
      </p:sp>
      <p:sp>
        <p:nvSpPr>
          <p:cNvPr id="12" name="Marker"/>
          <p:cNvSpPr/>
          <p:nvPr/>
        </p:nvSpPr>
        <p:spPr>
          <a:xfrm>
            <a:off x="1051560" y="3913632"/>
            <a:ext cx="365760" cy="365760"/>
          </a:xfrm>
          <a:prstGeom prst="ellipse">
            <a:avLst/>
          </a:prstGeom>
          <a:solidFill>
            <a:srgbClr val="34C98B"/>
          </a:solidFill>
          <a:ln w="12700">
            <a:solidFill>
              <a:srgbClr val="34C98B"/>
            </a:solidFill>
            <a:prstDash val="solid"/>
          </a:ln>
        </p:spPr>
      </p:sp>
      <p:sp>
        <p:nvSpPr>
          <p:cNvPr id="13" name="Text 11"/>
          <p:cNvSpPr txBox="1"/>
          <p:nvPr/>
        </p:nvSpPr>
        <p:spPr>
          <a:xfrm>
            <a:off x="1051560" y="391363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4" name="Text 12"/>
          <p:cNvSpPr txBox="1"/>
          <p:nvPr/>
        </p:nvSpPr>
        <p:spPr>
          <a:xfrm>
            <a:off x="1581912" y="3867912"/>
            <a:ext cx="5943600" cy="457200"/>
          </a:xfrm>
          <a:prstGeom prst="rect">
            <a:avLst/>
          </a:prstGeom>
          <a:noFill/>
          <a:ln/>
        </p:spPr>
        <p:txBody>
          <a:bodyPr wrap="square" lIns="0" tIns="0" rIns="0" bIns="0" rtlCol="0" anchor="ctr"/>
          <a:lstStyle/>
          <a:p>
            <a:pPr indent="0" marL="0">
              <a:buNone/>
            </a:pPr>
            <a:r>
              <a:rPr lang="en-US" sz="1300" b="1" dirty="0">
                <a:solidFill>
                  <a:srgbClr val="F5F7FF"/>
                </a:solidFill>
              </a:rPr>
              <a:t>Record stock transactions to track stock movement</a:t>
            </a:r>
            <a:endParaRPr lang="en-US" sz="1300" dirty="0"/>
          </a:p>
        </p:txBody>
      </p:sp>
      <p:sp>
        <p:nvSpPr>
          <p:cNvPr id="15" name="Marker"/>
          <p:cNvSpPr/>
          <p:nvPr/>
        </p:nvSpPr>
        <p:spPr>
          <a:xfrm>
            <a:off x="1051560" y="4443984"/>
            <a:ext cx="365760" cy="365760"/>
          </a:xfrm>
          <a:prstGeom prst="ellipse">
            <a:avLst/>
          </a:prstGeom>
          <a:solidFill>
            <a:srgbClr val="34C98B"/>
          </a:solidFill>
          <a:ln w="12700">
            <a:solidFill>
              <a:srgbClr val="34C98B"/>
            </a:solidFill>
            <a:prstDash val="solid"/>
          </a:ln>
        </p:spPr>
      </p:sp>
      <p:sp>
        <p:nvSpPr>
          <p:cNvPr id="16" name="Text 14"/>
          <p:cNvSpPr txBox="1"/>
          <p:nvPr/>
        </p:nvSpPr>
        <p:spPr>
          <a:xfrm>
            <a:off x="1051560" y="444398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7" name="Text 15"/>
          <p:cNvSpPr txBox="1"/>
          <p:nvPr/>
        </p:nvSpPr>
        <p:spPr>
          <a:xfrm>
            <a:off x="1581912" y="4398264"/>
            <a:ext cx="5943600" cy="457200"/>
          </a:xfrm>
          <a:prstGeom prst="rect">
            <a:avLst/>
          </a:prstGeom>
          <a:noFill/>
          <a:ln/>
        </p:spPr>
        <p:txBody>
          <a:bodyPr wrap="square" lIns="0" tIns="0" rIns="0" bIns="0" rtlCol="0" anchor="ctr"/>
          <a:lstStyle/>
          <a:p>
            <a:pPr indent="0" marL="0">
              <a:buNone/>
            </a:pPr>
            <a:r>
              <a:rPr lang="en-US" sz="1300" b="1" dirty="0">
                <a:solidFill>
                  <a:srgbClr val="F5F7FF"/>
                </a:solidFill>
              </a:rPr>
              <a:t>Monitor warehouse capacity and stored products</a:t>
            </a:r>
            <a:endParaRPr lang="en-US" sz="1300" dirty="0"/>
          </a:p>
        </p:txBody>
      </p:sp>
      <p:sp>
        <p:nvSpPr>
          <p:cNvPr id="18" name="Marker"/>
          <p:cNvSpPr/>
          <p:nvPr/>
        </p:nvSpPr>
        <p:spPr>
          <a:xfrm>
            <a:off x="1051560" y="4974336"/>
            <a:ext cx="365760" cy="365760"/>
          </a:xfrm>
          <a:prstGeom prst="ellipse">
            <a:avLst/>
          </a:prstGeom>
          <a:solidFill>
            <a:srgbClr val="34C98B"/>
          </a:solidFill>
          <a:ln w="12700">
            <a:solidFill>
              <a:srgbClr val="34C98B"/>
            </a:solidFill>
            <a:prstDash val="solid"/>
          </a:ln>
        </p:spPr>
      </p:sp>
      <p:sp>
        <p:nvSpPr>
          <p:cNvPr id="19" name="Text 17"/>
          <p:cNvSpPr txBox="1"/>
          <p:nvPr/>
        </p:nvSpPr>
        <p:spPr>
          <a:xfrm>
            <a:off x="1051560" y="497433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0" name="Text 18"/>
          <p:cNvSpPr txBox="1"/>
          <p:nvPr/>
        </p:nvSpPr>
        <p:spPr>
          <a:xfrm>
            <a:off x="1581912" y="4928616"/>
            <a:ext cx="5943600" cy="457200"/>
          </a:xfrm>
          <a:prstGeom prst="rect">
            <a:avLst/>
          </a:prstGeom>
          <a:noFill/>
          <a:ln/>
        </p:spPr>
        <p:txBody>
          <a:bodyPr wrap="square" lIns="0" tIns="0" rIns="0" bIns="0" rtlCol="0" anchor="ctr"/>
          <a:lstStyle/>
          <a:p>
            <a:pPr indent="0" marL="0">
              <a:buNone/>
            </a:pPr>
            <a:r>
              <a:rPr lang="en-US" sz="1300" b="1" dirty="0">
                <a:solidFill>
                  <a:srgbClr val="F5F7FF"/>
                </a:solidFill>
              </a:rPr>
              <a:t>Place products smartly with slotting optimization</a:t>
            </a:r>
            <a:endParaRPr lang="en-US" sz="1300" dirty="0"/>
          </a:p>
        </p:txBody>
      </p:sp>
      <p:sp>
        <p:nvSpPr>
          <p:cNvPr id="21" name="Marker"/>
          <p:cNvSpPr/>
          <p:nvPr/>
        </p:nvSpPr>
        <p:spPr>
          <a:xfrm>
            <a:off x="1051560" y="5504688"/>
            <a:ext cx="365760" cy="365760"/>
          </a:xfrm>
          <a:prstGeom prst="ellipse">
            <a:avLst/>
          </a:prstGeom>
          <a:solidFill>
            <a:srgbClr val="34C98B"/>
          </a:solidFill>
          <a:ln w="12700">
            <a:solidFill>
              <a:srgbClr val="34C98B"/>
            </a:solidFill>
            <a:prstDash val="solid"/>
          </a:ln>
        </p:spPr>
      </p:sp>
      <p:sp>
        <p:nvSpPr>
          <p:cNvPr id="22" name="Text 20"/>
          <p:cNvSpPr txBox="1"/>
          <p:nvPr/>
        </p:nvSpPr>
        <p:spPr>
          <a:xfrm>
            <a:off x="1051560" y="550468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3" name="Text 21"/>
          <p:cNvSpPr txBox="1"/>
          <p:nvPr/>
        </p:nvSpPr>
        <p:spPr>
          <a:xfrm>
            <a:off x="1581912" y="5458968"/>
            <a:ext cx="5943600" cy="457200"/>
          </a:xfrm>
          <a:prstGeom prst="rect">
            <a:avLst/>
          </a:prstGeom>
          <a:noFill/>
          <a:ln/>
        </p:spPr>
        <p:txBody>
          <a:bodyPr wrap="square" lIns="0" tIns="0" rIns="0" bIns="0" rtlCol="0" anchor="ctr"/>
          <a:lstStyle/>
          <a:p>
            <a:pPr indent="0" marL="0">
              <a:buNone/>
            </a:pPr>
            <a:r>
              <a:rPr lang="en-US" sz="1300" b="1" dirty="0">
                <a:solidFill>
                  <a:srgbClr val="F5F7FF"/>
                </a:solidFill>
              </a:rPr>
              <a:t>Secure access with authentication and roles</a:t>
            </a:r>
            <a:endParaRPr lang="en-US" sz="1300" dirty="0"/>
          </a:p>
        </p:txBody>
      </p:sp>
      <p:sp>
        <p:nvSpPr>
          <p:cNvPr id="24" name="Card"/>
          <p:cNvSpPr/>
          <p:nvPr/>
        </p:nvSpPr>
        <p:spPr>
          <a:xfrm>
            <a:off x="8046720" y="1783080"/>
            <a:ext cx="3383280" cy="4389120"/>
          </a:xfrm>
          <a:prstGeom prst="roundRect">
            <a:avLst>
              <a:gd name="adj" fmla="val 9459"/>
            </a:avLst>
          </a:prstGeom>
          <a:solidFill>
            <a:srgbClr val="1F233E"/>
          </a:solidFill>
          <a:ln w="12700">
            <a:solidFill>
              <a:srgbClr val="1F233E"/>
            </a:solidFill>
            <a:prstDash val="solid"/>
          </a:ln>
        </p:spPr>
      </p:sp>
      <p:sp>
        <p:nvSpPr>
          <p:cNvPr id="25" name="Text 23"/>
          <p:cNvSpPr txBox="1"/>
          <p:nvPr/>
        </p:nvSpPr>
        <p:spPr>
          <a:xfrm>
            <a:off x="8366760" y="2057400"/>
            <a:ext cx="4572000" cy="274320"/>
          </a:xfrm>
          <a:prstGeom prst="rect">
            <a:avLst/>
          </a:prstGeom>
          <a:noFill/>
          <a:ln/>
        </p:spPr>
        <p:txBody>
          <a:bodyPr wrap="square" lIns="0" tIns="0" rIns="0" bIns="0" rtlCol="0" anchor="ctr"/>
          <a:lstStyle/>
          <a:p>
            <a:pPr indent="0" marL="0">
              <a:buNone/>
            </a:pPr>
            <a:r>
              <a:rPr lang="en-US" sz="1100" b="1" spc="100" kern="0" dirty="0">
                <a:solidFill>
                  <a:srgbClr val="7E57FF"/>
                </a:solidFill>
              </a:rPr>
              <a:t>INVENTORY FLOW</a:t>
            </a:r>
            <a:endParaRPr lang="en-US" sz="1100" dirty="0"/>
          </a:p>
        </p:txBody>
      </p:sp>
      <p:sp>
        <p:nvSpPr>
          <p:cNvPr id="26" name="Marker"/>
          <p:cNvSpPr/>
          <p:nvPr/>
        </p:nvSpPr>
        <p:spPr>
          <a:xfrm>
            <a:off x="8412480" y="2606040"/>
            <a:ext cx="502920" cy="502920"/>
          </a:xfrm>
          <a:prstGeom prst="ellipse">
            <a:avLst/>
          </a:prstGeom>
          <a:solidFill>
            <a:srgbClr val="4991FF"/>
          </a:solidFill>
          <a:ln w="12700">
            <a:solidFill>
              <a:srgbClr val="4991FF"/>
            </a:solidFill>
            <a:prstDash val="solid"/>
          </a:ln>
        </p:spPr>
      </p:sp>
      <p:sp>
        <p:nvSpPr>
          <p:cNvPr id="27" name="Text 25"/>
          <p:cNvSpPr txBox="1"/>
          <p:nvPr/>
        </p:nvSpPr>
        <p:spPr>
          <a:xfrm>
            <a:off x="8412480" y="26060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28" name="Text 26"/>
          <p:cNvSpPr txBox="1"/>
          <p:nvPr/>
        </p:nvSpPr>
        <p:spPr>
          <a:xfrm>
            <a:off x="9144000" y="2606040"/>
            <a:ext cx="2011680" cy="502920"/>
          </a:xfrm>
          <a:prstGeom prst="rect">
            <a:avLst/>
          </a:prstGeom>
          <a:noFill/>
          <a:ln/>
        </p:spPr>
        <p:txBody>
          <a:bodyPr wrap="square" lIns="0" tIns="0" rIns="0" bIns="0" rtlCol="0" anchor="ctr"/>
          <a:lstStyle/>
          <a:p>
            <a:pPr indent="0" marL="0">
              <a:buNone/>
            </a:pPr>
            <a:r>
              <a:rPr lang="en-US" sz="1300" b="1" dirty="0">
                <a:solidFill>
                  <a:srgbClr val="F5F7FF"/>
                </a:solidFill>
              </a:rPr>
              <a:t>RECEIVE</a:t>
            </a:r>
            <a:endParaRPr lang="en-US" sz="1300" dirty="0"/>
          </a:p>
        </p:txBody>
      </p:sp>
      <p:sp>
        <p:nvSpPr>
          <p:cNvPr id="29" name="Marker"/>
          <p:cNvSpPr/>
          <p:nvPr/>
        </p:nvSpPr>
        <p:spPr>
          <a:xfrm>
            <a:off x="8412480" y="3474720"/>
            <a:ext cx="502920" cy="502920"/>
          </a:xfrm>
          <a:prstGeom prst="ellipse">
            <a:avLst/>
          </a:prstGeom>
          <a:solidFill>
            <a:srgbClr val="7E57FF"/>
          </a:solidFill>
          <a:ln w="12700">
            <a:solidFill>
              <a:srgbClr val="7E57FF"/>
            </a:solidFill>
            <a:prstDash val="solid"/>
          </a:ln>
        </p:spPr>
      </p:sp>
      <p:sp>
        <p:nvSpPr>
          <p:cNvPr id="30" name="Text 28"/>
          <p:cNvSpPr txBox="1"/>
          <p:nvPr/>
        </p:nvSpPr>
        <p:spPr>
          <a:xfrm>
            <a:off x="8412480" y="34747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31" name="Text 29"/>
          <p:cNvSpPr txBox="1"/>
          <p:nvPr/>
        </p:nvSpPr>
        <p:spPr>
          <a:xfrm>
            <a:off x="9144000" y="3474720"/>
            <a:ext cx="2011680" cy="502920"/>
          </a:xfrm>
          <a:prstGeom prst="rect">
            <a:avLst/>
          </a:prstGeom>
          <a:noFill/>
          <a:ln/>
        </p:spPr>
        <p:txBody>
          <a:bodyPr wrap="square" lIns="0" tIns="0" rIns="0" bIns="0" rtlCol="0" anchor="ctr"/>
          <a:lstStyle/>
          <a:p>
            <a:pPr indent="0" marL="0">
              <a:buNone/>
            </a:pPr>
            <a:r>
              <a:rPr lang="en-US" sz="1300" b="1" dirty="0">
                <a:solidFill>
                  <a:srgbClr val="F5F7FF"/>
                </a:solidFill>
              </a:rPr>
              <a:t>SLOT</a:t>
            </a:r>
            <a:endParaRPr lang="en-US" sz="1300" dirty="0"/>
          </a:p>
        </p:txBody>
      </p:sp>
      <p:sp>
        <p:nvSpPr>
          <p:cNvPr id="32" name="Marker"/>
          <p:cNvSpPr/>
          <p:nvPr/>
        </p:nvSpPr>
        <p:spPr>
          <a:xfrm>
            <a:off x="8412480" y="4343400"/>
            <a:ext cx="502920" cy="502920"/>
          </a:xfrm>
          <a:prstGeom prst="ellipse">
            <a:avLst/>
          </a:prstGeom>
          <a:solidFill>
            <a:srgbClr val="36D3D6"/>
          </a:solidFill>
          <a:ln w="12700">
            <a:solidFill>
              <a:srgbClr val="36D3D6"/>
            </a:solidFill>
            <a:prstDash val="solid"/>
          </a:ln>
        </p:spPr>
      </p:sp>
      <p:sp>
        <p:nvSpPr>
          <p:cNvPr id="33" name="Text 31"/>
          <p:cNvSpPr txBox="1"/>
          <p:nvPr/>
        </p:nvSpPr>
        <p:spPr>
          <a:xfrm>
            <a:off x="8412480" y="43434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34" name="Text 32"/>
          <p:cNvSpPr txBox="1"/>
          <p:nvPr/>
        </p:nvSpPr>
        <p:spPr>
          <a:xfrm>
            <a:off x="9144000" y="4343400"/>
            <a:ext cx="2011680" cy="502920"/>
          </a:xfrm>
          <a:prstGeom prst="rect">
            <a:avLst/>
          </a:prstGeom>
          <a:noFill/>
          <a:ln/>
        </p:spPr>
        <p:txBody>
          <a:bodyPr wrap="square" lIns="0" tIns="0" rIns="0" bIns="0" rtlCol="0" anchor="ctr"/>
          <a:lstStyle/>
          <a:p>
            <a:pPr indent="0" marL="0">
              <a:buNone/>
            </a:pPr>
            <a:r>
              <a:rPr lang="en-US" sz="1300" b="1" dirty="0">
                <a:solidFill>
                  <a:srgbClr val="F5F7FF"/>
                </a:solidFill>
              </a:rPr>
              <a:t>TRACK</a:t>
            </a:r>
            <a:endParaRPr lang="en-US" sz="1300" dirty="0"/>
          </a:p>
        </p:txBody>
      </p:sp>
      <p:sp>
        <p:nvSpPr>
          <p:cNvPr id="35" name="Marker"/>
          <p:cNvSpPr/>
          <p:nvPr/>
        </p:nvSpPr>
        <p:spPr>
          <a:xfrm>
            <a:off x="8412480" y="5212080"/>
            <a:ext cx="502920" cy="502920"/>
          </a:xfrm>
          <a:prstGeom prst="ellipse">
            <a:avLst/>
          </a:prstGeom>
          <a:solidFill>
            <a:srgbClr val="34C98B"/>
          </a:solidFill>
          <a:ln w="12700">
            <a:solidFill>
              <a:srgbClr val="34C98B"/>
            </a:solidFill>
            <a:prstDash val="solid"/>
          </a:ln>
        </p:spPr>
      </p:sp>
      <p:sp>
        <p:nvSpPr>
          <p:cNvPr id="36" name="Text 34"/>
          <p:cNvSpPr txBox="1"/>
          <p:nvPr/>
        </p:nvSpPr>
        <p:spPr>
          <a:xfrm>
            <a:off x="8412480" y="52120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37" name="Text 35"/>
          <p:cNvSpPr txBox="1"/>
          <p:nvPr/>
        </p:nvSpPr>
        <p:spPr>
          <a:xfrm>
            <a:off x="9144000" y="5212080"/>
            <a:ext cx="2011680" cy="502920"/>
          </a:xfrm>
          <a:prstGeom prst="rect">
            <a:avLst/>
          </a:prstGeom>
          <a:noFill/>
          <a:ln/>
        </p:spPr>
        <p:txBody>
          <a:bodyPr wrap="square" lIns="0" tIns="0" rIns="0" bIns="0" rtlCol="0" anchor="ctr"/>
          <a:lstStyle/>
          <a:p>
            <a:pPr indent="0" marL="0">
              <a:buNone/>
            </a:pPr>
            <a:r>
              <a:rPr lang="en-US" sz="1300" b="1" dirty="0">
                <a:solidFill>
                  <a:srgbClr val="F5F7FF"/>
                </a:solidFill>
              </a:rPr>
              <a:t>FULFIL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C1C"/>
        </a:solidFill>
      </p:bgPr>
    </p:bg>
    <p:spTree>
      <p:nvGrpSpPr>
        <p:cNvPr id="1" name=""/>
        <p:cNvGrpSpPr/>
        <p:nvPr/>
      </p:nvGrpSpPr>
      <p:grpSpPr>
        <a:xfrm>
          <a:off x="0" y="0"/>
          <a:ext cx="0" cy="0"/>
          <a:chOff x="0" y="0"/>
          <a:chExt cx="0" cy="0"/>
        </a:xfrm>
      </p:grpSpPr>
      <p:sp>
        <p:nvSpPr>
          <p:cNvPr id="2" name="Title"/>
          <p:cNvSpPr txBox="1"/>
          <p:nvPr/>
        </p:nvSpPr>
        <p:spPr>
          <a:xfrm>
            <a:off x="594360" y="566928"/>
            <a:ext cx="9601200" cy="548640"/>
          </a:xfrm>
          <a:prstGeom prst="rect">
            <a:avLst/>
          </a:prstGeom>
          <a:noFill/>
          <a:ln/>
        </p:spPr>
        <p:txBody>
          <a:bodyPr wrap="square" lIns="0" tIns="0" rIns="0" bIns="0" rtlCol="0" anchor="ctr"/>
          <a:lstStyle/>
          <a:p>
            <a:pPr indent="0" marL="0">
              <a:buNone/>
            </a:pPr>
            <a:r>
              <a:rPr lang="en-US" sz="2800" b="1" dirty="0">
                <a:solidFill>
                  <a:srgbClr val="F5F7FF"/>
                </a:solidFill>
              </a:rPr>
              <a:t>Problem Statement &amp; Objectives</a:t>
            </a:r>
            <a:endParaRPr lang="en-US" sz="2800" dirty="0"/>
          </a:p>
        </p:txBody>
      </p:sp>
      <p:sp>
        <p:nvSpPr>
          <p:cNvPr id="3" name="Subtitle"/>
          <p:cNvSpPr txBox="1"/>
          <p:nvPr/>
        </p:nvSpPr>
        <p:spPr>
          <a:xfrm>
            <a:off x="612648" y="1170432"/>
            <a:ext cx="9601200" cy="320040"/>
          </a:xfrm>
          <a:prstGeom prst="rect">
            <a:avLst/>
          </a:prstGeom>
          <a:noFill/>
          <a:ln/>
        </p:spPr>
        <p:txBody>
          <a:bodyPr wrap="square" lIns="0" tIns="0" rIns="0" bIns="0" rtlCol="0" anchor="ctr"/>
          <a:lstStyle/>
          <a:p>
            <a:pPr indent="0" marL="0">
              <a:buNone/>
            </a:pPr>
            <a:r>
              <a:rPr lang="en-US" sz="1200" dirty="0">
                <a:solidFill>
                  <a:srgbClr val="AAB0CD"/>
                </a:solidFill>
              </a:rPr>
              <a:t>The challenge and what the project aims to achieve</a:t>
            </a:r>
            <a:endParaRPr lang="en-US" sz="1200" dirty="0"/>
          </a:p>
        </p:txBody>
      </p:sp>
      <p:sp>
        <p:nvSpPr>
          <p:cNvPr id="4" name="PageNo"/>
          <p:cNvSpPr txBox="1"/>
          <p:nvPr/>
        </p:nvSpPr>
        <p:spPr>
          <a:xfrm>
            <a:off x="11155680" y="320040"/>
            <a:ext cx="457200" cy="228600"/>
          </a:xfrm>
          <a:prstGeom prst="rect">
            <a:avLst/>
          </a:prstGeom>
          <a:noFill/>
          <a:ln/>
        </p:spPr>
        <p:txBody>
          <a:bodyPr wrap="square" lIns="0" tIns="0" rIns="0" bIns="0" rtlCol="0" anchor="ctr"/>
          <a:lstStyle/>
          <a:p>
            <a:pPr algn="r" indent="0" marL="0">
              <a:buNone/>
            </a:pPr>
            <a:r>
              <a:rPr lang="en-US" sz="800" b="1" dirty="0">
                <a:solidFill>
                  <a:srgbClr val="AAB0CD"/>
                </a:solidFill>
              </a:rPr>
              <a:t>04</a:t>
            </a:r>
            <a:endParaRPr lang="en-US" sz="800" dirty="0"/>
          </a:p>
        </p:txBody>
      </p:sp>
      <p:sp>
        <p:nvSpPr>
          <p:cNvPr id="5" name="Footer"/>
          <p:cNvSpPr txBox="1"/>
          <p:nvPr/>
        </p:nvSpPr>
        <p:spPr>
          <a:xfrm>
            <a:off x="594360" y="6446520"/>
            <a:ext cx="7315200" cy="228600"/>
          </a:xfrm>
          <a:prstGeom prst="rect">
            <a:avLst/>
          </a:prstGeom>
          <a:noFill/>
          <a:ln/>
        </p:spPr>
        <p:txBody>
          <a:bodyPr wrap="square" lIns="0" tIns="0" rIns="0" bIns="0" rtlCol="0" anchor="ctr"/>
          <a:lstStyle/>
          <a:p>
            <a:pPr indent="0" marL="0">
              <a:buNone/>
            </a:pPr>
            <a:r>
              <a:rPr lang="en-US" sz="800" b="1" dirty="0">
                <a:solidFill>
                  <a:srgbClr val="AAB0CD"/>
                </a:solidFill>
              </a:rPr>
              <a:t>INVENTORY &amp; WAREHOUSE MANAGEMENT • SLOTTING OPTIMIZATION</a:t>
            </a:r>
            <a:endParaRPr lang="en-US" sz="800" dirty="0"/>
          </a:p>
        </p:txBody>
      </p:sp>
      <p:sp>
        <p:nvSpPr>
          <p:cNvPr id="6" name="Card"/>
          <p:cNvSpPr/>
          <p:nvPr/>
        </p:nvSpPr>
        <p:spPr>
          <a:xfrm>
            <a:off x="685800" y="1783080"/>
            <a:ext cx="5257800" cy="4480560"/>
          </a:xfrm>
          <a:prstGeom prst="roundRect">
            <a:avLst>
              <a:gd name="adj" fmla="val 7143"/>
            </a:avLst>
          </a:prstGeom>
          <a:solidFill>
            <a:srgbClr val="181B31"/>
          </a:solidFill>
          <a:ln w="12700">
            <a:solidFill>
              <a:srgbClr val="181B31"/>
            </a:solidFill>
            <a:prstDash val="solid"/>
          </a:ln>
        </p:spPr>
      </p:sp>
      <p:sp>
        <p:nvSpPr>
          <p:cNvPr id="7" name="Text 5"/>
          <p:cNvSpPr txBox="1"/>
          <p:nvPr/>
        </p:nvSpPr>
        <p:spPr>
          <a:xfrm>
            <a:off x="1005840" y="2103120"/>
            <a:ext cx="4572000" cy="274320"/>
          </a:xfrm>
          <a:prstGeom prst="rect">
            <a:avLst/>
          </a:prstGeom>
          <a:noFill/>
          <a:ln/>
        </p:spPr>
        <p:txBody>
          <a:bodyPr wrap="square" lIns="0" tIns="0" rIns="0" bIns="0" rtlCol="0" anchor="ctr"/>
          <a:lstStyle/>
          <a:p>
            <a:pPr indent="0" marL="0">
              <a:buNone/>
            </a:pPr>
            <a:r>
              <a:rPr lang="en-US" sz="1100" b="1" spc="100" kern="0" dirty="0">
                <a:solidFill>
                  <a:srgbClr val="EB5B99"/>
                </a:solidFill>
              </a:rPr>
              <a:t>PROBLEM STATEMENT</a:t>
            </a:r>
            <a:endParaRPr lang="en-US" sz="1100" dirty="0"/>
          </a:p>
        </p:txBody>
      </p:sp>
      <p:sp>
        <p:nvSpPr>
          <p:cNvPr id="8" name="Marker"/>
          <p:cNvSpPr/>
          <p:nvPr/>
        </p:nvSpPr>
        <p:spPr>
          <a:xfrm>
            <a:off x="1005840" y="2606040"/>
            <a:ext cx="365760" cy="365760"/>
          </a:xfrm>
          <a:prstGeom prst="ellipse">
            <a:avLst/>
          </a:prstGeom>
          <a:solidFill>
            <a:srgbClr val="EB5B99"/>
          </a:solidFill>
          <a:ln w="12700">
            <a:solidFill>
              <a:srgbClr val="EB5B99"/>
            </a:solidFill>
            <a:prstDash val="solid"/>
          </a:ln>
        </p:spPr>
      </p:sp>
      <p:sp>
        <p:nvSpPr>
          <p:cNvPr id="9" name="Text 7"/>
          <p:cNvSpPr txBox="1"/>
          <p:nvPr/>
        </p:nvSpPr>
        <p:spPr>
          <a:xfrm>
            <a:off x="1005840" y="26060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0" name="Text 8"/>
          <p:cNvSpPr txBox="1"/>
          <p:nvPr/>
        </p:nvSpPr>
        <p:spPr>
          <a:xfrm>
            <a:off x="1536192" y="2560320"/>
            <a:ext cx="4206240" cy="457200"/>
          </a:xfrm>
          <a:prstGeom prst="rect">
            <a:avLst/>
          </a:prstGeom>
          <a:noFill/>
          <a:ln/>
        </p:spPr>
        <p:txBody>
          <a:bodyPr wrap="square" lIns="0" tIns="0" rIns="0" bIns="0" rtlCol="0" anchor="ctr"/>
          <a:lstStyle/>
          <a:p>
            <a:pPr indent="0" marL="0">
              <a:buNone/>
            </a:pPr>
            <a:r>
              <a:rPr lang="en-US" sz="1300" b="1" dirty="0">
                <a:solidFill>
                  <a:srgbClr val="F5F7FF"/>
                </a:solidFill>
              </a:rPr>
              <a:t>Scattered records of products and suppliers</a:t>
            </a:r>
            <a:endParaRPr lang="en-US" sz="1300" dirty="0"/>
          </a:p>
        </p:txBody>
      </p:sp>
      <p:sp>
        <p:nvSpPr>
          <p:cNvPr id="11" name="Marker"/>
          <p:cNvSpPr/>
          <p:nvPr/>
        </p:nvSpPr>
        <p:spPr>
          <a:xfrm>
            <a:off x="1005840" y="3355848"/>
            <a:ext cx="365760" cy="365760"/>
          </a:xfrm>
          <a:prstGeom prst="ellipse">
            <a:avLst/>
          </a:prstGeom>
          <a:solidFill>
            <a:srgbClr val="EB5B99"/>
          </a:solidFill>
          <a:ln w="12700">
            <a:solidFill>
              <a:srgbClr val="EB5B99"/>
            </a:solidFill>
            <a:prstDash val="solid"/>
          </a:ln>
        </p:spPr>
      </p:sp>
      <p:sp>
        <p:nvSpPr>
          <p:cNvPr id="12" name="Text 10"/>
          <p:cNvSpPr txBox="1"/>
          <p:nvPr/>
        </p:nvSpPr>
        <p:spPr>
          <a:xfrm>
            <a:off x="1005840" y="335584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3" name="Text 11"/>
          <p:cNvSpPr txBox="1"/>
          <p:nvPr/>
        </p:nvSpPr>
        <p:spPr>
          <a:xfrm>
            <a:off x="1536192" y="3310128"/>
            <a:ext cx="4206240" cy="457200"/>
          </a:xfrm>
          <a:prstGeom prst="rect">
            <a:avLst/>
          </a:prstGeom>
          <a:noFill/>
          <a:ln/>
        </p:spPr>
        <p:txBody>
          <a:bodyPr wrap="square" lIns="0" tIns="0" rIns="0" bIns="0" rtlCol="0" anchor="ctr"/>
          <a:lstStyle/>
          <a:p>
            <a:pPr indent="0" marL="0">
              <a:buNone/>
            </a:pPr>
            <a:r>
              <a:rPr lang="en-US" sz="1300" b="1" dirty="0">
                <a:solidFill>
                  <a:srgbClr val="F5F7FF"/>
                </a:solidFill>
              </a:rPr>
              <a:t>No clear visibility of stock movement</a:t>
            </a:r>
            <a:endParaRPr lang="en-US" sz="1300" dirty="0"/>
          </a:p>
        </p:txBody>
      </p:sp>
      <p:sp>
        <p:nvSpPr>
          <p:cNvPr id="14" name="Marker"/>
          <p:cNvSpPr/>
          <p:nvPr/>
        </p:nvSpPr>
        <p:spPr>
          <a:xfrm>
            <a:off x="1005840" y="4105656"/>
            <a:ext cx="365760" cy="365760"/>
          </a:xfrm>
          <a:prstGeom prst="ellipse">
            <a:avLst/>
          </a:prstGeom>
          <a:solidFill>
            <a:srgbClr val="EB5B99"/>
          </a:solidFill>
          <a:ln w="12700">
            <a:solidFill>
              <a:srgbClr val="EB5B99"/>
            </a:solidFill>
            <a:prstDash val="solid"/>
          </a:ln>
        </p:spPr>
      </p:sp>
      <p:sp>
        <p:nvSpPr>
          <p:cNvPr id="15" name="Text 13"/>
          <p:cNvSpPr txBox="1"/>
          <p:nvPr/>
        </p:nvSpPr>
        <p:spPr>
          <a:xfrm>
            <a:off x="1005840" y="410565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6" name="Text 14"/>
          <p:cNvSpPr txBox="1"/>
          <p:nvPr/>
        </p:nvSpPr>
        <p:spPr>
          <a:xfrm>
            <a:off x="1536192" y="4059936"/>
            <a:ext cx="4206240" cy="457200"/>
          </a:xfrm>
          <a:prstGeom prst="rect">
            <a:avLst/>
          </a:prstGeom>
          <a:noFill/>
          <a:ln/>
        </p:spPr>
        <p:txBody>
          <a:bodyPr wrap="square" lIns="0" tIns="0" rIns="0" bIns="0" rtlCol="0" anchor="ctr"/>
          <a:lstStyle/>
          <a:p>
            <a:pPr indent="0" marL="0">
              <a:buNone/>
            </a:pPr>
            <a:r>
              <a:rPr lang="en-US" sz="1300" b="1" dirty="0">
                <a:solidFill>
                  <a:srgbClr val="F5F7FF"/>
                </a:solidFill>
              </a:rPr>
              <a:t>Poor use of warehouse space and capacity</a:t>
            </a:r>
            <a:endParaRPr lang="en-US" sz="1300" dirty="0"/>
          </a:p>
        </p:txBody>
      </p:sp>
      <p:sp>
        <p:nvSpPr>
          <p:cNvPr id="17" name="Marker"/>
          <p:cNvSpPr/>
          <p:nvPr/>
        </p:nvSpPr>
        <p:spPr>
          <a:xfrm>
            <a:off x="1005840" y="4855464"/>
            <a:ext cx="365760" cy="365760"/>
          </a:xfrm>
          <a:prstGeom prst="ellipse">
            <a:avLst/>
          </a:prstGeom>
          <a:solidFill>
            <a:srgbClr val="EB5B99"/>
          </a:solidFill>
          <a:ln w="12700">
            <a:solidFill>
              <a:srgbClr val="EB5B99"/>
            </a:solidFill>
            <a:prstDash val="solid"/>
          </a:ln>
        </p:spPr>
      </p:sp>
      <p:sp>
        <p:nvSpPr>
          <p:cNvPr id="18" name="Text 16"/>
          <p:cNvSpPr txBox="1"/>
          <p:nvPr/>
        </p:nvSpPr>
        <p:spPr>
          <a:xfrm>
            <a:off x="1005840" y="485546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9" name="Text 17"/>
          <p:cNvSpPr txBox="1"/>
          <p:nvPr/>
        </p:nvSpPr>
        <p:spPr>
          <a:xfrm>
            <a:off x="1536192" y="4809744"/>
            <a:ext cx="4206240" cy="457200"/>
          </a:xfrm>
          <a:prstGeom prst="rect">
            <a:avLst/>
          </a:prstGeom>
          <a:noFill/>
          <a:ln/>
        </p:spPr>
        <p:txBody>
          <a:bodyPr wrap="square" lIns="0" tIns="0" rIns="0" bIns="0" rtlCol="0" anchor="ctr"/>
          <a:lstStyle/>
          <a:p>
            <a:pPr indent="0" marL="0">
              <a:buNone/>
            </a:pPr>
            <a:r>
              <a:rPr lang="en-US" sz="1300" b="1" dirty="0">
                <a:solidFill>
                  <a:srgbClr val="F5F7FF"/>
                </a:solidFill>
              </a:rPr>
              <a:t>Long time and distance to retrieve items</a:t>
            </a:r>
            <a:endParaRPr lang="en-US" sz="1300" dirty="0"/>
          </a:p>
        </p:txBody>
      </p:sp>
      <p:sp>
        <p:nvSpPr>
          <p:cNvPr id="20" name="Card"/>
          <p:cNvSpPr/>
          <p:nvPr/>
        </p:nvSpPr>
        <p:spPr>
          <a:xfrm>
            <a:off x="6263640" y="1783080"/>
            <a:ext cx="5257800" cy="4480560"/>
          </a:xfrm>
          <a:prstGeom prst="roundRect">
            <a:avLst>
              <a:gd name="adj" fmla="val 7143"/>
            </a:avLst>
          </a:prstGeom>
          <a:solidFill>
            <a:srgbClr val="181B31"/>
          </a:solidFill>
          <a:ln w="12700">
            <a:solidFill>
              <a:srgbClr val="181B31"/>
            </a:solidFill>
            <a:prstDash val="solid"/>
          </a:ln>
        </p:spPr>
      </p:sp>
      <p:sp>
        <p:nvSpPr>
          <p:cNvPr id="21" name="Text 19"/>
          <p:cNvSpPr txBox="1"/>
          <p:nvPr/>
        </p:nvSpPr>
        <p:spPr>
          <a:xfrm>
            <a:off x="6583680" y="2103120"/>
            <a:ext cx="4572000" cy="274320"/>
          </a:xfrm>
          <a:prstGeom prst="rect">
            <a:avLst/>
          </a:prstGeom>
          <a:noFill/>
          <a:ln/>
        </p:spPr>
        <p:txBody>
          <a:bodyPr wrap="square" lIns="0" tIns="0" rIns="0" bIns="0" rtlCol="0" anchor="ctr"/>
          <a:lstStyle/>
          <a:p>
            <a:pPr indent="0" marL="0">
              <a:buNone/>
            </a:pPr>
            <a:r>
              <a:rPr lang="en-US" sz="1100" b="1" spc="100" kern="0" dirty="0">
                <a:solidFill>
                  <a:srgbClr val="36D3D6"/>
                </a:solidFill>
              </a:rPr>
              <a:t>OBJECTIVES</a:t>
            </a:r>
            <a:endParaRPr lang="en-US" sz="1100" dirty="0"/>
          </a:p>
        </p:txBody>
      </p:sp>
      <p:sp>
        <p:nvSpPr>
          <p:cNvPr id="22" name="Marker"/>
          <p:cNvSpPr/>
          <p:nvPr/>
        </p:nvSpPr>
        <p:spPr>
          <a:xfrm>
            <a:off x="6583680" y="2560320"/>
            <a:ext cx="365760" cy="365760"/>
          </a:xfrm>
          <a:prstGeom prst="ellipse">
            <a:avLst/>
          </a:prstGeom>
          <a:solidFill>
            <a:srgbClr val="34C98B"/>
          </a:solidFill>
          <a:ln w="12700">
            <a:solidFill>
              <a:srgbClr val="34C98B"/>
            </a:solidFill>
            <a:prstDash val="solid"/>
          </a:ln>
        </p:spPr>
      </p:sp>
      <p:sp>
        <p:nvSpPr>
          <p:cNvPr id="23" name="Text 21"/>
          <p:cNvSpPr txBox="1"/>
          <p:nvPr/>
        </p:nvSpPr>
        <p:spPr>
          <a:xfrm>
            <a:off x="6583680" y="25603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4" name="Text 22"/>
          <p:cNvSpPr txBox="1"/>
          <p:nvPr/>
        </p:nvSpPr>
        <p:spPr>
          <a:xfrm>
            <a:off x="7114032" y="2514600"/>
            <a:ext cx="4206240" cy="457200"/>
          </a:xfrm>
          <a:prstGeom prst="rect">
            <a:avLst/>
          </a:prstGeom>
          <a:noFill/>
          <a:ln/>
        </p:spPr>
        <p:txBody>
          <a:bodyPr wrap="square" lIns="0" tIns="0" rIns="0" bIns="0" rtlCol="0" anchor="ctr"/>
          <a:lstStyle/>
          <a:p>
            <a:pPr indent="0" marL="0">
              <a:buNone/>
            </a:pPr>
            <a:r>
              <a:rPr lang="en-US" sz="1250" b="1" dirty="0">
                <a:solidFill>
                  <a:srgbClr val="F5F7FF"/>
                </a:solidFill>
              </a:rPr>
              <a:t>Centralize products, orders and staff data</a:t>
            </a:r>
            <a:endParaRPr lang="en-US" sz="1250" dirty="0"/>
          </a:p>
        </p:txBody>
      </p:sp>
      <p:sp>
        <p:nvSpPr>
          <p:cNvPr id="25" name="Marker"/>
          <p:cNvSpPr/>
          <p:nvPr/>
        </p:nvSpPr>
        <p:spPr>
          <a:xfrm>
            <a:off x="6583680" y="3163824"/>
            <a:ext cx="365760" cy="365760"/>
          </a:xfrm>
          <a:prstGeom prst="ellipse">
            <a:avLst/>
          </a:prstGeom>
          <a:solidFill>
            <a:srgbClr val="34C98B"/>
          </a:solidFill>
          <a:ln w="12700">
            <a:solidFill>
              <a:srgbClr val="34C98B"/>
            </a:solidFill>
            <a:prstDash val="solid"/>
          </a:ln>
        </p:spPr>
      </p:sp>
      <p:sp>
        <p:nvSpPr>
          <p:cNvPr id="26" name="Text 24"/>
          <p:cNvSpPr txBox="1"/>
          <p:nvPr/>
        </p:nvSpPr>
        <p:spPr>
          <a:xfrm>
            <a:off x="6583680" y="316382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7" name="Text 25"/>
          <p:cNvSpPr txBox="1"/>
          <p:nvPr/>
        </p:nvSpPr>
        <p:spPr>
          <a:xfrm>
            <a:off x="7114032" y="3118104"/>
            <a:ext cx="4206240" cy="457200"/>
          </a:xfrm>
          <a:prstGeom prst="rect">
            <a:avLst/>
          </a:prstGeom>
          <a:noFill/>
          <a:ln/>
        </p:spPr>
        <p:txBody>
          <a:bodyPr wrap="square" lIns="0" tIns="0" rIns="0" bIns="0" rtlCol="0" anchor="ctr"/>
          <a:lstStyle/>
          <a:p>
            <a:pPr indent="0" marL="0">
              <a:buNone/>
            </a:pPr>
            <a:r>
              <a:rPr lang="en-US" sz="1250" b="1" dirty="0">
                <a:solidFill>
                  <a:srgbClr val="F5F7FF"/>
                </a:solidFill>
              </a:rPr>
              <a:t>Track stock transactions and movement</a:t>
            </a:r>
            <a:endParaRPr lang="en-US" sz="1250" dirty="0"/>
          </a:p>
        </p:txBody>
      </p:sp>
      <p:sp>
        <p:nvSpPr>
          <p:cNvPr id="28" name="Marker"/>
          <p:cNvSpPr/>
          <p:nvPr/>
        </p:nvSpPr>
        <p:spPr>
          <a:xfrm>
            <a:off x="6583680" y="3767328"/>
            <a:ext cx="365760" cy="365760"/>
          </a:xfrm>
          <a:prstGeom prst="ellipse">
            <a:avLst/>
          </a:prstGeom>
          <a:solidFill>
            <a:srgbClr val="34C98B"/>
          </a:solidFill>
          <a:ln w="12700">
            <a:solidFill>
              <a:srgbClr val="34C98B"/>
            </a:solidFill>
            <a:prstDash val="solid"/>
          </a:ln>
        </p:spPr>
      </p:sp>
      <p:sp>
        <p:nvSpPr>
          <p:cNvPr id="29" name="Text 27"/>
          <p:cNvSpPr txBox="1"/>
          <p:nvPr/>
        </p:nvSpPr>
        <p:spPr>
          <a:xfrm>
            <a:off x="6583680" y="37673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30" name="Text 28"/>
          <p:cNvSpPr txBox="1"/>
          <p:nvPr/>
        </p:nvSpPr>
        <p:spPr>
          <a:xfrm>
            <a:off x="7114032" y="3721608"/>
            <a:ext cx="4206240" cy="457200"/>
          </a:xfrm>
          <a:prstGeom prst="rect">
            <a:avLst/>
          </a:prstGeom>
          <a:noFill/>
          <a:ln/>
        </p:spPr>
        <p:txBody>
          <a:bodyPr wrap="square" lIns="0" tIns="0" rIns="0" bIns="0" rtlCol="0" anchor="ctr"/>
          <a:lstStyle/>
          <a:p>
            <a:pPr indent="0" marL="0">
              <a:buNone/>
            </a:pPr>
            <a:r>
              <a:rPr lang="en-US" sz="1250" b="1" dirty="0">
                <a:solidFill>
                  <a:srgbClr val="F5F7FF"/>
                </a:solidFill>
              </a:rPr>
              <a:t>Monitor warehouse capacity and contents</a:t>
            </a:r>
            <a:endParaRPr lang="en-US" sz="1250" dirty="0"/>
          </a:p>
        </p:txBody>
      </p:sp>
      <p:sp>
        <p:nvSpPr>
          <p:cNvPr id="31" name="Marker"/>
          <p:cNvSpPr/>
          <p:nvPr/>
        </p:nvSpPr>
        <p:spPr>
          <a:xfrm>
            <a:off x="6583680" y="4370832"/>
            <a:ext cx="365760" cy="365760"/>
          </a:xfrm>
          <a:prstGeom prst="ellipse">
            <a:avLst/>
          </a:prstGeom>
          <a:solidFill>
            <a:srgbClr val="34C98B"/>
          </a:solidFill>
          <a:ln w="12700">
            <a:solidFill>
              <a:srgbClr val="34C98B"/>
            </a:solidFill>
            <a:prstDash val="solid"/>
          </a:ln>
        </p:spPr>
      </p:sp>
      <p:sp>
        <p:nvSpPr>
          <p:cNvPr id="32" name="Text 30"/>
          <p:cNvSpPr txBox="1"/>
          <p:nvPr/>
        </p:nvSpPr>
        <p:spPr>
          <a:xfrm>
            <a:off x="6583680" y="437083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33" name="Text 31"/>
          <p:cNvSpPr txBox="1"/>
          <p:nvPr/>
        </p:nvSpPr>
        <p:spPr>
          <a:xfrm>
            <a:off x="7114032" y="4325112"/>
            <a:ext cx="4206240" cy="457200"/>
          </a:xfrm>
          <a:prstGeom prst="rect">
            <a:avLst/>
          </a:prstGeom>
          <a:noFill/>
          <a:ln/>
        </p:spPr>
        <p:txBody>
          <a:bodyPr wrap="square" lIns="0" tIns="0" rIns="0" bIns="0" rtlCol="0" anchor="ctr"/>
          <a:lstStyle/>
          <a:p>
            <a:pPr indent="0" marL="0">
              <a:buNone/>
            </a:pPr>
            <a:r>
              <a:rPr lang="en-US" sz="1250" b="1" dirty="0">
                <a:solidFill>
                  <a:srgbClr val="F5F7FF"/>
                </a:solidFill>
              </a:rPr>
              <a:t>Optimize slotting by demand and accessibility</a:t>
            </a:r>
            <a:endParaRPr lang="en-US" sz="1250" dirty="0"/>
          </a:p>
        </p:txBody>
      </p:sp>
      <p:sp>
        <p:nvSpPr>
          <p:cNvPr id="34" name="Marker"/>
          <p:cNvSpPr/>
          <p:nvPr/>
        </p:nvSpPr>
        <p:spPr>
          <a:xfrm>
            <a:off x="6583680" y="4974336"/>
            <a:ext cx="365760" cy="365760"/>
          </a:xfrm>
          <a:prstGeom prst="ellipse">
            <a:avLst/>
          </a:prstGeom>
          <a:solidFill>
            <a:srgbClr val="34C98B"/>
          </a:solidFill>
          <a:ln w="12700">
            <a:solidFill>
              <a:srgbClr val="34C98B"/>
            </a:solidFill>
            <a:prstDash val="solid"/>
          </a:ln>
        </p:spPr>
      </p:sp>
      <p:sp>
        <p:nvSpPr>
          <p:cNvPr id="35" name="Text 33"/>
          <p:cNvSpPr txBox="1"/>
          <p:nvPr/>
        </p:nvSpPr>
        <p:spPr>
          <a:xfrm>
            <a:off x="6583680" y="497433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36" name="Text 34"/>
          <p:cNvSpPr txBox="1"/>
          <p:nvPr/>
        </p:nvSpPr>
        <p:spPr>
          <a:xfrm>
            <a:off x="7114032" y="4928616"/>
            <a:ext cx="4206240" cy="457200"/>
          </a:xfrm>
          <a:prstGeom prst="rect">
            <a:avLst/>
          </a:prstGeom>
          <a:noFill/>
          <a:ln/>
        </p:spPr>
        <p:txBody>
          <a:bodyPr wrap="square" lIns="0" tIns="0" rIns="0" bIns="0" rtlCol="0" anchor="ctr"/>
          <a:lstStyle/>
          <a:p>
            <a:pPr indent="0" marL="0">
              <a:buNone/>
            </a:pPr>
            <a:r>
              <a:rPr lang="en-US" sz="1250" b="1" dirty="0">
                <a:solidFill>
                  <a:srgbClr val="F5F7FF"/>
                </a:solidFill>
              </a:rPr>
              <a:t>Reduce product retrieval time and distance</a:t>
            </a:r>
            <a:endParaRPr lang="en-US" sz="1250" dirty="0"/>
          </a:p>
        </p:txBody>
      </p:sp>
      <p:sp>
        <p:nvSpPr>
          <p:cNvPr id="37" name="Marker"/>
          <p:cNvSpPr/>
          <p:nvPr/>
        </p:nvSpPr>
        <p:spPr>
          <a:xfrm>
            <a:off x="6583680" y="5577840"/>
            <a:ext cx="365760" cy="365760"/>
          </a:xfrm>
          <a:prstGeom prst="ellipse">
            <a:avLst/>
          </a:prstGeom>
          <a:solidFill>
            <a:srgbClr val="34C98B"/>
          </a:solidFill>
          <a:ln w="12700">
            <a:solidFill>
              <a:srgbClr val="34C98B"/>
            </a:solidFill>
            <a:prstDash val="solid"/>
          </a:ln>
        </p:spPr>
      </p:sp>
      <p:sp>
        <p:nvSpPr>
          <p:cNvPr id="38" name="Text 36"/>
          <p:cNvSpPr txBox="1"/>
          <p:nvPr/>
        </p:nvSpPr>
        <p:spPr>
          <a:xfrm>
            <a:off x="6583680" y="55778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39" name="Text 37"/>
          <p:cNvSpPr txBox="1"/>
          <p:nvPr/>
        </p:nvSpPr>
        <p:spPr>
          <a:xfrm>
            <a:off x="7114032" y="5532120"/>
            <a:ext cx="4206240" cy="457200"/>
          </a:xfrm>
          <a:prstGeom prst="rect">
            <a:avLst/>
          </a:prstGeom>
          <a:noFill/>
          <a:ln/>
        </p:spPr>
        <p:txBody>
          <a:bodyPr wrap="square" lIns="0" tIns="0" rIns="0" bIns="0" rtlCol="0" anchor="ctr"/>
          <a:lstStyle/>
          <a:p>
            <a:pPr indent="0" marL="0">
              <a:buNone/>
            </a:pPr>
            <a:r>
              <a:rPr lang="en-US" sz="1250" b="1" dirty="0">
                <a:solidFill>
                  <a:srgbClr val="F5F7FF"/>
                </a:solidFill>
              </a:rPr>
              <a:t>Protect the system with role-based access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C1C"/>
        </a:solidFill>
      </p:bgPr>
    </p:bg>
    <p:spTree>
      <p:nvGrpSpPr>
        <p:cNvPr id="1" name=""/>
        <p:cNvGrpSpPr/>
        <p:nvPr/>
      </p:nvGrpSpPr>
      <p:grpSpPr>
        <a:xfrm>
          <a:off x="0" y="0"/>
          <a:ext cx="0" cy="0"/>
          <a:chOff x="0" y="0"/>
          <a:chExt cx="0" cy="0"/>
        </a:xfrm>
      </p:grpSpPr>
      <p:sp>
        <p:nvSpPr>
          <p:cNvPr id="2" name="Title"/>
          <p:cNvSpPr txBox="1"/>
          <p:nvPr/>
        </p:nvSpPr>
        <p:spPr>
          <a:xfrm>
            <a:off x="594360" y="566928"/>
            <a:ext cx="9601200" cy="548640"/>
          </a:xfrm>
          <a:prstGeom prst="rect">
            <a:avLst/>
          </a:prstGeom>
          <a:noFill/>
          <a:ln/>
        </p:spPr>
        <p:txBody>
          <a:bodyPr wrap="square" lIns="0" tIns="0" rIns="0" bIns="0" rtlCol="0" anchor="ctr"/>
          <a:lstStyle/>
          <a:p>
            <a:pPr indent="0" marL="0">
              <a:buNone/>
            </a:pPr>
            <a:r>
              <a:rPr lang="en-US" sz="2800" b="1" dirty="0">
                <a:solidFill>
                  <a:srgbClr val="F5F7FF"/>
                </a:solidFill>
              </a:rPr>
              <a:t>Key Features</a:t>
            </a:r>
            <a:endParaRPr lang="en-US" sz="2800" dirty="0"/>
          </a:p>
        </p:txBody>
      </p:sp>
      <p:sp>
        <p:nvSpPr>
          <p:cNvPr id="3" name="Subtitle"/>
          <p:cNvSpPr txBox="1"/>
          <p:nvPr/>
        </p:nvSpPr>
        <p:spPr>
          <a:xfrm>
            <a:off x="612648" y="1170432"/>
            <a:ext cx="9601200" cy="320040"/>
          </a:xfrm>
          <a:prstGeom prst="rect">
            <a:avLst/>
          </a:prstGeom>
          <a:noFill/>
          <a:ln/>
        </p:spPr>
        <p:txBody>
          <a:bodyPr wrap="square" lIns="0" tIns="0" rIns="0" bIns="0" rtlCol="0" anchor="ctr"/>
          <a:lstStyle/>
          <a:p>
            <a:pPr indent="0" marL="0">
              <a:buNone/>
            </a:pPr>
            <a:r>
              <a:rPr lang="en-US" sz="1200" dirty="0">
                <a:solidFill>
                  <a:srgbClr val="AAB0CD"/>
                </a:solidFill>
              </a:rPr>
              <a:t>Core functionality for management and warehouse operations</a:t>
            </a:r>
            <a:endParaRPr lang="en-US" sz="1200" dirty="0"/>
          </a:p>
        </p:txBody>
      </p:sp>
      <p:sp>
        <p:nvSpPr>
          <p:cNvPr id="4" name="PageNo"/>
          <p:cNvSpPr txBox="1"/>
          <p:nvPr/>
        </p:nvSpPr>
        <p:spPr>
          <a:xfrm>
            <a:off x="11155680" y="320040"/>
            <a:ext cx="457200" cy="228600"/>
          </a:xfrm>
          <a:prstGeom prst="rect">
            <a:avLst/>
          </a:prstGeom>
          <a:noFill/>
          <a:ln/>
        </p:spPr>
        <p:txBody>
          <a:bodyPr wrap="square" lIns="0" tIns="0" rIns="0" bIns="0" rtlCol="0" anchor="ctr"/>
          <a:lstStyle/>
          <a:p>
            <a:pPr algn="r" indent="0" marL="0">
              <a:buNone/>
            </a:pPr>
            <a:r>
              <a:rPr lang="en-US" sz="800" b="1" dirty="0">
                <a:solidFill>
                  <a:srgbClr val="AAB0CD"/>
                </a:solidFill>
              </a:rPr>
              <a:t>05</a:t>
            </a:r>
            <a:endParaRPr lang="en-US" sz="800" dirty="0"/>
          </a:p>
        </p:txBody>
      </p:sp>
      <p:sp>
        <p:nvSpPr>
          <p:cNvPr id="5" name="Footer"/>
          <p:cNvSpPr txBox="1"/>
          <p:nvPr/>
        </p:nvSpPr>
        <p:spPr>
          <a:xfrm>
            <a:off x="594360" y="6446520"/>
            <a:ext cx="7315200" cy="228600"/>
          </a:xfrm>
          <a:prstGeom prst="rect">
            <a:avLst/>
          </a:prstGeom>
          <a:noFill/>
          <a:ln/>
        </p:spPr>
        <p:txBody>
          <a:bodyPr wrap="square" lIns="0" tIns="0" rIns="0" bIns="0" rtlCol="0" anchor="ctr"/>
          <a:lstStyle/>
          <a:p>
            <a:pPr indent="0" marL="0">
              <a:buNone/>
            </a:pPr>
            <a:r>
              <a:rPr lang="en-US" sz="800" b="1" dirty="0">
                <a:solidFill>
                  <a:srgbClr val="AAB0CD"/>
                </a:solidFill>
              </a:rPr>
              <a:t>INVENTORY &amp; WAREHOUSE MANAGEMENT • SLOTTING OPTIMIZATION</a:t>
            </a:r>
            <a:endParaRPr lang="en-US" sz="800" dirty="0"/>
          </a:p>
        </p:txBody>
      </p:sp>
      <p:sp>
        <p:nvSpPr>
          <p:cNvPr id="6" name="Card"/>
          <p:cNvSpPr/>
          <p:nvPr/>
        </p:nvSpPr>
        <p:spPr>
          <a:xfrm>
            <a:off x="685800" y="1783080"/>
            <a:ext cx="5257800" cy="4480560"/>
          </a:xfrm>
          <a:prstGeom prst="roundRect">
            <a:avLst>
              <a:gd name="adj" fmla="val 7143"/>
            </a:avLst>
          </a:prstGeom>
          <a:solidFill>
            <a:srgbClr val="181B31"/>
          </a:solidFill>
          <a:ln w="12700">
            <a:solidFill>
              <a:srgbClr val="181B31"/>
            </a:solidFill>
            <a:prstDash val="solid"/>
          </a:ln>
        </p:spPr>
      </p:sp>
      <p:sp>
        <p:nvSpPr>
          <p:cNvPr id="7" name="Text 5"/>
          <p:cNvSpPr txBox="1"/>
          <p:nvPr/>
        </p:nvSpPr>
        <p:spPr>
          <a:xfrm>
            <a:off x="1005840" y="2103120"/>
            <a:ext cx="4572000" cy="274320"/>
          </a:xfrm>
          <a:prstGeom prst="rect">
            <a:avLst/>
          </a:prstGeom>
          <a:noFill/>
          <a:ln/>
        </p:spPr>
        <p:txBody>
          <a:bodyPr wrap="square" lIns="0" tIns="0" rIns="0" bIns="0" rtlCol="0" anchor="ctr"/>
          <a:lstStyle/>
          <a:p>
            <a:pPr indent="0" marL="0">
              <a:buNone/>
            </a:pPr>
            <a:r>
              <a:rPr lang="en-US" sz="1100" b="1" spc="100" kern="0" dirty="0">
                <a:solidFill>
                  <a:srgbClr val="36D3D6"/>
                </a:solidFill>
              </a:rPr>
              <a:t>MANAGEMENT FEATURES</a:t>
            </a:r>
            <a:endParaRPr lang="en-US" sz="1100" dirty="0"/>
          </a:p>
        </p:txBody>
      </p:sp>
      <p:sp>
        <p:nvSpPr>
          <p:cNvPr id="8" name="Marker"/>
          <p:cNvSpPr/>
          <p:nvPr/>
        </p:nvSpPr>
        <p:spPr>
          <a:xfrm>
            <a:off x="1005840" y="2606040"/>
            <a:ext cx="365760" cy="365760"/>
          </a:xfrm>
          <a:prstGeom prst="ellipse">
            <a:avLst/>
          </a:prstGeom>
          <a:solidFill>
            <a:srgbClr val="4991FF"/>
          </a:solidFill>
          <a:ln w="12700">
            <a:solidFill>
              <a:srgbClr val="4991FF"/>
            </a:solidFill>
            <a:prstDash val="solid"/>
          </a:ln>
        </p:spPr>
      </p:sp>
      <p:sp>
        <p:nvSpPr>
          <p:cNvPr id="9" name="Text 7"/>
          <p:cNvSpPr txBox="1"/>
          <p:nvPr/>
        </p:nvSpPr>
        <p:spPr>
          <a:xfrm>
            <a:off x="1005840" y="26060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0" name="Text 8"/>
          <p:cNvSpPr txBox="1"/>
          <p:nvPr/>
        </p:nvSpPr>
        <p:spPr>
          <a:xfrm>
            <a:off x="1536192" y="256032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Product management</a:t>
            </a:r>
            <a:endParaRPr lang="en-US" sz="1200" dirty="0"/>
          </a:p>
        </p:txBody>
      </p:sp>
      <p:sp>
        <p:nvSpPr>
          <p:cNvPr id="11" name="Marker"/>
          <p:cNvSpPr/>
          <p:nvPr/>
        </p:nvSpPr>
        <p:spPr>
          <a:xfrm>
            <a:off x="3566160" y="2606040"/>
            <a:ext cx="365760" cy="365760"/>
          </a:xfrm>
          <a:prstGeom prst="ellipse">
            <a:avLst/>
          </a:prstGeom>
          <a:solidFill>
            <a:srgbClr val="4991FF"/>
          </a:solidFill>
          <a:ln w="12700">
            <a:solidFill>
              <a:srgbClr val="4991FF"/>
            </a:solidFill>
            <a:prstDash val="solid"/>
          </a:ln>
        </p:spPr>
      </p:sp>
      <p:sp>
        <p:nvSpPr>
          <p:cNvPr id="12" name="Text 10"/>
          <p:cNvSpPr txBox="1"/>
          <p:nvPr/>
        </p:nvSpPr>
        <p:spPr>
          <a:xfrm>
            <a:off x="3566160" y="26060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3" name="Text 11"/>
          <p:cNvSpPr txBox="1"/>
          <p:nvPr/>
        </p:nvSpPr>
        <p:spPr>
          <a:xfrm>
            <a:off x="4096512" y="256032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Warehouse management</a:t>
            </a:r>
            <a:endParaRPr lang="en-US" sz="1200" dirty="0"/>
          </a:p>
        </p:txBody>
      </p:sp>
      <p:sp>
        <p:nvSpPr>
          <p:cNvPr id="14" name="Marker"/>
          <p:cNvSpPr/>
          <p:nvPr/>
        </p:nvSpPr>
        <p:spPr>
          <a:xfrm>
            <a:off x="1005840" y="3474720"/>
            <a:ext cx="365760" cy="365760"/>
          </a:xfrm>
          <a:prstGeom prst="ellipse">
            <a:avLst/>
          </a:prstGeom>
          <a:solidFill>
            <a:srgbClr val="4991FF"/>
          </a:solidFill>
          <a:ln w="12700">
            <a:solidFill>
              <a:srgbClr val="4991FF"/>
            </a:solidFill>
            <a:prstDash val="solid"/>
          </a:ln>
        </p:spPr>
      </p:sp>
      <p:sp>
        <p:nvSpPr>
          <p:cNvPr id="15" name="Text 13"/>
          <p:cNvSpPr txBox="1"/>
          <p:nvPr/>
        </p:nvSpPr>
        <p:spPr>
          <a:xfrm>
            <a:off x="1005840" y="34747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6" name="Text 14"/>
          <p:cNvSpPr txBox="1"/>
          <p:nvPr/>
        </p:nvSpPr>
        <p:spPr>
          <a:xfrm>
            <a:off x="1536192" y="342900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Supplier management</a:t>
            </a:r>
            <a:endParaRPr lang="en-US" sz="1200" dirty="0"/>
          </a:p>
        </p:txBody>
      </p:sp>
      <p:sp>
        <p:nvSpPr>
          <p:cNvPr id="17" name="Marker"/>
          <p:cNvSpPr/>
          <p:nvPr/>
        </p:nvSpPr>
        <p:spPr>
          <a:xfrm>
            <a:off x="3566160" y="3474720"/>
            <a:ext cx="365760" cy="365760"/>
          </a:xfrm>
          <a:prstGeom prst="ellipse">
            <a:avLst/>
          </a:prstGeom>
          <a:solidFill>
            <a:srgbClr val="4991FF"/>
          </a:solidFill>
          <a:ln w="12700">
            <a:solidFill>
              <a:srgbClr val="4991FF"/>
            </a:solidFill>
            <a:prstDash val="solid"/>
          </a:ln>
        </p:spPr>
      </p:sp>
      <p:sp>
        <p:nvSpPr>
          <p:cNvPr id="18" name="Text 16"/>
          <p:cNvSpPr txBox="1"/>
          <p:nvPr/>
        </p:nvSpPr>
        <p:spPr>
          <a:xfrm>
            <a:off x="3566160" y="34747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9" name="Text 17"/>
          <p:cNvSpPr txBox="1"/>
          <p:nvPr/>
        </p:nvSpPr>
        <p:spPr>
          <a:xfrm>
            <a:off x="4096512" y="342900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Staff management</a:t>
            </a:r>
            <a:endParaRPr lang="en-US" sz="1200" dirty="0"/>
          </a:p>
        </p:txBody>
      </p:sp>
      <p:sp>
        <p:nvSpPr>
          <p:cNvPr id="20" name="Marker"/>
          <p:cNvSpPr/>
          <p:nvPr/>
        </p:nvSpPr>
        <p:spPr>
          <a:xfrm>
            <a:off x="1005840" y="4343400"/>
            <a:ext cx="365760" cy="365760"/>
          </a:xfrm>
          <a:prstGeom prst="ellipse">
            <a:avLst/>
          </a:prstGeom>
          <a:solidFill>
            <a:srgbClr val="4991FF"/>
          </a:solidFill>
          <a:ln w="12700">
            <a:solidFill>
              <a:srgbClr val="4991FF"/>
            </a:solidFill>
            <a:prstDash val="solid"/>
          </a:ln>
        </p:spPr>
      </p:sp>
      <p:sp>
        <p:nvSpPr>
          <p:cNvPr id="21" name="Text 19"/>
          <p:cNvSpPr txBox="1"/>
          <p:nvPr/>
        </p:nvSpPr>
        <p:spPr>
          <a:xfrm>
            <a:off x="1005840" y="43434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2" name="Text 20"/>
          <p:cNvSpPr txBox="1"/>
          <p:nvPr/>
        </p:nvSpPr>
        <p:spPr>
          <a:xfrm>
            <a:off x="1536192" y="429768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Stock transactions</a:t>
            </a:r>
            <a:endParaRPr lang="en-US" sz="1200" dirty="0"/>
          </a:p>
        </p:txBody>
      </p:sp>
      <p:sp>
        <p:nvSpPr>
          <p:cNvPr id="23" name="Marker"/>
          <p:cNvSpPr/>
          <p:nvPr/>
        </p:nvSpPr>
        <p:spPr>
          <a:xfrm>
            <a:off x="3566160" y="4343400"/>
            <a:ext cx="365760" cy="365760"/>
          </a:xfrm>
          <a:prstGeom prst="ellipse">
            <a:avLst/>
          </a:prstGeom>
          <a:solidFill>
            <a:srgbClr val="4991FF"/>
          </a:solidFill>
          <a:ln w="12700">
            <a:solidFill>
              <a:srgbClr val="4991FF"/>
            </a:solidFill>
            <a:prstDash val="solid"/>
          </a:ln>
        </p:spPr>
      </p:sp>
      <p:sp>
        <p:nvSpPr>
          <p:cNvPr id="24" name="Text 22"/>
          <p:cNvSpPr txBox="1"/>
          <p:nvPr/>
        </p:nvSpPr>
        <p:spPr>
          <a:xfrm>
            <a:off x="3566160" y="43434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5" name="Text 23"/>
          <p:cNvSpPr txBox="1"/>
          <p:nvPr/>
        </p:nvSpPr>
        <p:spPr>
          <a:xfrm>
            <a:off x="4096512" y="429768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Order management</a:t>
            </a:r>
            <a:endParaRPr lang="en-US" sz="1200" dirty="0"/>
          </a:p>
        </p:txBody>
      </p:sp>
      <p:sp>
        <p:nvSpPr>
          <p:cNvPr id="26" name="Marker"/>
          <p:cNvSpPr/>
          <p:nvPr/>
        </p:nvSpPr>
        <p:spPr>
          <a:xfrm>
            <a:off x="1005840" y="5212080"/>
            <a:ext cx="365760" cy="365760"/>
          </a:xfrm>
          <a:prstGeom prst="ellipse">
            <a:avLst/>
          </a:prstGeom>
          <a:solidFill>
            <a:srgbClr val="4991FF"/>
          </a:solidFill>
          <a:ln w="12700">
            <a:solidFill>
              <a:srgbClr val="4991FF"/>
            </a:solidFill>
            <a:prstDash val="solid"/>
          </a:ln>
        </p:spPr>
      </p:sp>
      <p:sp>
        <p:nvSpPr>
          <p:cNvPr id="27" name="Text 25"/>
          <p:cNvSpPr txBox="1"/>
          <p:nvPr/>
        </p:nvSpPr>
        <p:spPr>
          <a:xfrm>
            <a:off x="1005840" y="52120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8" name="Text 26"/>
          <p:cNvSpPr txBox="1"/>
          <p:nvPr/>
        </p:nvSpPr>
        <p:spPr>
          <a:xfrm>
            <a:off x="1536192" y="516636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Capacity tracking</a:t>
            </a:r>
            <a:endParaRPr lang="en-US" sz="1200" dirty="0"/>
          </a:p>
        </p:txBody>
      </p:sp>
      <p:sp>
        <p:nvSpPr>
          <p:cNvPr id="29" name="Marker"/>
          <p:cNvSpPr/>
          <p:nvPr/>
        </p:nvSpPr>
        <p:spPr>
          <a:xfrm>
            <a:off x="3566160" y="5212080"/>
            <a:ext cx="365760" cy="365760"/>
          </a:xfrm>
          <a:prstGeom prst="ellipse">
            <a:avLst/>
          </a:prstGeom>
          <a:solidFill>
            <a:srgbClr val="4991FF"/>
          </a:solidFill>
          <a:ln w="12700">
            <a:solidFill>
              <a:srgbClr val="4991FF"/>
            </a:solidFill>
            <a:prstDash val="solid"/>
          </a:ln>
        </p:spPr>
      </p:sp>
      <p:sp>
        <p:nvSpPr>
          <p:cNvPr id="30" name="Text 28"/>
          <p:cNvSpPr txBox="1"/>
          <p:nvPr/>
        </p:nvSpPr>
        <p:spPr>
          <a:xfrm>
            <a:off x="3566160" y="52120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31" name="Text 29"/>
          <p:cNvSpPr txBox="1"/>
          <p:nvPr/>
        </p:nvSpPr>
        <p:spPr>
          <a:xfrm>
            <a:off x="4096512" y="516636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Products per warehouse</a:t>
            </a:r>
            <a:endParaRPr lang="en-US" sz="1200" dirty="0"/>
          </a:p>
        </p:txBody>
      </p:sp>
      <p:sp>
        <p:nvSpPr>
          <p:cNvPr id="32" name="Card"/>
          <p:cNvSpPr/>
          <p:nvPr/>
        </p:nvSpPr>
        <p:spPr>
          <a:xfrm>
            <a:off x="6263640" y="1783080"/>
            <a:ext cx="5257800" cy="4480560"/>
          </a:xfrm>
          <a:prstGeom prst="roundRect">
            <a:avLst>
              <a:gd name="adj" fmla="val 7143"/>
            </a:avLst>
          </a:prstGeom>
          <a:solidFill>
            <a:srgbClr val="1F233E"/>
          </a:solidFill>
          <a:ln w="12700">
            <a:solidFill>
              <a:srgbClr val="1F233E"/>
            </a:solidFill>
            <a:prstDash val="solid"/>
          </a:ln>
        </p:spPr>
      </p:sp>
      <p:sp>
        <p:nvSpPr>
          <p:cNvPr id="33" name="Text 31"/>
          <p:cNvSpPr txBox="1"/>
          <p:nvPr/>
        </p:nvSpPr>
        <p:spPr>
          <a:xfrm>
            <a:off x="6583680" y="2103120"/>
            <a:ext cx="4572000" cy="274320"/>
          </a:xfrm>
          <a:prstGeom prst="rect">
            <a:avLst/>
          </a:prstGeom>
          <a:noFill/>
          <a:ln/>
        </p:spPr>
        <p:txBody>
          <a:bodyPr wrap="square" lIns="0" tIns="0" rIns="0" bIns="0" rtlCol="0" anchor="ctr"/>
          <a:lstStyle/>
          <a:p>
            <a:pPr indent="0" marL="0">
              <a:buNone/>
            </a:pPr>
            <a:r>
              <a:rPr lang="en-US" sz="1100" b="1" spc="100" kern="0" dirty="0">
                <a:solidFill>
                  <a:srgbClr val="7E57FF"/>
                </a:solidFill>
              </a:rPr>
              <a:t>SMART &amp; SECURE FEATURES</a:t>
            </a:r>
            <a:endParaRPr lang="en-US" sz="1100" dirty="0"/>
          </a:p>
        </p:txBody>
      </p:sp>
      <p:sp>
        <p:nvSpPr>
          <p:cNvPr id="34" name="Marker"/>
          <p:cNvSpPr/>
          <p:nvPr/>
        </p:nvSpPr>
        <p:spPr>
          <a:xfrm>
            <a:off x="6583680" y="2606040"/>
            <a:ext cx="365760" cy="365760"/>
          </a:xfrm>
          <a:prstGeom prst="ellipse">
            <a:avLst/>
          </a:prstGeom>
          <a:solidFill>
            <a:srgbClr val="34C98B"/>
          </a:solidFill>
          <a:ln w="12700">
            <a:solidFill>
              <a:srgbClr val="34C98B"/>
            </a:solidFill>
            <a:prstDash val="solid"/>
          </a:ln>
        </p:spPr>
      </p:sp>
      <p:sp>
        <p:nvSpPr>
          <p:cNvPr id="35" name="Text 33"/>
          <p:cNvSpPr txBox="1"/>
          <p:nvPr/>
        </p:nvSpPr>
        <p:spPr>
          <a:xfrm>
            <a:off x="6583680" y="26060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36" name="Text 34"/>
          <p:cNvSpPr txBox="1"/>
          <p:nvPr/>
        </p:nvSpPr>
        <p:spPr>
          <a:xfrm>
            <a:off x="7114032" y="256032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JWT authentication</a:t>
            </a:r>
            <a:endParaRPr lang="en-US" sz="1200" dirty="0"/>
          </a:p>
        </p:txBody>
      </p:sp>
      <p:sp>
        <p:nvSpPr>
          <p:cNvPr id="37" name="Marker"/>
          <p:cNvSpPr/>
          <p:nvPr/>
        </p:nvSpPr>
        <p:spPr>
          <a:xfrm>
            <a:off x="9144000" y="2606040"/>
            <a:ext cx="365760" cy="365760"/>
          </a:xfrm>
          <a:prstGeom prst="ellipse">
            <a:avLst/>
          </a:prstGeom>
          <a:solidFill>
            <a:srgbClr val="34C98B"/>
          </a:solidFill>
          <a:ln w="12700">
            <a:solidFill>
              <a:srgbClr val="34C98B"/>
            </a:solidFill>
            <a:prstDash val="solid"/>
          </a:ln>
        </p:spPr>
      </p:sp>
      <p:sp>
        <p:nvSpPr>
          <p:cNvPr id="38" name="Text 36"/>
          <p:cNvSpPr txBox="1"/>
          <p:nvPr/>
        </p:nvSpPr>
        <p:spPr>
          <a:xfrm>
            <a:off x="9144000" y="26060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39" name="Text 37"/>
          <p:cNvSpPr txBox="1"/>
          <p:nvPr/>
        </p:nvSpPr>
        <p:spPr>
          <a:xfrm>
            <a:off x="9674352" y="256032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Role-based access control</a:t>
            </a:r>
            <a:endParaRPr lang="en-US" sz="1200" dirty="0"/>
          </a:p>
        </p:txBody>
      </p:sp>
      <p:sp>
        <p:nvSpPr>
          <p:cNvPr id="40" name="Marker"/>
          <p:cNvSpPr/>
          <p:nvPr/>
        </p:nvSpPr>
        <p:spPr>
          <a:xfrm>
            <a:off x="6583680" y="3474720"/>
            <a:ext cx="365760" cy="365760"/>
          </a:xfrm>
          <a:prstGeom prst="ellipse">
            <a:avLst/>
          </a:prstGeom>
          <a:solidFill>
            <a:srgbClr val="34C98B"/>
          </a:solidFill>
          <a:ln w="12700">
            <a:solidFill>
              <a:srgbClr val="34C98B"/>
            </a:solidFill>
            <a:prstDash val="solid"/>
          </a:ln>
        </p:spPr>
      </p:sp>
      <p:sp>
        <p:nvSpPr>
          <p:cNvPr id="41" name="Text 39"/>
          <p:cNvSpPr txBox="1"/>
          <p:nvPr/>
        </p:nvSpPr>
        <p:spPr>
          <a:xfrm>
            <a:off x="6583680" y="34747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42" name="Text 40"/>
          <p:cNvSpPr txBox="1"/>
          <p:nvPr/>
        </p:nvSpPr>
        <p:spPr>
          <a:xfrm>
            <a:off x="7114032" y="342900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Slotting optimization</a:t>
            </a:r>
            <a:endParaRPr lang="en-US" sz="1200" dirty="0"/>
          </a:p>
        </p:txBody>
      </p:sp>
      <p:sp>
        <p:nvSpPr>
          <p:cNvPr id="43" name="Marker"/>
          <p:cNvSpPr/>
          <p:nvPr/>
        </p:nvSpPr>
        <p:spPr>
          <a:xfrm>
            <a:off x="9144000" y="3474720"/>
            <a:ext cx="365760" cy="365760"/>
          </a:xfrm>
          <a:prstGeom prst="ellipse">
            <a:avLst/>
          </a:prstGeom>
          <a:solidFill>
            <a:srgbClr val="34C98B"/>
          </a:solidFill>
          <a:ln w="12700">
            <a:solidFill>
              <a:srgbClr val="34C98B"/>
            </a:solidFill>
            <a:prstDash val="solid"/>
          </a:ln>
        </p:spPr>
      </p:sp>
      <p:sp>
        <p:nvSpPr>
          <p:cNvPr id="44" name="Text 42"/>
          <p:cNvSpPr txBox="1"/>
          <p:nvPr/>
        </p:nvSpPr>
        <p:spPr>
          <a:xfrm>
            <a:off x="9144000" y="34747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45" name="Text 43"/>
          <p:cNvSpPr txBox="1"/>
          <p:nvPr/>
        </p:nvSpPr>
        <p:spPr>
          <a:xfrm>
            <a:off x="9674352" y="342900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Demand-based priority</a:t>
            </a:r>
            <a:endParaRPr lang="en-US" sz="1200" dirty="0"/>
          </a:p>
        </p:txBody>
      </p:sp>
      <p:sp>
        <p:nvSpPr>
          <p:cNvPr id="46" name="Marker"/>
          <p:cNvSpPr/>
          <p:nvPr/>
        </p:nvSpPr>
        <p:spPr>
          <a:xfrm>
            <a:off x="6583680" y="4343400"/>
            <a:ext cx="365760" cy="365760"/>
          </a:xfrm>
          <a:prstGeom prst="ellipse">
            <a:avLst/>
          </a:prstGeom>
          <a:solidFill>
            <a:srgbClr val="34C98B"/>
          </a:solidFill>
          <a:ln w="12700">
            <a:solidFill>
              <a:srgbClr val="34C98B"/>
            </a:solidFill>
            <a:prstDash val="solid"/>
          </a:ln>
        </p:spPr>
      </p:sp>
      <p:sp>
        <p:nvSpPr>
          <p:cNvPr id="47" name="Text 45"/>
          <p:cNvSpPr txBox="1"/>
          <p:nvPr/>
        </p:nvSpPr>
        <p:spPr>
          <a:xfrm>
            <a:off x="6583680" y="43434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48" name="Text 46"/>
          <p:cNvSpPr txBox="1"/>
          <p:nvPr/>
        </p:nvSpPr>
        <p:spPr>
          <a:xfrm>
            <a:off x="7114032" y="429768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Barcode scanning</a:t>
            </a:r>
            <a:endParaRPr lang="en-US" sz="1200" dirty="0"/>
          </a:p>
        </p:txBody>
      </p:sp>
      <p:sp>
        <p:nvSpPr>
          <p:cNvPr id="49" name="Marker"/>
          <p:cNvSpPr/>
          <p:nvPr/>
        </p:nvSpPr>
        <p:spPr>
          <a:xfrm>
            <a:off x="9144000" y="4343400"/>
            <a:ext cx="365760" cy="365760"/>
          </a:xfrm>
          <a:prstGeom prst="ellipse">
            <a:avLst/>
          </a:prstGeom>
          <a:solidFill>
            <a:srgbClr val="34C98B"/>
          </a:solidFill>
          <a:ln w="12700">
            <a:solidFill>
              <a:srgbClr val="34C98B"/>
            </a:solidFill>
            <a:prstDash val="solid"/>
          </a:ln>
        </p:spPr>
      </p:sp>
      <p:sp>
        <p:nvSpPr>
          <p:cNvPr id="50" name="Text 48"/>
          <p:cNvSpPr txBox="1"/>
          <p:nvPr/>
        </p:nvSpPr>
        <p:spPr>
          <a:xfrm>
            <a:off x="9144000" y="43434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51" name="Text 49"/>
          <p:cNvSpPr txBox="1"/>
          <p:nvPr/>
        </p:nvSpPr>
        <p:spPr>
          <a:xfrm>
            <a:off x="9674352" y="429768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Dashboard charts</a:t>
            </a:r>
            <a:endParaRPr lang="en-US" sz="1200" dirty="0"/>
          </a:p>
        </p:txBody>
      </p:sp>
      <p:sp>
        <p:nvSpPr>
          <p:cNvPr id="52" name="Marker"/>
          <p:cNvSpPr/>
          <p:nvPr/>
        </p:nvSpPr>
        <p:spPr>
          <a:xfrm>
            <a:off x="6583680" y="5212080"/>
            <a:ext cx="365760" cy="365760"/>
          </a:xfrm>
          <a:prstGeom prst="ellipse">
            <a:avLst/>
          </a:prstGeom>
          <a:solidFill>
            <a:srgbClr val="34C98B"/>
          </a:solidFill>
          <a:ln w="12700">
            <a:solidFill>
              <a:srgbClr val="34C98B"/>
            </a:solidFill>
            <a:prstDash val="solid"/>
          </a:ln>
        </p:spPr>
      </p:sp>
      <p:sp>
        <p:nvSpPr>
          <p:cNvPr id="53" name="Text 51"/>
          <p:cNvSpPr txBox="1"/>
          <p:nvPr/>
        </p:nvSpPr>
        <p:spPr>
          <a:xfrm>
            <a:off x="6583680" y="52120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54" name="Text 52"/>
          <p:cNvSpPr txBox="1"/>
          <p:nvPr/>
        </p:nvSpPr>
        <p:spPr>
          <a:xfrm>
            <a:off x="7114032" y="516636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Stock movement tracking</a:t>
            </a:r>
            <a:endParaRPr lang="en-US" sz="1200" dirty="0"/>
          </a:p>
        </p:txBody>
      </p:sp>
      <p:sp>
        <p:nvSpPr>
          <p:cNvPr id="55" name="Marker"/>
          <p:cNvSpPr/>
          <p:nvPr/>
        </p:nvSpPr>
        <p:spPr>
          <a:xfrm>
            <a:off x="9144000" y="5212080"/>
            <a:ext cx="365760" cy="365760"/>
          </a:xfrm>
          <a:prstGeom prst="ellipse">
            <a:avLst/>
          </a:prstGeom>
          <a:solidFill>
            <a:srgbClr val="34C98B"/>
          </a:solidFill>
          <a:ln w="12700">
            <a:solidFill>
              <a:srgbClr val="34C98B"/>
            </a:solidFill>
            <a:prstDash val="solid"/>
          </a:ln>
        </p:spPr>
      </p:sp>
      <p:sp>
        <p:nvSpPr>
          <p:cNvPr id="56" name="Text 54"/>
          <p:cNvSpPr txBox="1"/>
          <p:nvPr/>
        </p:nvSpPr>
        <p:spPr>
          <a:xfrm>
            <a:off x="9144000" y="52120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57" name="Text 55"/>
          <p:cNvSpPr txBox="1"/>
          <p:nvPr/>
        </p:nvSpPr>
        <p:spPr>
          <a:xfrm>
            <a:off x="9674352" y="516636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Faster product retrieval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C1C"/>
        </a:solidFill>
      </p:bgPr>
    </p:bg>
    <p:spTree>
      <p:nvGrpSpPr>
        <p:cNvPr id="1" name=""/>
        <p:cNvGrpSpPr/>
        <p:nvPr/>
      </p:nvGrpSpPr>
      <p:grpSpPr>
        <a:xfrm>
          <a:off x="0" y="0"/>
          <a:ext cx="0" cy="0"/>
          <a:chOff x="0" y="0"/>
          <a:chExt cx="0" cy="0"/>
        </a:xfrm>
      </p:grpSpPr>
      <p:sp>
        <p:nvSpPr>
          <p:cNvPr id="2" name="Title"/>
          <p:cNvSpPr txBox="1"/>
          <p:nvPr/>
        </p:nvSpPr>
        <p:spPr>
          <a:xfrm>
            <a:off x="594360" y="566928"/>
            <a:ext cx="9601200" cy="548640"/>
          </a:xfrm>
          <a:prstGeom prst="rect">
            <a:avLst/>
          </a:prstGeom>
          <a:noFill/>
          <a:ln/>
        </p:spPr>
        <p:txBody>
          <a:bodyPr wrap="square" lIns="0" tIns="0" rIns="0" bIns="0" rtlCol="0" anchor="ctr"/>
          <a:lstStyle/>
          <a:p>
            <a:pPr indent="0" marL="0">
              <a:buNone/>
            </a:pPr>
            <a:r>
              <a:rPr lang="en-US" sz="2800" b="1" dirty="0">
                <a:solidFill>
                  <a:srgbClr val="F5F7FF"/>
                </a:solidFill>
              </a:rPr>
              <a:t>System Architecture</a:t>
            </a:r>
            <a:endParaRPr lang="en-US" sz="2800" dirty="0"/>
          </a:p>
        </p:txBody>
      </p:sp>
      <p:sp>
        <p:nvSpPr>
          <p:cNvPr id="3" name="Subtitle"/>
          <p:cNvSpPr txBox="1"/>
          <p:nvPr/>
        </p:nvSpPr>
        <p:spPr>
          <a:xfrm>
            <a:off x="612648" y="1170432"/>
            <a:ext cx="9601200" cy="320040"/>
          </a:xfrm>
          <a:prstGeom prst="rect">
            <a:avLst/>
          </a:prstGeom>
          <a:noFill/>
          <a:ln/>
        </p:spPr>
        <p:txBody>
          <a:bodyPr wrap="square" lIns="0" tIns="0" rIns="0" bIns="0" rtlCol="0" anchor="ctr"/>
          <a:lstStyle/>
          <a:p>
            <a:pPr indent="0" marL="0">
              <a:buNone/>
            </a:pPr>
            <a:r>
              <a:rPr lang="en-US" sz="1200" dirty="0">
                <a:solidFill>
                  <a:srgbClr val="AAB0CD"/>
                </a:solidFill>
              </a:rPr>
              <a:t>Full-stack structure of the proposed application</a:t>
            </a:r>
            <a:endParaRPr lang="en-US" sz="1200" dirty="0"/>
          </a:p>
        </p:txBody>
      </p:sp>
      <p:sp>
        <p:nvSpPr>
          <p:cNvPr id="4" name="PageNo"/>
          <p:cNvSpPr txBox="1"/>
          <p:nvPr/>
        </p:nvSpPr>
        <p:spPr>
          <a:xfrm>
            <a:off x="11155680" y="320040"/>
            <a:ext cx="457200" cy="228600"/>
          </a:xfrm>
          <a:prstGeom prst="rect">
            <a:avLst/>
          </a:prstGeom>
          <a:noFill/>
          <a:ln/>
        </p:spPr>
        <p:txBody>
          <a:bodyPr wrap="square" lIns="0" tIns="0" rIns="0" bIns="0" rtlCol="0" anchor="ctr"/>
          <a:lstStyle/>
          <a:p>
            <a:pPr algn="r" indent="0" marL="0">
              <a:buNone/>
            </a:pPr>
            <a:r>
              <a:rPr lang="en-US" sz="800" b="1" dirty="0">
                <a:solidFill>
                  <a:srgbClr val="AAB0CD"/>
                </a:solidFill>
              </a:rPr>
              <a:t>06</a:t>
            </a:r>
            <a:endParaRPr lang="en-US" sz="800" dirty="0"/>
          </a:p>
        </p:txBody>
      </p:sp>
      <p:sp>
        <p:nvSpPr>
          <p:cNvPr id="5" name="Footer"/>
          <p:cNvSpPr txBox="1"/>
          <p:nvPr/>
        </p:nvSpPr>
        <p:spPr>
          <a:xfrm>
            <a:off x="594360" y="6446520"/>
            <a:ext cx="7315200" cy="228600"/>
          </a:xfrm>
          <a:prstGeom prst="rect">
            <a:avLst/>
          </a:prstGeom>
          <a:noFill/>
          <a:ln/>
        </p:spPr>
        <p:txBody>
          <a:bodyPr wrap="square" lIns="0" tIns="0" rIns="0" bIns="0" rtlCol="0" anchor="ctr"/>
          <a:lstStyle/>
          <a:p>
            <a:pPr indent="0" marL="0">
              <a:buNone/>
            </a:pPr>
            <a:r>
              <a:rPr lang="en-US" sz="800" b="1" dirty="0">
                <a:solidFill>
                  <a:srgbClr val="AAB0CD"/>
                </a:solidFill>
              </a:rPr>
              <a:t>INVENTORY &amp; WAREHOUSE MANAGEMENT • SLOTTING OPTIMIZATION</a:t>
            </a:r>
            <a:endParaRPr lang="en-US" sz="800" dirty="0"/>
          </a:p>
        </p:txBody>
      </p:sp>
      <p:sp>
        <p:nvSpPr>
          <p:cNvPr id="6" name="Node1"/>
          <p:cNvSpPr/>
          <p:nvPr/>
        </p:nvSpPr>
        <p:spPr>
          <a:xfrm>
            <a:off x="731520" y="2011680"/>
            <a:ext cx="2286000" cy="1463040"/>
          </a:xfrm>
          <a:prstGeom prst="roundRect">
            <a:avLst>
              <a:gd name="adj" fmla="val 18750"/>
            </a:avLst>
          </a:prstGeom>
          <a:solidFill>
            <a:srgbClr val="4991FF"/>
          </a:solidFill>
          <a:ln w="12700">
            <a:solidFill>
              <a:srgbClr val="4991FF"/>
            </a:solidFill>
            <a:prstDash val="solid"/>
          </a:ln>
        </p:spPr>
      </p:sp>
      <p:sp>
        <p:nvSpPr>
          <p:cNvPr id="7" name="Text 5"/>
          <p:cNvSpPr txBox="1"/>
          <p:nvPr/>
        </p:nvSpPr>
        <p:spPr>
          <a:xfrm>
            <a:off x="731520" y="2240280"/>
            <a:ext cx="2286000" cy="685800"/>
          </a:xfrm>
          <a:prstGeom prst="rect">
            <a:avLst/>
          </a:prstGeom>
          <a:noFill/>
          <a:ln/>
        </p:spPr>
        <p:txBody>
          <a:bodyPr wrap="square" lIns="0" tIns="0" rIns="0" bIns="0" rtlCol="0" anchor="ctr"/>
          <a:lstStyle/>
          <a:p>
            <a:pPr algn="ctr" indent="0" marL="0">
              <a:buNone/>
            </a:pPr>
            <a:r>
              <a:rPr lang="en-US" sz="1600" b="1" dirty="0">
                <a:solidFill>
                  <a:srgbClr val="FFFFFF"/>
                </a:solidFill>
              </a:rPr>
              <a:t>USERS</a:t>
            </a:r>
            <a:endParaRPr lang="en-US" sz="1600" dirty="0"/>
          </a:p>
        </p:txBody>
      </p:sp>
      <p:sp>
        <p:nvSpPr>
          <p:cNvPr id="8" name="Text 6"/>
          <p:cNvSpPr txBox="1"/>
          <p:nvPr/>
        </p:nvSpPr>
        <p:spPr>
          <a:xfrm>
            <a:off x="731520" y="2926080"/>
            <a:ext cx="2286000" cy="320040"/>
          </a:xfrm>
          <a:prstGeom prst="rect">
            <a:avLst/>
          </a:prstGeom>
          <a:noFill/>
          <a:ln/>
        </p:spPr>
        <p:txBody>
          <a:bodyPr wrap="square" lIns="0" tIns="0" rIns="0" bIns="0" rtlCol="0" anchor="ctr"/>
          <a:lstStyle/>
          <a:p>
            <a:pPr algn="ctr" indent="0" marL="0">
              <a:buNone/>
            </a:pPr>
            <a:r>
              <a:rPr lang="en-US" sz="1100" b="1" dirty="0">
                <a:solidFill>
                  <a:srgbClr val="FFFFFF"/>
                </a:solidFill>
              </a:rPr>
              <a:t>Admin / Staff</a:t>
            </a:r>
            <a:endParaRPr lang="en-US" sz="1100" dirty="0"/>
          </a:p>
        </p:txBody>
      </p:sp>
      <p:sp>
        <p:nvSpPr>
          <p:cNvPr id="9" name="Arrow"/>
          <p:cNvSpPr/>
          <p:nvPr/>
        </p:nvSpPr>
        <p:spPr>
          <a:xfrm>
            <a:off x="3063240" y="2743200"/>
            <a:ext cx="411480" cy="0"/>
          </a:xfrm>
          <a:prstGeom prst="line">
            <a:avLst/>
          </a:prstGeom>
          <a:noFill/>
          <a:ln w="25400">
            <a:solidFill>
              <a:srgbClr val="AAB0CD"/>
            </a:solidFill>
            <a:prstDash val="solid"/>
            <a:tailEnd type="triangle"/>
          </a:ln>
        </p:spPr>
      </p:sp>
      <p:sp>
        <p:nvSpPr>
          <p:cNvPr id="10" name="Node2"/>
          <p:cNvSpPr/>
          <p:nvPr/>
        </p:nvSpPr>
        <p:spPr>
          <a:xfrm>
            <a:off x="3520440" y="2011680"/>
            <a:ext cx="2286000" cy="1463040"/>
          </a:xfrm>
          <a:prstGeom prst="roundRect">
            <a:avLst>
              <a:gd name="adj" fmla="val 18750"/>
            </a:avLst>
          </a:prstGeom>
          <a:solidFill>
            <a:srgbClr val="7E57FF"/>
          </a:solidFill>
          <a:ln w="12700">
            <a:solidFill>
              <a:srgbClr val="7E57FF"/>
            </a:solidFill>
            <a:prstDash val="solid"/>
          </a:ln>
        </p:spPr>
      </p:sp>
      <p:sp>
        <p:nvSpPr>
          <p:cNvPr id="11" name="Text 9"/>
          <p:cNvSpPr txBox="1"/>
          <p:nvPr/>
        </p:nvSpPr>
        <p:spPr>
          <a:xfrm>
            <a:off x="3520440" y="2240280"/>
            <a:ext cx="2286000" cy="685800"/>
          </a:xfrm>
          <a:prstGeom prst="rect">
            <a:avLst/>
          </a:prstGeom>
          <a:noFill/>
          <a:ln/>
        </p:spPr>
        <p:txBody>
          <a:bodyPr wrap="square" lIns="0" tIns="0" rIns="0" bIns="0" rtlCol="0" anchor="ctr"/>
          <a:lstStyle/>
          <a:p>
            <a:pPr algn="ctr" indent="0" marL="0">
              <a:buNone/>
            </a:pPr>
            <a:r>
              <a:rPr lang="en-US" sz="1600" b="1" dirty="0">
                <a:solidFill>
                  <a:srgbClr val="FFFFFF"/>
                </a:solidFill>
              </a:rPr>
              <a:t>REACT.JS</a:t>
            </a:r>
            <a:endParaRPr lang="en-US" sz="1600" dirty="0"/>
          </a:p>
        </p:txBody>
      </p:sp>
      <p:sp>
        <p:nvSpPr>
          <p:cNvPr id="12" name="Text 10"/>
          <p:cNvSpPr txBox="1"/>
          <p:nvPr/>
        </p:nvSpPr>
        <p:spPr>
          <a:xfrm>
            <a:off x="3520440" y="2926080"/>
            <a:ext cx="2286000" cy="320040"/>
          </a:xfrm>
          <a:prstGeom prst="rect">
            <a:avLst/>
          </a:prstGeom>
          <a:noFill/>
          <a:ln/>
        </p:spPr>
        <p:txBody>
          <a:bodyPr wrap="square" lIns="0" tIns="0" rIns="0" bIns="0" rtlCol="0" anchor="ctr"/>
          <a:lstStyle/>
          <a:p>
            <a:pPr algn="ctr" indent="0" marL="0">
              <a:buNone/>
            </a:pPr>
            <a:r>
              <a:rPr lang="en-US" sz="1100" b="1" dirty="0">
                <a:solidFill>
                  <a:srgbClr val="FFFFFF"/>
                </a:solidFill>
              </a:rPr>
              <a:t>FRONTEND</a:t>
            </a:r>
            <a:endParaRPr lang="en-US" sz="1100" dirty="0"/>
          </a:p>
        </p:txBody>
      </p:sp>
      <p:sp>
        <p:nvSpPr>
          <p:cNvPr id="13" name="Arrow"/>
          <p:cNvSpPr/>
          <p:nvPr/>
        </p:nvSpPr>
        <p:spPr>
          <a:xfrm>
            <a:off x="5852160" y="2743200"/>
            <a:ext cx="411480" cy="0"/>
          </a:xfrm>
          <a:prstGeom prst="line">
            <a:avLst/>
          </a:prstGeom>
          <a:noFill/>
          <a:ln w="25400">
            <a:solidFill>
              <a:srgbClr val="AAB0CD"/>
            </a:solidFill>
            <a:prstDash val="solid"/>
            <a:tailEnd type="triangle"/>
          </a:ln>
        </p:spPr>
      </p:sp>
      <p:sp>
        <p:nvSpPr>
          <p:cNvPr id="14" name="Node3"/>
          <p:cNvSpPr/>
          <p:nvPr/>
        </p:nvSpPr>
        <p:spPr>
          <a:xfrm>
            <a:off x="6309360" y="2011680"/>
            <a:ext cx="2286000" cy="1463040"/>
          </a:xfrm>
          <a:prstGeom prst="roundRect">
            <a:avLst>
              <a:gd name="adj" fmla="val 18750"/>
            </a:avLst>
          </a:prstGeom>
          <a:solidFill>
            <a:srgbClr val="36D3D6"/>
          </a:solidFill>
          <a:ln w="12700">
            <a:solidFill>
              <a:srgbClr val="36D3D6"/>
            </a:solidFill>
            <a:prstDash val="solid"/>
          </a:ln>
        </p:spPr>
      </p:sp>
      <p:sp>
        <p:nvSpPr>
          <p:cNvPr id="15" name="Text 13"/>
          <p:cNvSpPr txBox="1"/>
          <p:nvPr/>
        </p:nvSpPr>
        <p:spPr>
          <a:xfrm>
            <a:off x="6309360" y="2240280"/>
            <a:ext cx="2286000" cy="685800"/>
          </a:xfrm>
          <a:prstGeom prst="rect">
            <a:avLst/>
          </a:prstGeom>
          <a:noFill/>
          <a:ln/>
        </p:spPr>
        <p:txBody>
          <a:bodyPr wrap="square" lIns="0" tIns="0" rIns="0" bIns="0" rtlCol="0" anchor="ctr"/>
          <a:lstStyle/>
          <a:p>
            <a:pPr algn="ctr" indent="0" marL="0">
              <a:buNone/>
            </a:pPr>
            <a:r>
              <a:rPr lang="en-US" sz="1600" b="1" dirty="0">
                <a:solidFill>
                  <a:srgbClr val="FFFFFF"/>
                </a:solidFill>
              </a:rPr>
              <a:t>NODE.JS +</a:t>
            </a:r>
            <a:endParaRPr lang="en-US" sz="1600" dirty="0"/>
          </a:p>
          <a:p>
            <a:pPr algn="ctr" indent="0" marL="0">
              <a:buNone/>
            </a:pPr>
            <a:r>
              <a:rPr lang="en-US" sz="1600" b="1" dirty="0">
                <a:solidFill>
                  <a:srgbClr val="FFFFFF"/>
                </a:solidFill>
              </a:rPr>
              <a:t>EXPRESS</a:t>
            </a:r>
            <a:endParaRPr lang="en-US" sz="1600" dirty="0"/>
          </a:p>
        </p:txBody>
      </p:sp>
      <p:sp>
        <p:nvSpPr>
          <p:cNvPr id="16" name="Text 14"/>
          <p:cNvSpPr txBox="1"/>
          <p:nvPr/>
        </p:nvSpPr>
        <p:spPr>
          <a:xfrm>
            <a:off x="6309360" y="2926080"/>
            <a:ext cx="2286000" cy="320040"/>
          </a:xfrm>
          <a:prstGeom prst="rect">
            <a:avLst/>
          </a:prstGeom>
          <a:noFill/>
          <a:ln/>
        </p:spPr>
        <p:txBody>
          <a:bodyPr wrap="square" lIns="0" tIns="0" rIns="0" bIns="0" rtlCol="0" anchor="ctr"/>
          <a:lstStyle/>
          <a:p>
            <a:pPr algn="ctr" indent="0" marL="0">
              <a:buNone/>
            </a:pPr>
            <a:r>
              <a:rPr lang="en-US" sz="1100" b="1" dirty="0">
                <a:solidFill>
                  <a:srgbClr val="FFFFFF"/>
                </a:solidFill>
              </a:rPr>
              <a:t>BACKEND</a:t>
            </a:r>
            <a:endParaRPr lang="en-US" sz="1100" dirty="0"/>
          </a:p>
        </p:txBody>
      </p:sp>
      <p:sp>
        <p:nvSpPr>
          <p:cNvPr id="17" name="Arrow"/>
          <p:cNvSpPr/>
          <p:nvPr/>
        </p:nvSpPr>
        <p:spPr>
          <a:xfrm>
            <a:off x="8641080" y="2743200"/>
            <a:ext cx="411480" cy="0"/>
          </a:xfrm>
          <a:prstGeom prst="line">
            <a:avLst/>
          </a:prstGeom>
          <a:noFill/>
          <a:ln w="25400">
            <a:solidFill>
              <a:srgbClr val="AAB0CD"/>
            </a:solidFill>
            <a:prstDash val="solid"/>
            <a:tailEnd type="triangle"/>
          </a:ln>
        </p:spPr>
      </p:sp>
      <p:sp>
        <p:nvSpPr>
          <p:cNvPr id="18" name="Node4"/>
          <p:cNvSpPr/>
          <p:nvPr/>
        </p:nvSpPr>
        <p:spPr>
          <a:xfrm>
            <a:off x="9098280" y="2011680"/>
            <a:ext cx="2286000" cy="1463040"/>
          </a:xfrm>
          <a:prstGeom prst="roundRect">
            <a:avLst>
              <a:gd name="adj" fmla="val 18750"/>
            </a:avLst>
          </a:prstGeom>
          <a:solidFill>
            <a:srgbClr val="34C98B"/>
          </a:solidFill>
          <a:ln w="12700">
            <a:solidFill>
              <a:srgbClr val="34C98B"/>
            </a:solidFill>
            <a:prstDash val="solid"/>
          </a:ln>
        </p:spPr>
      </p:sp>
      <p:sp>
        <p:nvSpPr>
          <p:cNvPr id="19" name="Text 17"/>
          <p:cNvSpPr txBox="1"/>
          <p:nvPr/>
        </p:nvSpPr>
        <p:spPr>
          <a:xfrm>
            <a:off x="9098280" y="2240280"/>
            <a:ext cx="2286000" cy="685800"/>
          </a:xfrm>
          <a:prstGeom prst="rect">
            <a:avLst/>
          </a:prstGeom>
          <a:noFill/>
          <a:ln/>
        </p:spPr>
        <p:txBody>
          <a:bodyPr wrap="square" lIns="0" tIns="0" rIns="0" bIns="0" rtlCol="0" anchor="ctr"/>
          <a:lstStyle/>
          <a:p>
            <a:pPr algn="ctr" indent="0" marL="0">
              <a:buNone/>
            </a:pPr>
            <a:r>
              <a:rPr lang="en-US" sz="1600" b="1" dirty="0">
                <a:solidFill>
                  <a:srgbClr val="FFFFFF"/>
                </a:solidFill>
              </a:rPr>
              <a:t>MYSQL</a:t>
            </a:r>
            <a:endParaRPr lang="en-US" sz="1600" dirty="0"/>
          </a:p>
        </p:txBody>
      </p:sp>
      <p:sp>
        <p:nvSpPr>
          <p:cNvPr id="20" name="Text 18"/>
          <p:cNvSpPr txBox="1"/>
          <p:nvPr/>
        </p:nvSpPr>
        <p:spPr>
          <a:xfrm>
            <a:off x="9098280" y="2926080"/>
            <a:ext cx="2286000" cy="320040"/>
          </a:xfrm>
          <a:prstGeom prst="rect">
            <a:avLst/>
          </a:prstGeom>
          <a:noFill/>
          <a:ln/>
        </p:spPr>
        <p:txBody>
          <a:bodyPr wrap="square" lIns="0" tIns="0" rIns="0" bIns="0" rtlCol="0" anchor="ctr"/>
          <a:lstStyle/>
          <a:p>
            <a:pPr algn="ctr" indent="0" marL="0">
              <a:buNone/>
            </a:pPr>
            <a:r>
              <a:rPr lang="en-US" sz="1100" b="1" dirty="0">
                <a:solidFill>
                  <a:srgbClr val="FFFFFF"/>
                </a:solidFill>
              </a:rPr>
              <a:t>DATABASE</a:t>
            </a:r>
            <a:endParaRPr lang="en-US" sz="1100" dirty="0"/>
          </a:p>
        </p:txBody>
      </p:sp>
      <p:sp>
        <p:nvSpPr>
          <p:cNvPr id="21" name="TechStrip"/>
          <p:cNvSpPr/>
          <p:nvPr/>
        </p:nvSpPr>
        <p:spPr>
          <a:xfrm>
            <a:off x="731520" y="4114800"/>
            <a:ext cx="10698480" cy="1371600"/>
          </a:xfrm>
          <a:prstGeom prst="roundRect">
            <a:avLst>
              <a:gd name="adj" fmla="val 23333"/>
            </a:avLst>
          </a:prstGeom>
          <a:solidFill>
            <a:srgbClr val="1F233E"/>
          </a:solidFill>
          <a:ln w="12700">
            <a:solidFill>
              <a:srgbClr val="1F233E"/>
            </a:solidFill>
            <a:prstDash val="solid"/>
          </a:ln>
        </p:spPr>
      </p:sp>
      <p:sp>
        <p:nvSpPr>
          <p:cNvPr id="22" name="Text 20"/>
          <p:cNvSpPr txBox="1"/>
          <p:nvPr/>
        </p:nvSpPr>
        <p:spPr>
          <a:xfrm>
            <a:off x="1051560" y="4297680"/>
            <a:ext cx="3657600" cy="274320"/>
          </a:xfrm>
          <a:prstGeom prst="rect">
            <a:avLst/>
          </a:prstGeom>
          <a:noFill/>
          <a:ln/>
        </p:spPr>
        <p:txBody>
          <a:bodyPr wrap="square" lIns="0" tIns="0" rIns="0" bIns="0" rtlCol="0" anchor="ctr"/>
          <a:lstStyle/>
          <a:p>
            <a:pPr indent="0" marL="0">
              <a:buNone/>
            </a:pPr>
            <a:r>
              <a:rPr lang="en-US" sz="1100" b="1" spc="100" kern="0" dirty="0">
                <a:solidFill>
                  <a:srgbClr val="36D3D6"/>
                </a:solidFill>
              </a:rPr>
              <a:t>Supporting technologies</a:t>
            </a:r>
            <a:endParaRPr lang="en-US" sz="1100" dirty="0"/>
          </a:p>
        </p:txBody>
      </p:sp>
      <p:sp>
        <p:nvSpPr>
          <p:cNvPr id="23" name="Chip1"/>
          <p:cNvSpPr/>
          <p:nvPr/>
        </p:nvSpPr>
        <p:spPr>
          <a:xfrm>
            <a:off x="1051560" y="4709160"/>
            <a:ext cx="1874520" cy="457200"/>
          </a:xfrm>
          <a:prstGeom prst="roundRect">
            <a:avLst>
              <a:gd name="adj" fmla="val 24000"/>
            </a:avLst>
          </a:prstGeom>
          <a:solidFill>
            <a:srgbClr val="4991FF"/>
          </a:solidFill>
          <a:ln w="12700">
            <a:solidFill>
              <a:srgbClr val="4991FF"/>
            </a:solidFill>
            <a:prstDash val="solid"/>
          </a:ln>
        </p:spPr>
      </p:sp>
      <p:sp>
        <p:nvSpPr>
          <p:cNvPr id="24" name="Text 22"/>
          <p:cNvSpPr txBox="1"/>
          <p:nvPr/>
        </p:nvSpPr>
        <p:spPr>
          <a:xfrm>
            <a:off x="1051560" y="4709160"/>
            <a:ext cx="1874520" cy="457200"/>
          </a:xfrm>
          <a:prstGeom prst="rect">
            <a:avLst/>
          </a:prstGeom>
          <a:noFill/>
          <a:ln/>
        </p:spPr>
        <p:txBody>
          <a:bodyPr wrap="square" lIns="0" tIns="0" rIns="0" bIns="0" rtlCol="0" anchor="ctr"/>
          <a:lstStyle/>
          <a:p>
            <a:pPr algn="ctr" indent="0" marL="0">
              <a:buNone/>
            </a:pPr>
            <a:r>
              <a:rPr lang="en-US" sz="1000" b="1" dirty="0">
                <a:solidFill>
                  <a:srgbClr val="FFFFFF"/>
                </a:solidFill>
              </a:rPr>
              <a:t>Authentication (JWT)</a:t>
            </a:r>
            <a:endParaRPr lang="en-US" sz="1000" dirty="0"/>
          </a:p>
        </p:txBody>
      </p:sp>
      <p:sp>
        <p:nvSpPr>
          <p:cNvPr id="25" name="Chip2"/>
          <p:cNvSpPr/>
          <p:nvPr/>
        </p:nvSpPr>
        <p:spPr>
          <a:xfrm>
            <a:off x="3063240" y="4709160"/>
            <a:ext cx="1874520" cy="457200"/>
          </a:xfrm>
          <a:prstGeom prst="roundRect">
            <a:avLst>
              <a:gd name="adj" fmla="val 24000"/>
            </a:avLst>
          </a:prstGeom>
          <a:solidFill>
            <a:srgbClr val="7E57FF"/>
          </a:solidFill>
          <a:ln w="12700">
            <a:solidFill>
              <a:srgbClr val="7E57FF"/>
            </a:solidFill>
            <a:prstDash val="solid"/>
          </a:ln>
        </p:spPr>
      </p:sp>
      <p:sp>
        <p:nvSpPr>
          <p:cNvPr id="26" name="Text 24"/>
          <p:cNvSpPr txBox="1"/>
          <p:nvPr/>
        </p:nvSpPr>
        <p:spPr>
          <a:xfrm>
            <a:off x="3063240" y="4709160"/>
            <a:ext cx="1874520" cy="457200"/>
          </a:xfrm>
          <a:prstGeom prst="rect">
            <a:avLst/>
          </a:prstGeom>
          <a:noFill/>
          <a:ln/>
        </p:spPr>
        <p:txBody>
          <a:bodyPr wrap="square" lIns="0" tIns="0" rIns="0" bIns="0" rtlCol="0" anchor="ctr"/>
          <a:lstStyle/>
          <a:p>
            <a:pPr algn="ctr" indent="0" marL="0">
              <a:buNone/>
            </a:pPr>
            <a:r>
              <a:rPr lang="en-US" sz="1000" b="1" dirty="0">
                <a:solidFill>
                  <a:srgbClr val="FFFFFF"/>
                </a:solidFill>
              </a:rPr>
              <a:t>Role-based Access</a:t>
            </a:r>
            <a:endParaRPr lang="en-US" sz="1000" dirty="0"/>
          </a:p>
        </p:txBody>
      </p:sp>
      <p:sp>
        <p:nvSpPr>
          <p:cNvPr id="27" name="Chip3"/>
          <p:cNvSpPr/>
          <p:nvPr/>
        </p:nvSpPr>
        <p:spPr>
          <a:xfrm>
            <a:off x="5074920" y="4709160"/>
            <a:ext cx="1874520" cy="457200"/>
          </a:xfrm>
          <a:prstGeom prst="roundRect">
            <a:avLst>
              <a:gd name="adj" fmla="val 24000"/>
            </a:avLst>
          </a:prstGeom>
          <a:solidFill>
            <a:srgbClr val="4991FF"/>
          </a:solidFill>
          <a:ln w="12700">
            <a:solidFill>
              <a:srgbClr val="4991FF"/>
            </a:solidFill>
            <a:prstDash val="solid"/>
          </a:ln>
        </p:spPr>
      </p:sp>
      <p:sp>
        <p:nvSpPr>
          <p:cNvPr id="28" name="Text 26"/>
          <p:cNvSpPr txBox="1"/>
          <p:nvPr/>
        </p:nvSpPr>
        <p:spPr>
          <a:xfrm>
            <a:off x="5074920" y="4709160"/>
            <a:ext cx="1874520" cy="457200"/>
          </a:xfrm>
          <a:prstGeom prst="rect">
            <a:avLst/>
          </a:prstGeom>
          <a:noFill/>
          <a:ln/>
        </p:spPr>
        <p:txBody>
          <a:bodyPr wrap="square" lIns="0" tIns="0" rIns="0" bIns="0" rtlCol="0" anchor="ctr"/>
          <a:lstStyle/>
          <a:p>
            <a:pPr algn="ctr" indent="0" marL="0">
              <a:buNone/>
            </a:pPr>
            <a:r>
              <a:rPr lang="en-US" sz="1000" b="1" dirty="0">
                <a:solidFill>
                  <a:srgbClr val="FFFFFF"/>
                </a:solidFill>
              </a:rPr>
              <a:t>REST APIs</a:t>
            </a:r>
            <a:endParaRPr lang="en-US" sz="1000" dirty="0"/>
          </a:p>
        </p:txBody>
      </p:sp>
      <p:sp>
        <p:nvSpPr>
          <p:cNvPr id="29" name="Chip4"/>
          <p:cNvSpPr/>
          <p:nvPr/>
        </p:nvSpPr>
        <p:spPr>
          <a:xfrm>
            <a:off x="7086600" y="4709160"/>
            <a:ext cx="1874520" cy="457200"/>
          </a:xfrm>
          <a:prstGeom prst="roundRect">
            <a:avLst>
              <a:gd name="adj" fmla="val 24000"/>
            </a:avLst>
          </a:prstGeom>
          <a:solidFill>
            <a:srgbClr val="7E57FF"/>
          </a:solidFill>
          <a:ln w="12700">
            <a:solidFill>
              <a:srgbClr val="7E57FF"/>
            </a:solidFill>
            <a:prstDash val="solid"/>
          </a:ln>
        </p:spPr>
      </p:sp>
      <p:sp>
        <p:nvSpPr>
          <p:cNvPr id="30" name="Text 28"/>
          <p:cNvSpPr txBox="1"/>
          <p:nvPr/>
        </p:nvSpPr>
        <p:spPr>
          <a:xfrm>
            <a:off x="7086600" y="4709160"/>
            <a:ext cx="1874520" cy="457200"/>
          </a:xfrm>
          <a:prstGeom prst="rect">
            <a:avLst/>
          </a:prstGeom>
          <a:noFill/>
          <a:ln/>
        </p:spPr>
        <p:txBody>
          <a:bodyPr wrap="square" lIns="0" tIns="0" rIns="0" bIns="0" rtlCol="0" anchor="ctr"/>
          <a:lstStyle/>
          <a:p>
            <a:pPr algn="ctr" indent="0" marL="0">
              <a:buNone/>
            </a:pPr>
            <a:r>
              <a:rPr lang="en-US" sz="1000" b="1" dirty="0">
                <a:solidFill>
                  <a:srgbClr val="FFFFFF"/>
                </a:solidFill>
              </a:rPr>
              <a:t>Barcode Scanner API</a:t>
            </a:r>
            <a:endParaRPr lang="en-US" sz="1000" dirty="0"/>
          </a:p>
        </p:txBody>
      </p:sp>
      <p:sp>
        <p:nvSpPr>
          <p:cNvPr id="31" name="Chip5"/>
          <p:cNvSpPr/>
          <p:nvPr/>
        </p:nvSpPr>
        <p:spPr>
          <a:xfrm>
            <a:off x="9098280" y="4709160"/>
            <a:ext cx="1874520" cy="457200"/>
          </a:xfrm>
          <a:prstGeom prst="roundRect">
            <a:avLst>
              <a:gd name="adj" fmla="val 24000"/>
            </a:avLst>
          </a:prstGeom>
          <a:solidFill>
            <a:srgbClr val="4991FF"/>
          </a:solidFill>
          <a:ln w="12700">
            <a:solidFill>
              <a:srgbClr val="4991FF"/>
            </a:solidFill>
            <a:prstDash val="solid"/>
          </a:ln>
        </p:spPr>
      </p:sp>
      <p:sp>
        <p:nvSpPr>
          <p:cNvPr id="32" name="Text 30"/>
          <p:cNvSpPr txBox="1"/>
          <p:nvPr/>
        </p:nvSpPr>
        <p:spPr>
          <a:xfrm>
            <a:off x="9098280" y="4709160"/>
            <a:ext cx="1874520" cy="457200"/>
          </a:xfrm>
          <a:prstGeom prst="rect">
            <a:avLst/>
          </a:prstGeom>
          <a:noFill/>
          <a:ln/>
        </p:spPr>
        <p:txBody>
          <a:bodyPr wrap="square" lIns="0" tIns="0" rIns="0" bIns="0" rtlCol="0" anchor="ctr"/>
          <a:lstStyle/>
          <a:p>
            <a:pPr algn="ctr" indent="0" marL="0">
              <a:buNone/>
            </a:pPr>
            <a:r>
              <a:rPr lang="en-US" sz="1000" b="1" dirty="0">
                <a:solidFill>
                  <a:srgbClr val="FFFFFF"/>
                </a:solidFill>
              </a:rPr>
              <a:t>Chart.js Dashboards</a:t>
            </a:r>
            <a:endParaRPr lang="en-US" sz="1000" dirty="0"/>
          </a:p>
        </p:txBody>
      </p:sp>
      <p:sp>
        <p:nvSpPr>
          <p:cNvPr id="33" name="Text 31"/>
          <p:cNvSpPr txBox="1"/>
          <p:nvPr/>
        </p:nvSpPr>
        <p:spPr>
          <a:xfrm>
            <a:off x="731520" y="5760720"/>
            <a:ext cx="10698480" cy="365760"/>
          </a:xfrm>
          <a:prstGeom prst="rect">
            <a:avLst/>
          </a:prstGeom>
          <a:noFill/>
          <a:ln/>
        </p:spPr>
        <p:txBody>
          <a:bodyPr wrap="square" lIns="0" tIns="0" rIns="0" bIns="0" rtlCol="0" anchor="ctr"/>
          <a:lstStyle/>
          <a:p>
            <a:pPr algn="ctr" indent="0" marL="0">
              <a:buNone/>
            </a:pPr>
            <a:r>
              <a:rPr lang="en-US" sz="1100" b="1" dirty="0">
                <a:solidFill>
                  <a:srgbClr val="36D3D6"/>
                </a:solidFill>
              </a:rPr>
              <a:t>SLOTTING OPTIMIZATION  </a:t>
            </a:r>
            <a:pPr algn="ctr" indent="0" marL="0">
              <a:buNone/>
            </a:pPr>
            <a:r>
              <a:rPr lang="en-US" sz="1100" dirty="0">
                <a:solidFill>
                  <a:srgbClr val="F5F7FF"/>
                </a:solidFill>
              </a:rPr>
              <a:t>Sorting • Priority Queue • Greedy assignment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C1C"/>
        </a:solidFill>
      </p:bgPr>
    </p:bg>
    <p:spTree>
      <p:nvGrpSpPr>
        <p:cNvPr id="1" name=""/>
        <p:cNvGrpSpPr/>
        <p:nvPr/>
      </p:nvGrpSpPr>
      <p:grpSpPr>
        <a:xfrm>
          <a:off x="0" y="0"/>
          <a:ext cx="0" cy="0"/>
          <a:chOff x="0" y="0"/>
          <a:chExt cx="0" cy="0"/>
        </a:xfrm>
      </p:grpSpPr>
      <p:sp>
        <p:nvSpPr>
          <p:cNvPr id="2" name="Title"/>
          <p:cNvSpPr txBox="1"/>
          <p:nvPr/>
        </p:nvSpPr>
        <p:spPr>
          <a:xfrm>
            <a:off x="594360" y="566928"/>
            <a:ext cx="9601200" cy="548640"/>
          </a:xfrm>
          <a:prstGeom prst="rect">
            <a:avLst/>
          </a:prstGeom>
          <a:noFill/>
          <a:ln/>
        </p:spPr>
        <p:txBody>
          <a:bodyPr wrap="square" lIns="0" tIns="0" rIns="0" bIns="0" rtlCol="0" anchor="ctr"/>
          <a:lstStyle/>
          <a:p>
            <a:pPr indent="0" marL="0">
              <a:buNone/>
            </a:pPr>
            <a:r>
              <a:rPr lang="en-US" sz="2800" b="1" dirty="0">
                <a:solidFill>
                  <a:srgbClr val="F5F7FF"/>
                </a:solidFill>
              </a:rPr>
              <a:t>Application Workflow</a:t>
            </a:r>
            <a:endParaRPr lang="en-US" sz="2800" dirty="0"/>
          </a:p>
        </p:txBody>
      </p:sp>
      <p:sp>
        <p:nvSpPr>
          <p:cNvPr id="3" name="Subtitle"/>
          <p:cNvSpPr txBox="1"/>
          <p:nvPr/>
        </p:nvSpPr>
        <p:spPr>
          <a:xfrm>
            <a:off x="612648" y="1170432"/>
            <a:ext cx="9601200" cy="320040"/>
          </a:xfrm>
          <a:prstGeom prst="rect">
            <a:avLst/>
          </a:prstGeom>
          <a:noFill/>
          <a:ln/>
        </p:spPr>
        <p:txBody>
          <a:bodyPr wrap="square" lIns="0" tIns="0" rIns="0" bIns="0" rtlCol="0" anchor="ctr"/>
          <a:lstStyle/>
          <a:p>
            <a:pPr indent="0" marL="0">
              <a:buNone/>
            </a:pPr>
            <a:r>
              <a:rPr lang="en-US" sz="1200" dirty="0">
                <a:solidFill>
                  <a:srgbClr val="AAB0CD"/>
                </a:solidFill>
              </a:rPr>
              <a:t>End-to-end inventory and warehouse process</a:t>
            </a:r>
            <a:endParaRPr lang="en-US" sz="1200" dirty="0"/>
          </a:p>
        </p:txBody>
      </p:sp>
      <p:sp>
        <p:nvSpPr>
          <p:cNvPr id="4" name="PageNo"/>
          <p:cNvSpPr txBox="1"/>
          <p:nvPr/>
        </p:nvSpPr>
        <p:spPr>
          <a:xfrm>
            <a:off x="11155680" y="320040"/>
            <a:ext cx="457200" cy="228600"/>
          </a:xfrm>
          <a:prstGeom prst="rect">
            <a:avLst/>
          </a:prstGeom>
          <a:noFill/>
          <a:ln/>
        </p:spPr>
        <p:txBody>
          <a:bodyPr wrap="square" lIns="0" tIns="0" rIns="0" bIns="0" rtlCol="0" anchor="ctr"/>
          <a:lstStyle/>
          <a:p>
            <a:pPr algn="r" indent="0" marL="0">
              <a:buNone/>
            </a:pPr>
            <a:r>
              <a:rPr lang="en-US" sz="800" b="1" dirty="0">
                <a:solidFill>
                  <a:srgbClr val="AAB0CD"/>
                </a:solidFill>
              </a:rPr>
              <a:t>07</a:t>
            </a:r>
            <a:endParaRPr lang="en-US" sz="800" dirty="0"/>
          </a:p>
        </p:txBody>
      </p:sp>
      <p:sp>
        <p:nvSpPr>
          <p:cNvPr id="5" name="Footer"/>
          <p:cNvSpPr txBox="1"/>
          <p:nvPr/>
        </p:nvSpPr>
        <p:spPr>
          <a:xfrm>
            <a:off x="594360" y="6446520"/>
            <a:ext cx="7315200" cy="228600"/>
          </a:xfrm>
          <a:prstGeom prst="rect">
            <a:avLst/>
          </a:prstGeom>
          <a:noFill/>
          <a:ln/>
        </p:spPr>
        <p:txBody>
          <a:bodyPr wrap="square" lIns="0" tIns="0" rIns="0" bIns="0" rtlCol="0" anchor="ctr"/>
          <a:lstStyle/>
          <a:p>
            <a:pPr indent="0" marL="0">
              <a:buNone/>
            </a:pPr>
            <a:r>
              <a:rPr lang="en-US" sz="800" b="1" dirty="0">
                <a:solidFill>
                  <a:srgbClr val="AAB0CD"/>
                </a:solidFill>
              </a:rPr>
              <a:t>INVENTORY &amp; WAREHOUSE MANAGEMENT • SLOTTING OPTIMIZATION</a:t>
            </a:r>
            <a:endParaRPr lang="en-US" sz="800" dirty="0"/>
          </a:p>
        </p:txBody>
      </p:sp>
      <p:sp>
        <p:nvSpPr>
          <p:cNvPr id="6" name="Card"/>
          <p:cNvSpPr/>
          <p:nvPr/>
        </p:nvSpPr>
        <p:spPr>
          <a:xfrm>
            <a:off x="685800" y="1920240"/>
            <a:ext cx="2514600" cy="1554480"/>
          </a:xfrm>
          <a:prstGeom prst="roundRect">
            <a:avLst>
              <a:gd name="adj" fmla="val 20588"/>
            </a:avLst>
          </a:prstGeom>
          <a:solidFill>
            <a:srgbClr val="181B31"/>
          </a:solidFill>
          <a:ln w="12700">
            <a:solidFill>
              <a:srgbClr val="181B31"/>
            </a:solidFill>
            <a:prstDash val="solid"/>
          </a:ln>
        </p:spPr>
      </p:sp>
      <p:sp>
        <p:nvSpPr>
          <p:cNvPr id="7" name="Marker"/>
          <p:cNvSpPr/>
          <p:nvPr/>
        </p:nvSpPr>
        <p:spPr>
          <a:xfrm>
            <a:off x="960120" y="2194560"/>
            <a:ext cx="457200" cy="457200"/>
          </a:xfrm>
          <a:prstGeom prst="ellipse">
            <a:avLst/>
          </a:prstGeom>
          <a:solidFill>
            <a:srgbClr val="4991FF"/>
          </a:solidFill>
          <a:ln w="12700">
            <a:solidFill>
              <a:srgbClr val="4991FF"/>
            </a:solidFill>
            <a:prstDash val="solid"/>
          </a:ln>
        </p:spPr>
      </p:sp>
      <p:sp>
        <p:nvSpPr>
          <p:cNvPr id="8" name="Text 6"/>
          <p:cNvSpPr txBox="1"/>
          <p:nvPr/>
        </p:nvSpPr>
        <p:spPr>
          <a:xfrm>
            <a:off x="960120" y="21945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Text 7"/>
          <p:cNvSpPr txBox="1"/>
          <p:nvPr/>
        </p:nvSpPr>
        <p:spPr>
          <a:xfrm>
            <a:off x="1554480" y="2103120"/>
            <a:ext cx="1508760" cy="640080"/>
          </a:xfrm>
          <a:prstGeom prst="rect">
            <a:avLst/>
          </a:prstGeom>
          <a:noFill/>
          <a:ln/>
        </p:spPr>
        <p:txBody>
          <a:bodyPr wrap="square" lIns="0" tIns="0" rIns="0" bIns="0" rtlCol="0" anchor="ctr"/>
          <a:lstStyle/>
          <a:p>
            <a:pPr indent="0" marL="0">
              <a:buNone/>
            </a:pPr>
            <a:r>
              <a:rPr lang="en-US" sz="1300" b="1" dirty="0">
                <a:solidFill>
                  <a:srgbClr val="F5F7FF"/>
                </a:solidFill>
              </a:rPr>
              <a:t>Secure Login</a:t>
            </a:r>
            <a:endParaRPr lang="en-US" sz="1300" dirty="0"/>
          </a:p>
        </p:txBody>
      </p:sp>
      <p:sp>
        <p:nvSpPr>
          <p:cNvPr id="10" name="Text 8"/>
          <p:cNvSpPr txBox="1"/>
          <p:nvPr/>
        </p:nvSpPr>
        <p:spPr>
          <a:xfrm>
            <a:off x="960120" y="2880360"/>
            <a:ext cx="2103120" cy="411480"/>
          </a:xfrm>
          <a:prstGeom prst="rect">
            <a:avLst/>
          </a:prstGeom>
          <a:noFill/>
          <a:ln/>
        </p:spPr>
        <p:txBody>
          <a:bodyPr wrap="square" lIns="0" tIns="0" rIns="0" bIns="0" rtlCol="0" anchor="t"/>
          <a:lstStyle/>
          <a:p>
            <a:pPr indent="0" marL="0">
              <a:buNone/>
            </a:pPr>
            <a:r>
              <a:rPr lang="en-US" sz="1000" dirty="0">
                <a:solidFill>
                  <a:srgbClr val="AAB0CD"/>
                </a:solidFill>
              </a:rPr>
              <a:t>Authenticate by role</a:t>
            </a:r>
            <a:endParaRPr lang="en-US" sz="1000" dirty="0"/>
          </a:p>
        </p:txBody>
      </p:sp>
      <p:sp>
        <p:nvSpPr>
          <p:cNvPr id="11" name="Card"/>
          <p:cNvSpPr/>
          <p:nvPr/>
        </p:nvSpPr>
        <p:spPr>
          <a:xfrm>
            <a:off x="3429000" y="1920240"/>
            <a:ext cx="2514600" cy="1554480"/>
          </a:xfrm>
          <a:prstGeom prst="roundRect">
            <a:avLst>
              <a:gd name="adj" fmla="val 20588"/>
            </a:avLst>
          </a:prstGeom>
          <a:solidFill>
            <a:srgbClr val="181B31"/>
          </a:solidFill>
          <a:ln w="12700">
            <a:solidFill>
              <a:srgbClr val="181B31"/>
            </a:solidFill>
            <a:prstDash val="solid"/>
          </a:ln>
        </p:spPr>
      </p:sp>
      <p:sp>
        <p:nvSpPr>
          <p:cNvPr id="12" name="Marker"/>
          <p:cNvSpPr/>
          <p:nvPr/>
        </p:nvSpPr>
        <p:spPr>
          <a:xfrm>
            <a:off x="3703320" y="2194560"/>
            <a:ext cx="457200" cy="457200"/>
          </a:xfrm>
          <a:prstGeom prst="ellipse">
            <a:avLst/>
          </a:prstGeom>
          <a:solidFill>
            <a:srgbClr val="7E57FF"/>
          </a:solidFill>
          <a:ln w="12700">
            <a:solidFill>
              <a:srgbClr val="7E57FF"/>
            </a:solidFill>
            <a:prstDash val="solid"/>
          </a:ln>
        </p:spPr>
      </p:sp>
      <p:sp>
        <p:nvSpPr>
          <p:cNvPr id="13" name="Text 11"/>
          <p:cNvSpPr txBox="1"/>
          <p:nvPr/>
        </p:nvSpPr>
        <p:spPr>
          <a:xfrm>
            <a:off x="3703320" y="21945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Text 12"/>
          <p:cNvSpPr txBox="1"/>
          <p:nvPr/>
        </p:nvSpPr>
        <p:spPr>
          <a:xfrm>
            <a:off x="4297680" y="2103120"/>
            <a:ext cx="1508760" cy="640080"/>
          </a:xfrm>
          <a:prstGeom prst="rect">
            <a:avLst/>
          </a:prstGeom>
          <a:noFill/>
          <a:ln/>
        </p:spPr>
        <p:txBody>
          <a:bodyPr wrap="square" lIns="0" tIns="0" rIns="0" bIns="0" rtlCol="0" anchor="ctr"/>
          <a:lstStyle/>
          <a:p>
            <a:pPr indent="0" marL="0">
              <a:buNone/>
            </a:pPr>
            <a:r>
              <a:rPr lang="en-US" sz="1300" b="1" dirty="0">
                <a:solidFill>
                  <a:srgbClr val="F5F7FF"/>
                </a:solidFill>
              </a:rPr>
              <a:t>Add Products &amp; Suppliers</a:t>
            </a:r>
            <a:endParaRPr lang="en-US" sz="1300" dirty="0"/>
          </a:p>
        </p:txBody>
      </p:sp>
      <p:sp>
        <p:nvSpPr>
          <p:cNvPr id="15" name="Text 13"/>
          <p:cNvSpPr txBox="1"/>
          <p:nvPr/>
        </p:nvSpPr>
        <p:spPr>
          <a:xfrm>
            <a:off x="3703320" y="2880360"/>
            <a:ext cx="2103120" cy="411480"/>
          </a:xfrm>
          <a:prstGeom prst="rect">
            <a:avLst/>
          </a:prstGeom>
          <a:noFill/>
          <a:ln/>
        </p:spPr>
        <p:txBody>
          <a:bodyPr wrap="square" lIns="0" tIns="0" rIns="0" bIns="0" rtlCol="0" anchor="t"/>
          <a:lstStyle/>
          <a:p>
            <a:pPr indent="0" marL="0">
              <a:buNone/>
            </a:pPr>
            <a:r>
              <a:rPr lang="en-US" sz="1000" dirty="0">
                <a:solidFill>
                  <a:srgbClr val="AAB0CD"/>
                </a:solidFill>
              </a:rPr>
              <a:t>Maintain master data</a:t>
            </a:r>
            <a:endParaRPr lang="en-US" sz="1000" dirty="0"/>
          </a:p>
        </p:txBody>
      </p:sp>
      <p:sp>
        <p:nvSpPr>
          <p:cNvPr id="16" name="Card"/>
          <p:cNvSpPr/>
          <p:nvPr/>
        </p:nvSpPr>
        <p:spPr>
          <a:xfrm>
            <a:off x="6172200" y="1920240"/>
            <a:ext cx="2514600" cy="1554480"/>
          </a:xfrm>
          <a:prstGeom prst="roundRect">
            <a:avLst>
              <a:gd name="adj" fmla="val 20588"/>
            </a:avLst>
          </a:prstGeom>
          <a:solidFill>
            <a:srgbClr val="181B31"/>
          </a:solidFill>
          <a:ln w="12700">
            <a:solidFill>
              <a:srgbClr val="181B31"/>
            </a:solidFill>
            <a:prstDash val="solid"/>
          </a:ln>
        </p:spPr>
      </p:sp>
      <p:sp>
        <p:nvSpPr>
          <p:cNvPr id="17" name="Marker"/>
          <p:cNvSpPr/>
          <p:nvPr/>
        </p:nvSpPr>
        <p:spPr>
          <a:xfrm>
            <a:off x="6446520" y="2194560"/>
            <a:ext cx="457200" cy="457200"/>
          </a:xfrm>
          <a:prstGeom prst="ellipse">
            <a:avLst/>
          </a:prstGeom>
          <a:solidFill>
            <a:srgbClr val="36D3D6"/>
          </a:solidFill>
          <a:ln w="12700">
            <a:solidFill>
              <a:srgbClr val="36D3D6"/>
            </a:solidFill>
            <a:prstDash val="solid"/>
          </a:ln>
        </p:spPr>
      </p:sp>
      <p:sp>
        <p:nvSpPr>
          <p:cNvPr id="18" name="Text 16"/>
          <p:cNvSpPr txBox="1"/>
          <p:nvPr/>
        </p:nvSpPr>
        <p:spPr>
          <a:xfrm>
            <a:off x="6446520" y="21945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9" name="Text 17"/>
          <p:cNvSpPr txBox="1"/>
          <p:nvPr/>
        </p:nvSpPr>
        <p:spPr>
          <a:xfrm>
            <a:off x="7040880" y="2103120"/>
            <a:ext cx="1508760" cy="640080"/>
          </a:xfrm>
          <a:prstGeom prst="rect">
            <a:avLst/>
          </a:prstGeom>
          <a:noFill/>
          <a:ln/>
        </p:spPr>
        <p:txBody>
          <a:bodyPr wrap="square" lIns="0" tIns="0" rIns="0" bIns="0" rtlCol="0" anchor="ctr"/>
          <a:lstStyle/>
          <a:p>
            <a:pPr indent="0" marL="0">
              <a:buNone/>
            </a:pPr>
            <a:r>
              <a:rPr lang="en-US" sz="1300" b="1" dirty="0">
                <a:solidFill>
                  <a:srgbClr val="F5F7FF"/>
                </a:solidFill>
              </a:rPr>
              <a:t>Receive Stock</a:t>
            </a:r>
            <a:endParaRPr lang="en-US" sz="1300" dirty="0"/>
          </a:p>
        </p:txBody>
      </p:sp>
      <p:sp>
        <p:nvSpPr>
          <p:cNvPr id="20" name="Text 18"/>
          <p:cNvSpPr txBox="1"/>
          <p:nvPr/>
        </p:nvSpPr>
        <p:spPr>
          <a:xfrm>
            <a:off x="6446520" y="2880360"/>
            <a:ext cx="2103120" cy="411480"/>
          </a:xfrm>
          <a:prstGeom prst="rect">
            <a:avLst/>
          </a:prstGeom>
          <a:noFill/>
          <a:ln/>
        </p:spPr>
        <p:txBody>
          <a:bodyPr wrap="square" lIns="0" tIns="0" rIns="0" bIns="0" rtlCol="0" anchor="t"/>
          <a:lstStyle/>
          <a:p>
            <a:pPr indent="0" marL="0">
              <a:buNone/>
            </a:pPr>
            <a:r>
              <a:rPr lang="en-US" sz="1000" dirty="0">
                <a:solidFill>
                  <a:srgbClr val="AAB0CD"/>
                </a:solidFill>
              </a:rPr>
              <a:t>Scan barcode, log it</a:t>
            </a:r>
            <a:endParaRPr lang="en-US" sz="1000" dirty="0"/>
          </a:p>
        </p:txBody>
      </p:sp>
      <p:sp>
        <p:nvSpPr>
          <p:cNvPr id="21" name="Card"/>
          <p:cNvSpPr/>
          <p:nvPr/>
        </p:nvSpPr>
        <p:spPr>
          <a:xfrm>
            <a:off x="8915400" y="1920240"/>
            <a:ext cx="2514600" cy="1554480"/>
          </a:xfrm>
          <a:prstGeom prst="roundRect">
            <a:avLst>
              <a:gd name="adj" fmla="val 20588"/>
            </a:avLst>
          </a:prstGeom>
          <a:solidFill>
            <a:srgbClr val="181B31"/>
          </a:solidFill>
          <a:ln w="12700">
            <a:solidFill>
              <a:srgbClr val="181B31"/>
            </a:solidFill>
            <a:prstDash val="solid"/>
          </a:ln>
        </p:spPr>
      </p:sp>
      <p:sp>
        <p:nvSpPr>
          <p:cNvPr id="22" name="Marker"/>
          <p:cNvSpPr/>
          <p:nvPr/>
        </p:nvSpPr>
        <p:spPr>
          <a:xfrm>
            <a:off x="9189720" y="2194560"/>
            <a:ext cx="457200" cy="457200"/>
          </a:xfrm>
          <a:prstGeom prst="ellipse">
            <a:avLst/>
          </a:prstGeom>
          <a:solidFill>
            <a:srgbClr val="34C98B"/>
          </a:solidFill>
          <a:ln w="12700">
            <a:solidFill>
              <a:srgbClr val="34C98B"/>
            </a:solidFill>
            <a:prstDash val="solid"/>
          </a:ln>
        </p:spPr>
      </p:sp>
      <p:sp>
        <p:nvSpPr>
          <p:cNvPr id="23" name="Text 21"/>
          <p:cNvSpPr txBox="1"/>
          <p:nvPr/>
        </p:nvSpPr>
        <p:spPr>
          <a:xfrm>
            <a:off x="9189720" y="21945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4" name="Text 22"/>
          <p:cNvSpPr txBox="1"/>
          <p:nvPr/>
        </p:nvSpPr>
        <p:spPr>
          <a:xfrm>
            <a:off x="9784080" y="2103120"/>
            <a:ext cx="1508760" cy="640080"/>
          </a:xfrm>
          <a:prstGeom prst="rect">
            <a:avLst/>
          </a:prstGeom>
          <a:noFill/>
          <a:ln/>
        </p:spPr>
        <p:txBody>
          <a:bodyPr wrap="square" lIns="0" tIns="0" rIns="0" bIns="0" rtlCol="0" anchor="ctr"/>
          <a:lstStyle/>
          <a:p>
            <a:pPr indent="0" marL="0">
              <a:buNone/>
            </a:pPr>
            <a:r>
              <a:rPr lang="en-US" sz="1300" b="1" dirty="0">
                <a:solidFill>
                  <a:srgbClr val="F5F7FF"/>
                </a:solidFill>
              </a:rPr>
              <a:t>Run Slotting</a:t>
            </a:r>
            <a:endParaRPr lang="en-US" sz="1300" dirty="0"/>
          </a:p>
        </p:txBody>
      </p:sp>
      <p:sp>
        <p:nvSpPr>
          <p:cNvPr id="25" name="Text 23"/>
          <p:cNvSpPr txBox="1"/>
          <p:nvPr/>
        </p:nvSpPr>
        <p:spPr>
          <a:xfrm>
            <a:off x="9189720" y="2880360"/>
            <a:ext cx="2103120" cy="411480"/>
          </a:xfrm>
          <a:prstGeom prst="rect">
            <a:avLst/>
          </a:prstGeom>
          <a:noFill/>
          <a:ln/>
        </p:spPr>
        <p:txBody>
          <a:bodyPr wrap="square" lIns="0" tIns="0" rIns="0" bIns="0" rtlCol="0" anchor="t"/>
          <a:lstStyle/>
          <a:p>
            <a:pPr indent="0" marL="0">
              <a:buNone/>
            </a:pPr>
            <a:r>
              <a:rPr lang="en-US" sz="1000" dirty="0">
                <a:solidFill>
                  <a:srgbClr val="AAB0CD"/>
                </a:solidFill>
              </a:rPr>
              <a:t>Prioritize by demand</a:t>
            </a:r>
            <a:endParaRPr lang="en-US" sz="1000" dirty="0"/>
          </a:p>
        </p:txBody>
      </p:sp>
      <p:sp>
        <p:nvSpPr>
          <p:cNvPr id="26" name="Card"/>
          <p:cNvSpPr/>
          <p:nvPr/>
        </p:nvSpPr>
        <p:spPr>
          <a:xfrm>
            <a:off x="685800" y="3749040"/>
            <a:ext cx="2514600" cy="1554480"/>
          </a:xfrm>
          <a:prstGeom prst="roundRect">
            <a:avLst>
              <a:gd name="adj" fmla="val 20588"/>
            </a:avLst>
          </a:prstGeom>
          <a:solidFill>
            <a:srgbClr val="181B31"/>
          </a:solidFill>
          <a:ln w="12700">
            <a:solidFill>
              <a:srgbClr val="181B31"/>
            </a:solidFill>
            <a:prstDash val="solid"/>
          </a:ln>
        </p:spPr>
      </p:sp>
      <p:sp>
        <p:nvSpPr>
          <p:cNvPr id="27" name="Marker"/>
          <p:cNvSpPr/>
          <p:nvPr/>
        </p:nvSpPr>
        <p:spPr>
          <a:xfrm>
            <a:off x="960120" y="4023360"/>
            <a:ext cx="457200" cy="457200"/>
          </a:xfrm>
          <a:prstGeom prst="ellipse">
            <a:avLst/>
          </a:prstGeom>
          <a:solidFill>
            <a:srgbClr val="EB5B99"/>
          </a:solidFill>
          <a:ln w="12700">
            <a:solidFill>
              <a:srgbClr val="EB5B99"/>
            </a:solidFill>
            <a:prstDash val="solid"/>
          </a:ln>
        </p:spPr>
      </p:sp>
      <p:sp>
        <p:nvSpPr>
          <p:cNvPr id="28" name="Text 26"/>
          <p:cNvSpPr txBox="1"/>
          <p:nvPr/>
        </p:nvSpPr>
        <p:spPr>
          <a:xfrm>
            <a:off x="960120"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9" name="Text 27"/>
          <p:cNvSpPr txBox="1"/>
          <p:nvPr/>
        </p:nvSpPr>
        <p:spPr>
          <a:xfrm>
            <a:off x="1554480" y="3931920"/>
            <a:ext cx="1508760" cy="640080"/>
          </a:xfrm>
          <a:prstGeom prst="rect">
            <a:avLst/>
          </a:prstGeom>
          <a:noFill/>
          <a:ln/>
        </p:spPr>
        <p:txBody>
          <a:bodyPr wrap="square" lIns="0" tIns="0" rIns="0" bIns="0" rtlCol="0" anchor="ctr"/>
          <a:lstStyle/>
          <a:p>
            <a:pPr indent="0" marL="0">
              <a:buNone/>
            </a:pPr>
            <a:r>
              <a:rPr lang="en-US" sz="1300" b="1" dirty="0">
                <a:solidFill>
                  <a:srgbClr val="F5F7FF"/>
                </a:solidFill>
              </a:rPr>
              <a:t>Store in Warehouse</a:t>
            </a:r>
            <a:endParaRPr lang="en-US" sz="1300" dirty="0"/>
          </a:p>
        </p:txBody>
      </p:sp>
      <p:sp>
        <p:nvSpPr>
          <p:cNvPr id="30" name="Text 28"/>
          <p:cNvSpPr txBox="1"/>
          <p:nvPr/>
        </p:nvSpPr>
        <p:spPr>
          <a:xfrm>
            <a:off x="960120" y="4709160"/>
            <a:ext cx="2103120" cy="411480"/>
          </a:xfrm>
          <a:prstGeom prst="rect">
            <a:avLst/>
          </a:prstGeom>
          <a:noFill/>
          <a:ln/>
        </p:spPr>
        <p:txBody>
          <a:bodyPr wrap="square" lIns="0" tIns="0" rIns="0" bIns="0" rtlCol="0" anchor="t"/>
          <a:lstStyle/>
          <a:p>
            <a:pPr indent="0" marL="0">
              <a:buNone/>
            </a:pPr>
            <a:r>
              <a:rPr lang="en-US" sz="1000" dirty="0">
                <a:solidFill>
                  <a:srgbClr val="AAB0CD"/>
                </a:solidFill>
              </a:rPr>
              <a:t>Assign best location</a:t>
            </a:r>
            <a:endParaRPr lang="en-US" sz="1000" dirty="0"/>
          </a:p>
        </p:txBody>
      </p:sp>
      <p:sp>
        <p:nvSpPr>
          <p:cNvPr id="31" name="Card"/>
          <p:cNvSpPr/>
          <p:nvPr/>
        </p:nvSpPr>
        <p:spPr>
          <a:xfrm>
            <a:off x="3429000" y="3749040"/>
            <a:ext cx="2514600" cy="1554480"/>
          </a:xfrm>
          <a:prstGeom prst="roundRect">
            <a:avLst>
              <a:gd name="adj" fmla="val 20588"/>
            </a:avLst>
          </a:prstGeom>
          <a:solidFill>
            <a:srgbClr val="181B31"/>
          </a:solidFill>
          <a:ln w="12700">
            <a:solidFill>
              <a:srgbClr val="181B31"/>
            </a:solidFill>
            <a:prstDash val="solid"/>
          </a:ln>
        </p:spPr>
      </p:sp>
      <p:sp>
        <p:nvSpPr>
          <p:cNvPr id="32" name="Marker"/>
          <p:cNvSpPr/>
          <p:nvPr/>
        </p:nvSpPr>
        <p:spPr>
          <a:xfrm>
            <a:off x="3703320" y="4023360"/>
            <a:ext cx="457200" cy="457200"/>
          </a:xfrm>
          <a:prstGeom prst="ellipse">
            <a:avLst/>
          </a:prstGeom>
          <a:solidFill>
            <a:srgbClr val="4991FF"/>
          </a:solidFill>
          <a:ln w="12700">
            <a:solidFill>
              <a:srgbClr val="4991FF"/>
            </a:solidFill>
            <a:prstDash val="solid"/>
          </a:ln>
        </p:spPr>
      </p:sp>
      <p:sp>
        <p:nvSpPr>
          <p:cNvPr id="33" name="Text 31"/>
          <p:cNvSpPr txBox="1"/>
          <p:nvPr/>
        </p:nvSpPr>
        <p:spPr>
          <a:xfrm>
            <a:off x="3703320"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4" name="Text 32"/>
          <p:cNvSpPr txBox="1"/>
          <p:nvPr/>
        </p:nvSpPr>
        <p:spPr>
          <a:xfrm>
            <a:off x="4297680" y="3931920"/>
            <a:ext cx="1508760" cy="640080"/>
          </a:xfrm>
          <a:prstGeom prst="rect">
            <a:avLst/>
          </a:prstGeom>
          <a:noFill/>
          <a:ln/>
        </p:spPr>
        <p:txBody>
          <a:bodyPr wrap="square" lIns="0" tIns="0" rIns="0" bIns="0" rtlCol="0" anchor="ctr"/>
          <a:lstStyle/>
          <a:p>
            <a:pPr indent="0" marL="0">
              <a:buNone/>
            </a:pPr>
            <a:r>
              <a:rPr lang="en-US" sz="1300" b="1" dirty="0">
                <a:solidFill>
                  <a:srgbClr val="F5F7FF"/>
                </a:solidFill>
              </a:rPr>
              <a:t>Process Order</a:t>
            </a:r>
            <a:endParaRPr lang="en-US" sz="1300" dirty="0"/>
          </a:p>
        </p:txBody>
      </p:sp>
      <p:sp>
        <p:nvSpPr>
          <p:cNvPr id="35" name="Text 33"/>
          <p:cNvSpPr txBox="1"/>
          <p:nvPr/>
        </p:nvSpPr>
        <p:spPr>
          <a:xfrm>
            <a:off x="3703320" y="4709160"/>
            <a:ext cx="2103120" cy="411480"/>
          </a:xfrm>
          <a:prstGeom prst="rect">
            <a:avLst/>
          </a:prstGeom>
          <a:noFill/>
          <a:ln/>
        </p:spPr>
        <p:txBody>
          <a:bodyPr wrap="square" lIns="0" tIns="0" rIns="0" bIns="0" rtlCol="0" anchor="t"/>
          <a:lstStyle/>
          <a:p>
            <a:pPr indent="0" marL="0">
              <a:buNone/>
            </a:pPr>
            <a:r>
              <a:rPr lang="en-US" sz="1000" dirty="0">
                <a:solidFill>
                  <a:srgbClr val="AAB0CD"/>
                </a:solidFill>
              </a:rPr>
              <a:t>Pick &amp; dispatch</a:t>
            </a:r>
            <a:endParaRPr lang="en-US" sz="1000" dirty="0"/>
          </a:p>
        </p:txBody>
      </p:sp>
      <p:sp>
        <p:nvSpPr>
          <p:cNvPr id="36" name="Card"/>
          <p:cNvSpPr/>
          <p:nvPr/>
        </p:nvSpPr>
        <p:spPr>
          <a:xfrm>
            <a:off x="6172200" y="3749040"/>
            <a:ext cx="2514600" cy="1554480"/>
          </a:xfrm>
          <a:prstGeom prst="roundRect">
            <a:avLst>
              <a:gd name="adj" fmla="val 20588"/>
            </a:avLst>
          </a:prstGeom>
          <a:solidFill>
            <a:srgbClr val="181B31"/>
          </a:solidFill>
          <a:ln w="12700">
            <a:solidFill>
              <a:srgbClr val="181B31"/>
            </a:solidFill>
            <a:prstDash val="solid"/>
          </a:ln>
        </p:spPr>
      </p:sp>
      <p:sp>
        <p:nvSpPr>
          <p:cNvPr id="37" name="Marker"/>
          <p:cNvSpPr/>
          <p:nvPr/>
        </p:nvSpPr>
        <p:spPr>
          <a:xfrm>
            <a:off x="6446520" y="4023360"/>
            <a:ext cx="457200" cy="457200"/>
          </a:xfrm>
          <a:prstGeom prst="ellipse">
            <a:avLst/>
          </a:prstGeom>
          <a:solidFill>
            <a:srgbClr val="7E57FF"/>
          </a:solidFill>
          <a:ln w="12700">
            <a:solidFill>
              <a:srgbClr val="7E57FF"/>
            </a:solidFill>
            <a:prstDash val="solid"/>
          </a:ln>
        </p:spPr>
      </p:sp>
      <p:sp>
        <p:nvSpPr>
          <p:cNvPr id="38" name="Text 36"/>
          <p:cNvSpPr txBox="1"/>
          <p:nvPr/>
        </p:nvSpPr>
        <p:spPr>
          <a:xfrm>
            <a:off x="6446520"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39" name="Text 37"/>
          <p:cNvSpPr txBox="1"/>
          <p:nvPr/>
        </p:nvSpPr>
        <p:spPr>
          <a:xfrm>
            <a:off x="7040880" y="3931920"/>
            <a:ext cx="1508760" cy="640080"/>
          </a:xfrm>
          <a:prstGeom prst="rect">
            <a:avLst/>
          </a:prstGeom>
          <a:noFill/>
          <a:ln/>
        </p:spPr>
        <p:txBody>
          <a:bodyPr wrap="square" lIns="0" tIns="0" rIns="0" bIns="0" rtlCol="0" anchor="ctr"/>
          <a:lstStyle/>
          <a:p>
            <a:pPr indent="0" marL="0">
              <a:buNone/>
            </a:pPr>
            <a:r>
              <a:rPr lang="en-US" sz="1300" b="1" dirty="0">
                <a:solidFill>
                  <a:srgbClr val="F5F7FF"/>
                </a:solidFill>
              </a:rPr>
              <a:t>Update Transactions</a:t>
            </a:r>
            <a:endParaRPr lang="en-US" sz="1300" dirty="0"/>
          </a:p>
        </p:txBody>
      </p:sp>
      <p:sp>
        <p:nvSpPr>
          <p:cNvPr id="40" name="Text 38"/>
          <p:cNvSpPr txBox="1"/>
          <p:nvPr/>
        </p:nvSpPr>
        <p:spPr>
          <a:xfrm>
            <a:off x="6446520" y="4709160"/>
            <a:ext cx="2103120" cy="411480"/>
          </a:xfrm>
          <a:prstGeom prst="rect">
            <a:avLst/>
          </a:prstGeom>
          <a:noFill/>
          <a:ln/>
        </p:spPr>
        <p:txBody>
          <a:bodyPr wrap="square" lIns="0" tIns="0" rIns="0" bIns="0" rtlCol="0" anchor="t"/>
          <a:lstStyle/>
          <a:p>
            <a:pPr indent="0" marL="0">
              <a:buNone/>
            </a:pPr>
            <a:r>
              <a:rPr lang="en-US" sz="1000" dirty="0">
                <a:solidFill>
                  <a:srgbClr val="AAB0CD"/>
                </a:solidFill>
              </a:rPr>
              <a:t>Record stock movement</a:t>
            </a:r>
            <a:endParaRPr lang="en-US" sz="1000" dirty="0"/>
          </a:p>
        </p:txBody>
      </p:sp>
      <p:sp>
        <p:nvSpPr>
          <p:cNvPr id="41" name="Card"/>
          <p:cNvSpPr/>
          <p:nvPr/>
        </p:nvSpPr>
        <p:spPr>
          <a:xfrm>
            <a:off x="8915400" y="3749040"/>
            <a:ext cx="2514600" cy="1554480"/>
          </a:xfrm>
          <a:prstGeom prst="roundRect">
            <a:avLst>
              <a:gd name="adj" fmla="val 20588"/>
            </a:avLst>
          </a:prstGeom>
          <a:solidFill>
            <a:srgbClr val="181B31"/>
          </a:solidFill>
          <a:ln w="12700">
            <a:solidFill>
              <a:srgbClr val="181B31"/>
            </a:solidFill>
            <a:prstDash val="solid"/>
          </a:ln>
        </p:spPr>
      </p:sp>
      <p:sp>
        <p:nvSpPr>
          <p:cNvPr id="42" name="Marker"/>
          <p:cNvSpPr/>
          <p:nvPr/>
        </p:nvSpPr>
        <p:spPr>
          <a:xfrm>
            <a:off x="9189720" y="4023360"/>
            <a:ext cx="457200" cy="457200"/>
          </a:xfrm>
          <a:prstGeom prst="ellipse">
            <a:avLst/>
          </a:prstGeom>
          <a:solidFill>
            <a:srgbClr val="36D3D6"/>
          </a:solidFill>
          <a:ln w="12700">
            <a:solidFill>
              <a:srgbClr val="36D3D6"/>
            </a:solidFill>
            <a:prstDash val="solid"/>
          </a:ln>
        </p:spPr>
      </p:sp>
      <p:sp>
        <p:nvSpPr>
          <p:cNvPr id="43" name="Text 41"/>
          <p:cNvSpPr txBox="1"/>
          <p:nvPr/>
        </p:nvSpPr>
        <p:spPr>
          <a:xfrm>
            <a:off x="9189720"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44" name="Text 42"/>
          <p:cNvSpPr txBox="1"/>
          <p:nvPr/>
        </p:nvSpPr>
        <p:spPr>
          <a:xfrm>
            <a:off x="9784080" y="3931920"/>
            <a:ext cx="1508760" cy="640080"/>
          </a:xfrm>
          <a:prstGeom prst="rect">
            <a:avLst/>
          </a:prstGeom>
          <a:noFill/>
          <a:ln/>
        </p:spPr>
        <p:txBody>
          <a:bodyPr wrap="square" lIns="0" tIns="0" rIns="0" bIns="0" rtlCol="0" anchor="ctr"/>
          <a:lstStyle/>
          <a:p>
            <a:pPr indent="0" marL="0">
              <a:buNone/>
            </a:pPr>
            <a:r>
              <a:rPr lang="en-US" sz="1300" b="1" dirty="0">
                <a:solidFill>
                  <a:srgbClr val="F5F7FF"/>
                </a:solidFill>
              </a:rPr>
              <a:t>Monitor Dashboard</a:t>
            </a:r>
            <a:endParaRPr lang="en-US" sz="1300" dirty="0"/>
          </a:p>
        </p:txBody>
      </p:sp>
      <p:sp>
        <p:nvSpPr>
          <p:cNvPr id="45" name="Text 43"/>
          <p:cNvSpPr txBox="1"/>
          <p:nvPr/>
        </p:nvSpPr>
        <p:spPr>
          <a:xfrm>
            <a:off x="9189720" y="4709160"/>
            <a:ext cx="2103120" cy="411480"/>
          </a:xfrm>
          <a:prstGeom prst="rect">
            <a:avLst/>
          </a:prstGeom>
          <a:noFill/>
          <a:ln/>
        </p:spPr>
        <p:txBody>
          <a:bodyPr wrap="square" lIns="0" tIns="0" rIns="0" bIns="0" rtlCol="0" anchor="t"/>
          <a:lstStyle/>
          <a:p>
            <a:pPr indent="0" marL="0">
              <a:buNone/>
            </a:pPr>
            <a:r>
              <a:rPr lang="en-US" sz="1000" dirty="0">
                <a:solidFill>
                  <a:srgbClr val="AAB0CD"/>
                </a:solidFill>
              </a:rPr>
              <a:t>Track stock &amp; capacity</a:t>
            </a:r>
            <a:endParaRPr lang="en-US" sz="1000" dirty="0"/>
          </a:p>
        </p:txBody>
      </p:sp>
      <p:sp>
        <p:nvSpPr>
          <p:cNvPr id="46" name="FlowBar"/>
          <p:cNvSpPr/>
          <p:nvPr/>
        </p:nvSpPr>
        <p:spPr>
          <a:xfrm>
            <a:off x="685800" y="5669280"/>
            <a:ext cx="10744200" cy="457200"/>
          </a:xfrm>
          <a:prstGeom prst="roundRect">
            <a:avLst>
              <a:gd name="adj" fmla="val 70000"/>
            </a:avLst>
          </a:prstGeom>
          <a:solidFill>
            <a:srgbClr val="7E57FF"/>
          </a:solidFill>
          <a:ln w="12700">
            <a:solidFill>
              <a:srgbClr val="7E57FF"/>
            </a:solidFill>
            <a:prstDash val="solid"/>
          </a:ln>
        </p:spPr>
      </p:sp>
      <p:sp>
        <p:nvSpPr>
          <p:cNvPr id="47" name="Text 45"/>
          <p:cNvSpPr txBox="1"/>
          <p:nvPr/>
        </p:nvSpPr>
        <p:spPr>
          <a:xfrm>
            <a:off x="685800" y="5669280"/>
            <a:ext cx="10744200" cy="457200"/>
          </a:xfrm>
          <a:prstGeom prst="rect">
            <a:avLst/>
          </a:prstGeom>
          <a:noFill/>
          <a:ln/>
        </p:spPr>
        <p:txBody>
          <a:bodyPr wrap="square" lIns="0" tIns="0" rIns="0" bIns="0" rtlCol="0" anchor="ctr"/>
          <a:lstStyle/>
          <a:p>
            <a:pPr algn="ctr" indent="0" marL="0">
              <a:buNone/>
            </a:pPr>
            <a:r>
              <a:rPr lang="en-US" sz="1200" b="1" spc="100" kern="0" dirty="0">
                <a:solidFill>
                  <a:srgbClr val="FFFFFF"/>
                </a:solidFill>
              </a:rPr>
              <a:t>SECURE  →  RECEIVE  →  OPTIMIZE  →  FULFIL  →  MONITOR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C1C"/>
        </a:solidFill>
      </p:bgPr>
    </p:bg>
    <p:spTree>
      <p:nvGrpSpPr>
        <p:cNvPr id="1" name=""/>
        <p:cNvGrpSpPr/>
        <p:nvPr/>
      </p:nvGrpSpPr>
      <p:grpSpPr>
        <a:xfrm>
          <a:off x="0" y="0"/>
          <a:ext cx="0" cy="0"/>
          <a:chOff x="0" y="0"/>
          <a:chExt cx="0" cy="0"/>
        </a:xfrm>
      </p:grpSpPr>
      <p:sp>
        <p:nvSpPr>
          <p:cNvPr id="2" name="Title"/>
          <p:cNvSpPr txBox="1"/>
          <p:nvPr/>
        </p:nvSpPr>
        <p:spPr>
          <a:xfrm>
            <a:off x="594360" y="566928"/>
            <a:ext cx="9601200" cy="548640"/>
          </a:xfrm>
          <a:prstGeom prst="rect">
            <a:avLst/>
          </a:prstGeom>
          <a:noFill/>
          <a:ln/>
        </p:spPr>
        <p:txBody>
          <a:bodyPr wrap="square" lIns="0" tIns="0" rIns="0" bIns="0" rtlCol="0" anchor="ctr"/>
          <a:lstStyle/>
          <a:p>
            <a:pPr indent="0" marL="0">
              <a:buNone/>
            </a:pPr>
            <a:r>
              <a:rPr lang="en-US" sz="2800" b="1" dirty="0">
                <a:solidFill>
                  <a:srgbClr val="F5F7FF"/>
                </a:solidFill>
              </a:rPr>
              <a:t>Future Scope</a:t>
            </a:r>
            <a:endParaRPr lang="en-US" sz="2800" dirty="0"/>
          </a:p>
        </p:txBody>
      </p:sp>
      <p:sp>
        <p:nvSpPr>
          <p:cNvPr id="3" name="Subtitle"/>
          <p:cNvSpPr txBox="1"/>
          <p:nvPr/>
        </p:nvSpPr>
        <p:spPr>
          <a:xfrm>
            <a:off x="612648" y="1170432"/>
            <a:ext cx="9601200" cy="320040"/>
          </a:xfrm>
          <a:prstGeom prst="rect">
            <a:avLst/>
          </a:prstGeom>
          <a:noFill/>
          <a:ln/>
        </p:spPr>
        <p:txBody>
          <a:bodyPr wrap="square" lIns="0" tIns="0" rIns="0" bIns="0" rtlCol="0" anchor="ctr"/>
          <a:lstStyle/>
          <a:p>
            <a:pPr indent="0" marL="0">
              <a:buNone/>
            </a:pPr>
            <a:r>
              <a:rPr lang="en-US" sz="1200" dirty="0">
                <a:solidFill>
                  <a:srgbClr val="AAB0CD"/>
                </a:solidFill>
              </a:rPr>
              <a:t>Potential enhancements for a smarter warehouse ecosystem</a:t>
            </a:r>
            <a:endParaRPr lang="en-US" sz="1200" dirty="0"/>
          </a:p>
        </p:txBody>
      </p:sp>
      <p:sp>
        <p:nvSpPr>
          <p:cNvPr id="4" name="PageNo"/>
          <p:cNvSpPr txBox="1"/>
          <p:nvPr/>
        </p:nvSpPr>
        <p:spPr>
          <a:xfrm>
            <a:off x="11155680" y="320040"/>
            <a:ext cx="457200" cy="228600"/>
          </a:xfrm>
          <a:prstGeom prst="rect">
            <a:avLst/>
          </a:prstGeom>
          <a:noFill/>
          <a:ln/>
        </p:spPr>
        <p:txBody>
          <a:bodyPr wrap="square" lIns="0" tIns="0" rIns="0" bIns="0" rtlCol="0" anchor="ctr"/>
          <a:lstStyle/>
          <a:p>
            <a:pPr algn="r" indent="0" marL="0">
              <a:buNone/>
            </a:pPr>
            <a:r>
              <a:rPr lang="en-US" sz="800" b="1" dirty="0">
                <a:solidFill>
                  <a:srgbClr val="AAB0CD"/>
                </a:solidFill>
              </a:rPr>
              <a:t>08</a:t>
            </a:r>
            <a:endParaRPr lang="en-US" sz="800" dirty="0"/>
          </a:p>
        </p:txBody>
      </p:sp>
      <p:sp>
        <p:nvSpPr>
          <p:cNvPr id="5" name="Footer"/>
          <p:cNvSpPr txBox="1"/>
          <p:nvPr/>
        </p:nvSpPr>
        <p:spPr>
          <a:xfrm>
            <a:off x="594360" y="6446520"/>
            <a:ext cx="7315200" cy="228600"/>
          </a:xfrm>
          <a:prstGeom prst="rect">
            <a:avLst/>
          </a:prstGeom>
          <a:noFill/>
          <a:ln/>
        </p:spPr>
        <p:txBody>
          <a:bodyPr wrap="square" lIns="0" tIns="0" rIns="0" bIns="0" rtlCol="0" anchor="ctr"/>
          <a:lstStyle/>
          <a:p>
            <a:pPr indent="0" marL="0">
              <a:buNone/>
            </a:pPr>
            <a:r>
              <a:rPr lang="en-US" sz="800" b="1" dirty="0">
                <a:solidFill>
                  <a:srgbClr val="AAB0CD"/>
                </a:solidFill>
              </a:rPr>
              <a:t>INVENTORY &amp; WAREHOUSE MANAGEMENT • SLOTTING OPTIMIZATION</a:t>
            </a:r>
            <a:endParaRPr lang="en-US" sz="800" dirty="0"/>
          </a:p>
        </p:txBody>
      </p:sp>
      <p:sp>
        <p:nvSpPr>
          <p:cNvPr id="6" name="Card"/>
          <p:cNvSpPr/>
          <p:nvPr/>
        </p:nvSpPr>
        <p:spPr>
          <a:xfrm>
            <a:off x="685800" y="1737360"/>
            <a:ext cx="10744200" cy="3977640"/>
          </a:xfrm>
          <a:prstGeom prst="roundRect">
            <a:avLst>
              <a:gd name="adj" fmla="val 8046"/>
            </a:avLst>
          </a:prstGeom>
          <a:solidFill>
            <a:srgbClr val="181B31"/>
          </a:solidFill>
          <a:ln w="12700">
            <a:solidFill>
              <a:srgbClr val="181B31"/>
            </a:solidFill>
            <a:prstDash val="solid"/>
          </a:ln>
        </p:spPr>
      </p:sp>
      <p:sp>
        <p:nvSpPr>
          <p:cNvPr id="7" name="Marker"/>
          <p:cNvSpPr/>
          <p:nvPr/>
        </p:nvSpPr>
        <p:spPr>
          <a:xfrm>
            <a:off x="1005840" y="1965960"/>
            <a:ext cx="365760" cy="365760"/>
          </a:xfrm>
          <a:prstGeom prst="ellipse">
            <a:avLst/>
          </a:prstGeom>
          <a:solidFill>
            <a:srgbClr val="7E57FF"/>
          </a:solidFill>
          <a:ln w="12700">
            <a:solidFill>
              <a:srgbClr val="7E57FF"/>
            </a:solidFill>
            <a:prstDash val="solid"/>
          </a:ln>
        </p:spPr>
      </p:sp>
      <p:sp>
        <p:nvSpPr>
          <p:cNvPr id="8" name="Text 6"/>
          <p:cNvSpPr txBox="1"/>
          <p:nvPr/>
        </p:nvSpPr>
        <p:spPr>
          <a:xfrm>
            <a:off x="1005840" y="196596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Text 7"/>
          <p:cNvSpPr txBox="1"/>
          <p:nvPr/>
        </p:nvSpPr>
        <p:spPr>
          <a:xfrm>
            <a:off x="1554480" y="1920240"/>
            <a:ext cx="3291840" cy="457200"/>
          </a:xfrm>
          <a:prstGeom prst="rect">
            <a:avLst/>
          </a:prstGeom>
          <a:noFill/>
          <a:ln/>
        </p:spPr>
        <p:txBody>
          <a:bodyPr wrap="square" lIns="0" tIns="0" rIns="0" bIns="0" rtlCol="0" anchor="ctr"/>
          <a:lstStyle/>
          <a:p>
            <a:pPr indent="0" marL="0">
              <a:buNone/>
            </a:pPr>
            <a:r>
              <a:rPr lang="en-US" sz="1300" b="1" dirty="0">
                <a:solidFill>
                  <a:srgbClr val="F5F7FF"/>
                </a:solidFill>
              </a:rPr>
              <a:t>Low-stock alerts</a:t>
            </a:r>
            <a:endParaRPr lang="en-US" sz="1300" dirty="0"/>
          </a:p>
        </p:txBody>
      </p:sp>
      <p:sp>
        <p:nvSpPr>
          <p:cNvPr id="10" name="Text 8"/>
          <p:cNvSpPr txBox="1"/>
          <p:nvPr/>
        </p:nvSpPr>
        <p:spPr>
          <a:xfrm>
            <a:off x="4846320" y="1920240"/>
            <a:ext cx="6400800" cy="457200"/>
          </a:xfrm>
          <a:prstGeom prst="rect">
            <a:avLst/>
          </a:prstGeom>
          <a:noFill/>
          <a:ln/>
        </p:spPr>
        <p:txBody>
          <a:bodyPr wrap="square" lIns="0" tIns="0" rIns="0" bIns="0" rtlCol="0" anchor="ctr"/>
          <a:lstStyle/>
          <a:p>
            <a:pPr indent="0" marL="0">
              <a:buNone/>
            </a:pPr>
            <a:r>
              <a:rPr lang="en-US" sz="1200" dirty="0">
                <a:solidFill>
                  <a:srgbClr val="AAB0CD"/>
                </a:solidFill>
              </a:rPr>
              <a:t>Notify managers when items hit reorder levels.</a:t>
            </a:r>
            <a:endParaRPr lang="en-US" sz="1200" dirty="0"/>
          </a:p>
        </p:txBody>
      </p:sp>
      <p:sp>
        <p:nvSpPr>
          <p:cNvPr id="11" name="Marker"/>
          <p:cNvSpPr/>
          <p:nvPr/>
        </p:nvSpPr>
        <p:spPr>
          <a:xfrm>
            <a:off x="1005840" y="2569464"/>
            <a:ext cx="365760" cy="365760"/>
          </a:xfrm>
          <a:prstGeom prst="ellipse">
            <a:avLst/>
          </a:prstGeom>
          <a:solidFill>
            <a:srgbClr val="7E57FF"/>
          </a:solidFill>
          <a:ln w="12700">
            <a:solidFill>
              <a:srgbClr val="7E57FF"/>
            </a:solidFill>
            <a:prstDash val="solid"/>
          </a:ln>
        </p:spPr>
      </p:sp>
      <p:sp>
        <p:nvSpPr>
          <p:cNvPr id="12" name="Text 10"/>
          <p:cNvSpPr txBox="1"/>
          <p:nvPr/>
        </p:nvSpPr>
        <p:spPr>
          <a:xfrm>
            <a:off x="1005840" y="256946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3" name="Text 11"/>
          <p:cNvSpPr txBox="1"/>
          <p:nvPr/>
        </p:nvSpPr>
        <p:spPr>
          <a:xfrm>
            <a:off x="1554480" y="2523744"/>
            <a:ext cx="3291840" cy="457200"/>
          </a:xfrm>
          <a:prstGeom prst="rect">
            <a:avLst/>
          </a:prstGeom>
          <a:noFill/>
          <a:ln/>
        </p:spPr>
        <p:txBody>
          <a:bodyPr wrap="square" lIns="0" tIns="0" rIns="0" bIns="0" rtlCol="0" anchor="ctr"/>
          <a:lstStyle/>
          <a:p>
            <a:pPr indent="0" marL="0">
              <a:buNone/>
            </a:pPr>
            <a:r>
              <a:rPr lang="en-US" sz="1300" b="1" dirty="0">
                <a:solidFill>
                  <a:srgbClr val="F5F7FF"/>
                </a:solidFill>
              </a:rPr>
              <a:t>Demand forecasting</a:t>
            </a:r>
            <a:endParaRPr lang="en-US" sz="1300" dirty="0"/>
          </a:p>
        </p:txBody>
      </p:sp>
      <p:sp>
        <p:nvSpPr>
          <p:cNvPr id="14" name="Text 12"/>
          <p:cNvSpPr txBox="1"/>
          <p:nvPr/>
        </p:nvSpPr>
        <p:spPr>
          <a:xfrm>
            <a:off x="4846320" y="2523744"/>
            <a:ext cx="6400800" cy="457200"/>
          </a:xfrm>
          <a:prstGeom prst="rect">
            <a:avLst/>
          </a:prstGeom>
          <a:noFill/>
          <a:ln/>
        </p:spPr>
        <p:txBody>
          <a:bodyPr wrap="square" lIns="0" tIns="0" rIns="0" bIns="0" rtlCol="0" anchor="ctr"/>
          <a:lstStyle/>
          <a:p>
            <a:pPr indent="0" marL="0">
              <a:buNone/>
            </a:pPr>
            <a:r>
              <a:rPr lang="en-US" sz="1200" dirty="0">
                <a:solidFill>
                  <a:srgbClr val="AAB0CD"/>
                </a:solidFill>
              </a:rPr>
              <a:t>Predict demand to refine slot priorities.</a:t>
            </a:r>
            <a:endParaRPr lang="en-US" sz="1200" dirty="0"/>
          </a:p>
        </p:txBody>
      </p:sp>
      <p:sp>
        <p:nvSpPr>
          <p:cNvPr id="15" name="Marker"/>
          <p:cNvSpPr/>
          <p:nvPr/>
        </p:nvSpPr>
        <p:spPr>
          <a:xfrm>
            <a:off x="1005840" y="3172968"/>
            <a:ext cx="365760" cy="365760"/>
          </a:xfrm>
          <a:prstGeom prst="ellipse">
            <a:avLst/>
          </a:prstGeom>
          <a:solidFill>
            <a:srgbClr val="7E57FF"/>
          </a:solidFill>
          <a:ln w="12700">
            <a:solidFill>
              <a:srgbClr val="7E57FF"/>
            </a:solidFill>
            <a:prstDash val="solid"/>
          </a:ln>
        </p:spPr>
      </p:sp>
      <p:sp>
        <p:nvSpPr>
          <p:cNvPr id="16" name="Text 14"/>
          <p:cNvSpPr txBox="1"/>
          <p:nvPr/>
        </p:nvSpPr>
        <p:spPr>
          <a:xfrm>
            <a:off x="1005840" y="317296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7" name="Text 15"/>
          <p:cNvSpPr txBox="1"/>
          <p:nvPr/>
        </p:nvSpPr>
        <p:spPr>
          <a:xfrm>
            <a:off x="1554480" y="3127248"/>
            <a:ext cx="3291840" cy="457200"/>
          </a:xfrm>
          <a:prstGeom prst="rect">
            <a:avLst/>
          </a:prstGeom>
          <a:noFill/>
          <a:ln/>
        </p:spPr>
        <p:txBody>
          <a:bodyPr wrap="square" lIns="0" tIns="0" rIns="0" bIns="0" rtlCol="0" anchor="ctr"/>
          <a:lstStyle/>
          <a:p>
            <a:pPr indent="0" marL="0">
              <a:buNone/>
            </a:pPr>
            <a:r>
              <a:rPr lang="en-US" sz="1300" b="1" dirty="0">
                <a:solidFill>
                  <a:srgbClr val="F5F7FF"/>
                </a:solidFill>
              </a:rPr>
              <a:t>Handheld scanner app</a:t>
            </a:r>
            <a:endParaRPr lang="en-US" sz="1300" dirty="0"/>
          </a:p>
        </p:txBody>
      </p:sp>
      <p:sp>
        <p:nvSpPr>
          <p:cNvPr id="18" name="Text 16"/>
          <p:cNvSpPr txBox="1"/>
          <p:nvPr/>
        </p:nvSpPr>
        <p:spPr>
          <a:xfrm>
            <a:off x="4846320" y="3127248"/>
            <a:ext cx="6400800" cy="457200"/>
          </a:xfrm>
          <a:prstGeom prst="rect">
            <a:avLst/>
          </a:prstGeom>
          <a:noFill/>
          <a:ln/>
        </p:spPr>
        <p:txBody>
          <a:bodyPr wrap="square" lIns="0" tIns="0" rIns="0" bIns="0" rtlCol="0" anchor="ctr"/>
          <a:lstStyle/>
          <a:p>
            <a:pPr indent="0" marL="0">
              <a:buNone/>
            </a:pPr>
            <a:r>
              <a:rPr lang="en-US" sz="1200" dirty="0">
                <a:solidFill>
                  <a:srgbClr val="AAB0CD"/>
                </a:solidFill>
              </a:rPr>
              <a:t>Mobile scanning for faster receiving and picking.</a:t>
            </a:r>
            <a:endParaRPr lang="en-US" sz="1200" dirty="0"/>
          </a:p>
        </p:txBody>
      </p:sp>
      <p:sp>
        <p:nvSpPr>
          <p:cNvPr id="19" name="Marker"/>
          <p:cNvSpPr/>
          <p:nvPr/>
        </p:nvSpPr>
        <p:spPr>
          <a:xfrm>
            <a:off x="1005840" y="3776472"/>
            <a:ext cx="365760" cy="365760"/>
          </a:xfrm>
          <a:prstGeom prst="ellipse">
            <a:avLst/>
          </a:prstGeom>
          <a:solidFill>
            <a:srgbClr val="7E57FF"/>
          </a:solidFill>
          <a:ln w="12700">
            <a:solidFill>
              <a:srgbClr val="7E57FF"/>
            </a:solidFill>
            <a:prstDash val="solid"/>
          </a:ln>
        </p:spPr>
      </p:sp>
      <p:sp>
        <p:nvSpPr>
          <p:cNvPr id="20" name="Text 18"/>
          <p:cNvSpPr txBox="1"/>
          <p:nvPr/>
        </p:nvSpPr>
        <p:spPr>
          <a:xfrm>
            <a:off x="1005840" y="377647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1" name="Text 19"/>
          <p:cNvSpPr txBox="1"/>
          <p:nvPr/>
        </p:nvSpPr>
        <p:spPr>
          <a:xfrm>
            <a:off x="1554480" y="3730752"/>
            <a:ext cx="3291840" cy="457200"/>
          </a:xfrm>
          <a:prstGeom prst="rect">
            <a:avLst/>
          </a:prstGeom>
          <a:noFill/>
          <a:ln/>
        </p:spPr>
        <p:txBody>
          <a:bodyPr wrap="square" lIns="0" tIns="0" rIns="0" bIns="0" rtlCol="0" anchor="ctr"/>
          <a:lstStyle/>
          <a:p>
            <a:pPr indent="0" marL="0">
              <a:buNone/>
            </a:pPr>
            <a:r>
              <a:rPr lang="en-US" sz="1300" b="1" dirty="0">
                <a:solidFill>
                  <a:srgbClr val="F5F7FF"/>
                </a:solidFill>
              </a:rPr>
              <a:t>Pick-path optimization</a:t>
            </a:r>
            <a:endParaRPr lang="en-US" sz="1300" dirty="0"/>
          </a:p>
        </p:txBody>
      </p:sp>
      <p:sp>
        <p:nvSpPr>
          <p:cNvPr id="22" name="Text 20"/>
          <p:cNvSpPr txBox="1"/>
          <p:nvPr/>
        </p:nvSpPr>
        <p:spPr>
          <a:xfrm>
            <a:off x="4846320" y="3730752"/>
            <a:ext cx="6400800" cy="457200"/>
          </a:xfrm>
          <a:prstGeom prst="rect">
            <a:avLst/>
          </a:prstGeom>
          <a:noFill/>
          <a:ln/>
        </p:spPr>
        <p:txBody>
          <a:bodyPr wrap="square" lIns="0" tIns="0" rIns="0" bIns="0" rtlCol="0" anchor="ctr"/>
          <a:lstStyle/>
          <a:p>
            <a:pPr indent="0" marL="0">
              <a:buNone/>
            </a:pPr>
            <a:r>
              <a:rPr lang="en-US" sz="1200" dirty="0">
                <a:solidFill>
                  <a:srgbClr val="AAB0CD"/>
                </a:solidFill>
              </a:rPr>
              <a:t>Shorter picking routes inside the warehouse.</a:t>
            </a:r>
            <a:endParaRPr lang="en-US" sz="1200" dirty="0"/>
          </a:p>
        </p:txBody>
      </p:sp>
      <p:sp>
        <p:nvSpPr>
          <p:cNvPr id="23" name="Marker"/>
          <p:cNvSpPr/>
          <p:nvPr/>
        </p:nvSpPr>
        <p:spPr>
          <a:xfrm>
            <a:off x="1005840" y="4379976"/>
            <a:ext cx="365760" cy="365760"/>
          </a:xfrm>
          <a:prstGeom prst="ellipse">
            <a:avLst/>
          </a:prstGeom>
          <a:solidFill>
            <a:srgbClr val="7E57FF"/>
          </a:solidFill>
          <a:ln w="12700">
            <a:solidFill>
              <a:srgbClr val="7E57FF"/>
            </a:solidFill>
            <a:prstDash val="solid"/>
          </a:ln>
        </p:spPr>
      </p:sp>
      <p:sp>
        <p:nvSpPr>
          <p:cNvPr id="24" name="Text 22"/>
          <p:cNvSpPr txBox="1"/>
          <p:nvPr/>
        </p:nvSpPr>
        <p:spPr>
          <a:xfrm>
            <a:off x="1005840" y="437997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25" name="Text 23"/>
          <p:cNvSpPr txBox="1"/>
          <p:nvPr/>
        </p:nvSpPr>
        <p:spPr>
          <a:xfrm>
            <a:off x="1554480" y="4334256"/>
            <a:ext cx="3291840" cy="457200"/>
          </a:xfrm>
          <a:prstGeom prst="rect">
            <a:avLst/>
          </a:prstGeom>
          <a:noFill/>
          <a:ln/>
        </p:spPr>
        <p:txBody>
          <a:bodyPr wrap="square" lIns="0" tIns="0" rIns="0" bIns="0" rtlCol="0" anchor="ctr"/>
          <a:lstStyle/>
          <a:p>
            <a:pPr indent="0" marL="0">
              <a:buNone/>
            </a:pPr>
            <a:r>
              <a:rPr lang="en-US" sz="1300" b="1" dirty="0">
                <a:solidFill>
                  <a:srgbClr val="F5F7FF"/>
                </a:solidFill>
              </a:rPr>
              <a:t>Inter-warehouse transfers</a:t>
            </a:r>
            <a:endParaRPr lang="en-US" sz="1300" dirty="0"/>
          </a:p>
        </p:txBody>
      </p:sp>
      <p:sp>
        <p:nvSpPr>
          <p:cNvPr id="26" name="Text 24"/>
          <p:cNvSpPr txBox="1"/>
          <p:nvPr/>
        </p:nvSpPr>
        <p:spPr>
          <a:xfrm>
            <a:off x="4846320" y="4334256"/>
            <a:ext cx="6400800" cy="457200"/>
          </a:xfrm>
          <a:prstGeom prst="rect">
            <a:avLst/>
          </a:prstGeom>
          <a:noFill/>
          <a:ln/>
        </p:spPr>
        <p:txBody>
          <a:bodyPr wrap="square" lIns="0" tIns="0" rIns="0" bIns="0" rtlCol="0" anchor="ctr"/>
          <a:lstStyle/>
          <a:p>
            <a:pPr indent="0" marL="0">
              <a:buNone/>
            </a:pPr>
            <a:r>
              <a:rPr lang="en-US" sz="1200" dirty="0">
                <a:solidFill>
                  <a:srgbClr val="AAB0CD"/>
                </a:solidFill>
              </a:rPr>
              <a:t>Automate stock movement between locations.</a:t>
            </a:r>
            <a:endParaRPr lang="en-US" sz="1200" dirty="0"/>
          </a:p>
        </p:txBody>
      </p:sp>
      <p:sp>
        <p:nvSpPr>
          <p:cNvPr id="27" name="Marker"/>
          <p:cNvSpPr/>
          <p:nvPr/>
        </p:nvSpPr>
        <p:spPr>
          <a:xfrm>
            <a:off x="1005840" y="4983480"/>
            <a:ext cx="365760" cy="365760"/>
          </a:xfrm>
          <a:prstGeom prst="ellipse">
            <a:avLst/>
          </a:prstGeom>
          <a:solidFill>
            <a:srgbClr val="7E57FF"/>
          </a:solidFill>
          <a:ln w="12700">
            <a:solidFill>
              <a:srgbClr val="7E57FF"/>
            </a:solidFill>
            <a:prstDash val="solid"/>
          </a:ln>
        </p:spPr>
      </p:sp>
      <p:sp>
        <p:nvSpPr>
          <p:cNvPr id="28" name="Text 26"/>
          <p:cNvSpPr txBox="1"/>
          <p:nvPr/>
        </p:nvSpPr>
        <p:spPr>
          <a:xfrm>
            <a:off x="1005840" y="49834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29" name="Text 27"/>
          <p:cNvSpPr txBox="1"/>
          <p:nvPr/>
        </p:nvSpPr>
        <p:spPr>
          <a:xfrm>
            <a:off x="1554480" y="4937760"/>
            <a:ext cx="3291840" cy="457200"/>
          </a:xfrm>
          <a:prstGeom prst="rect">
            <a:avLst/>
          </a:prstGeom>
          <a:noFill/>
          <a:ln/>
        </p:spPr>
        <p:txBody>
          <a:bodyPr wrap="square" lIns="0" tIns="0" rIns="0" bIns="0" rtlCol="0" anchor="ctr"/>
          <a:lstStyle/>
          <a:p>
            <a:pPr indent="0" marL="0">
              <a:buNone/>
            </a:pPr>
            <a:r>
              <a:rPr lang="en-US" sz="1300" b="1" dirty="0">
                <a:solidFill>
                  <a:srgbClr val="F5F7FF"/>
                </a:solidFill>
              </a:rPr>
              <a:t>Supplier analytics</a:t>
            </a:r>
            <a:endParaRPr lang="en-US" sz="1300" dirty="0"/>
          </a:p>
        </p:txBody>
      </p:sp>
      <p:sp>
        <p:nvSpPr>
          <p:cNvPr id="30" name="Text 28"/>
          <p:cNvSpPr txBox="1"/>
          <p:nvPr/>
        </p:nvSpPr>
        <p:spPr>
          <a:xfrm>
            <a:off x="4846320" y="4937760"/>
            <a:ext cx="6400800" cy="457200"/>
          </a:xfrm>
          <a:prstGeom prst="rect">
            <a:avLst/>
          </a:prstGeom>
          <a:noFill/>
          <a:ln/>
        </p:spPr>
        <p:txBody>
          <a:bodyPr wrap="square" lIns="0" tIns="0" rIns="0" bIns="0" rtlCol="0" anchor="ctr"/>
          <a:lstStyle/>
          <a:p>
            <a:pPr indent="0" marL="0">
              <a:buNone/>
            </a:pPr>
            <a:r>
              <a:rPr lang="en-US" sz="1200" dirty="0">
                <a:solidFill>
                  <a:srgbClr val="AAB0CD"/>
                </a:solidFill>
              </a:rPr>
              <a:t>Track delivery performance and lead times.</a:t>
            </a:r>
            <a:endParaRPr lang="en-US" sz="1200" dirty="0"/>
          </a:p>
        </p:txBody>
      </p:sp>
      <p:sp>
        <p:nvSpPr>
          <p:cNvPr id="31" name="GoalBar"/>
          <p:cNvSpPr/>
          <p:nvPr/>
        </p:nvSpPr>
        <p:spPr>
          <a:xfrm>
            <a:off x="685800" y="5852160"/>
            <a:ext cx="10744200" cy="411480"/>
          </a:xfrm>
          <a:prstGeom prst="roundRect">
            <a:avLst>
              <a:gd name="adj" fmla="val 77778"/>
            </a:avLst>
          </a:prstGeom>
          <a:solidFill>
            <a:srgbClr val="1F233E"/>
          </a:solidFill>
          <a:ln w="12700">
            <a:solidFill>
              <a:srgbClr val="1F233E"/>
            </a:solidFill>
            <a:prstDash val="solid"/>
          </a:ln>
        </p:spPr>
      </p:sp>
      <p:sp>
        <p:nvSpPr>
          <p:cNvPr id="32" name="Text 30"/>
          <p:cNvSpPr txBox="1"/>
          <p:nvPr/>
        </p:nvSpPr>
        <p:spPr>
          <a:xfrm>
            <a:off x="685800" y="5852160"/>
            <a:ext cx="10744200" cy="411480"/>
          </a:xfrm>
          <a:prstGeom prst="rect">
            <a:avLst/>
          </a:prstGeom>
          <a:noFill/>
          <a:ln/>
        </p:spPr>
        <p:txBody>
          <a:bodyPr wrap="square" lIns="0" tIns="0" rIns="0" bIns="0" rtlCol="0" anchor="ctr"/>
          <a:lstStyle/>
          <a:p>
            <a:pPr algn="ctr" indent="0" marL="0">
              <a:buNone/>
            </a:pPr>
            <a:r>
              <a:rPr lang="en-US" sz="1100" b="1" dirty="0">
                <a:solidFill>
                  <a:srgbClr val="36D3D6"/>
                </a:solidFill>
              </a:rPr>
              <a:t>Future vision: evolve from stock tracking into an intelligent, optimized warehouse platform.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C1C"/>
        </a:solidFill>
      </p:bgPr>
    </p:bg>
    <p:spTree>
      <p:nvGrpSpPr>
        <p:cNvPr id="1" name=""/>
        <p:cNvGrpSpPr/>
        <p:nvPr/>
      </p:nvGrpSpPr>
      <p:grpSpPr>
        <a:xfrm>
          <a:off x="0" y="0"/>
          <a:ext cx="0" cy="0"/>
          <a:chOff x="0" y="0"/>
          <a:chExt cx="0" cy="0"/>
        </a:xfrm>
      </p:grpSpPr>
      <p:sp>
        <p:nvSpPr>
          <p:cNvPr id="2" name="Title"/>
          <p:cNvSpPr txBox="1"/>
          <p:nvPr/>
        </p:nvSpPr>
        <p:spPr>
          <a:xfrm>
            <a:off x="594360" y="566928"/>
            <a:ext cx="9601200" cy="548640"/>
          </a:xfrm>
          <a:prstGeom prst="rect">
            <a:avLst/>
          </a:prstGeom>
          <a:noFill/>
          <a:ln/>
        </p:spPr>
        <p:txBody>
          <a:bodyPr wrap="square" lIns="0" tIns="0" rIns="0" bIns="0" rtlCol="0" anchor="ctr"/>
          <a:lstStyle/>
          <a:p>
            <a:pPr indent="0" marL="0">
              <a:buNone/>
            </a:pPr>
            <a:r>
              <a:rPr lang="en-US" sz="2800" b="1" dirty="0">
                <a:solidFill>
                  <a:srgbClr val="F5F7FF"/>
                </a:solidFill>
              </a:rPr>
              <a:t>Conclusion</a:t>
            </a:r>
            <a:endParaRPr lang="en-US" sz="2800" dirty="0"/>
          </a:p>
        </p:txBody>
      </p:sp>
      <p:sp>
        <p:nvSpPr>
          <p:cNvPr id="3" name="Subtitle"/>
          <p:cNvSpPr txBox="1"/>
          <p:nvPr/>
        </p:nvSpPr>
        <p:spPr>
          <a:xfrm>
            <a:off x="612648" y="1170432"/>
            <a:ext cx="9601200" cy="320040"/>
          </a:xfrm>
          <a:prstGeom prst="rect">
            <a:avLst/>
          </a:prstGeom>
          <a:noFill/>
          <a:ln/>
        </p:spPr>
        <p:txBody>
          <a:bodyPr wrap="square" lIns="0" tIns="0" rIns="0" bIns="0" rtlCol="0" anchor="ctr"/>
          <a:lstStyle/>
          <a:p>
            <a:pPr indent="0" marL="0">
              <a:buNone/>
            </a:pPr>
            <a:r>
              <a:rPr lang="en-US" sz="1200" dirty="0">
                <a:solidFill>
                  <a:srgbClr val="AAB0CD"/>
                </a:solidFill>
              </a:rPr>
              <a:t>A unified platform for smarter warehouse operations</a:t>
            </a:r>
            <a:endParaRPr lang="en-US" sz="1200" dirty="0"/>
          </a:p>
        </p:txBody>
      </p:sp>
      <p:sp>
        <p:nvSpPr>
          <p:cNvPr id="4" name="PageNo"/>
          <p:cNvSpPr txBox="1"/>
          <p:nvPr/>
        </p:nvSpPr>
        <p:spPr>
          <a:xfrm>
            <a:off x="11155680" y="320040"/>
            <a:ext cx="457200" cy="228600"/>
          </a:xfrm>
          <a:prstGeom prst="rect">
            <a:avLst/>
          </a:prstGeom>
          <a:noFill/>
          <a:ln/>
        </p:spPr>
        <p:txBody>
          <a:bodyPr wrap="square" lIns="0" tIns="0" rIns="0" bIns="0" rtlCol="0" anchor="ctr"/>
          <a:lstStyle/>
          <a:p>
            <a:pPr algn="r" indent="0" marL="0">
              <a:buNone/>
            </a:pPr>
            <a:r>
              <a:rPr lang="en-US" sz="800" b="1" dirty="0">
                <a:solidFill>
                  <a:srgbClr val="AAB0CD"/>
                </a:solidFill>
              </a:rPr>
              <a:t>09</a:t>
            </a:r>
            <a:endParaRPr lang="en-US" sz="800" dirty="0"/>
          </a:p>
        </p:txBody>
      </p:sp>
      <p:sp>
        <p:nvSpPr>
          <p:cNvPr id="5" name="Footer"/>
          <p:cNvSpPr txBox="1"/>
          <p:nvPr/>
        </p:nvSpPr>
        <p:spPr>
          <a:xfrm>
            <a:off x="594360" y="6446520"/>
            <a:ext cx="7315200" cy="228600"/>
          </a:xfrm>
          <a:prstGeom prst="rect">
            <a:avLst/>
          </a:prstGeom>
          <a:noFill/>
          <a:ln/>
        </p:spPr>
        <p:txBody>
          <a:bodyPr wrap="square" lIns="0" tIns="0" rIns="0" bIns="0" rtlCol="0" anchor="ctr"/>
          <a:lstStyle/>
          <a:p>
            <a:pPr indent="0" marL="0">
              <a:buNone/>
            </a:pPr>
            <a:r>
              <a:rPr lang="en-US" sz="800" b="1" dirty="0">
                <a:solidFill>
                  <a:srgbClr val="AAB0CD"/>
                </a:solidFill>
              </a:rPr>
              <a:t>INVENTORY &amp; WAREHOUSE MANAGEMENT • SLOTTING OPTIMIZATION</a:t>
            </a:r>
            <a:endParaRPr lang="en-US" sz="800" dirty="0"/>
          </a:p>
        </p:txBody>
      </p:sp>
      <p:sp>
        <p:nvSpPr>
          <p:cNvPr id="6" name="Card"/>
          <p:cNvSpPr/>
          <p:nvPr/>
        </p:nvSpPr>
        <p:spPr>
          <a:xfrm>
            <a:off x="685800" y="1783080"/>
            <a:ext cx="7040880" cy="3566160"/>
          </a:xfrm>
          <a:prstGeom prst="roundRect">
            <a:avLst>
              <a:gd name="adj" fmla="val 8974"/>
            </a:avLst>
          </a:prstGeom>
          <a:solidFill>
            <a:srgbClr val="181B31"/>
          </a:solidFill>
          <a:ln w="12700">
            <a:solidFill>
              <a:srgbClr val="181B31"/>
            </a:solidFill>
            <a:prstDash val="solid"/>
          </a:ln>
        </p:spPr>
      </p:sp>
      <p:sp>
        <p:nvSpPr>
          <p:cNvPr id="7" name="Text 5"/>
          <p:cNvSpPr txBox="1"/>
          <p:nvPr/>
        </p:nvSpPr>
        <p:spPr>
          <a:xfrm>
            <a:off x="1005840" y="2103120"/>
            <a:ext cx="4572000" cy="274320"/>
          </a:xfrm>
          <a:prstGeom prst="rect">
            <a:avLst/>
          </a:prstGeom>
          <a:noFill/>
          <a:ln/>
        </p:spPr>
        <p:txBody>
          <a:bodyPr wrap="square" lIns="0" tIns="0" rIns="0" bIns="0" rtlCol="0" anchor="ctr"/>
          <a:lstStyle/>
          <a:p>
            <a:pPr indent="0" marL="0">
              <a:buNone/>
            </a:pPr>
            <a:r>
              <a:rPr lang="en-US" sz="1100" b="1" spc="100" kern="0" dirty="0">
                <a:solidFill>
                  <a:srgbClr val="36D3D6"/>
                </a:solidFill>
              </a:rPr>
              <a:t>IN SUMMARY</a:t>
            </a:r>
            <a:endParaRPr lang="en-US" sz="1100" dirty="0"/>
          </a:p>
        </p:txBody>
      </p:sp>
      <p:sp>
        <p:nvSpPr>
          <p:cNvPr id="8" name="Text 6"/>
          <p:cNvSpPr txBox="1"/>
          <p:nvPr/>
        </p:nvSpPr>
        <p:spPr>
          <a:xfrm>
            <a:off x="1005840" y="2514600"/>
            <a:ext cx="6400800" cy="1463040"/>
          </a:xfrm>
          <a:prstGeom prst="rect">
            <a:avLst/>
          </a:prstGeom>
          <a:noFill/>
          <a:ln/>
        </p:spPr>
        <p:txBody>
          <a:bodyPr wrap="square" lIns="0" tIns="0" rIns="0" bIns="0" rtlCol="0" anchor="t"/>
          <a:lstStyle/>
          <a:p>
            <a:pPr indent="0" marL="0">
              <a:buNone/>
            </a:pPr>
            <a:r>
              <a:rPr lang="en-US" sz="1600" b="1" dirty="0">
                <a:solidFill>
                  <a:srgbClr val="F5F7FF"/>
                </a:solidFill>
              </a:rPr>
              <a:t>The Inventory and Warehouse Management System brings products, warehouses, suppliers, staff, stock transactions and orders together in one secure platform.</a:t>
            </a:r>
            <a:endParaRPr lang="en-US" sz="1600" dirty="0"/>
          </a:p>
        </p:txBody>
      </p:sp>
      <p:sp>
        <p:nvSpPr>
          <p:cNvPr id="9" name="Text 7"/>
          <p:cNvSpPr txBox="1"/>
          <p:nvPr/>
        </p:nvSpPr>
        <p:spPr>
          <a:xfrm>
            <a:off x="1005840" y="4114800"/>
            <a:ext cx="6400800" cy="914400"/>
          </a:xfrm>
          <a:prstGeom prst="rect">
            <a:avLst/>
          </a:prstGeom>
          <a:noFill/>
          <a:ln/>
        </p:spPr>
        <p:txBody>
          <a:bodyPr wrap="square" lIns="0" tIns="0" rIns="0" bIns="0" rtlCol="0" anchor="t"/>
          <a:lstStyle/>
          <a:p>
            <a:pPr indent="0" marL="0">
              <a:buNone/>
            </a:pPr>
            <a:r>
              <a:rPr lang="en-US" sz="1200" dirty="0">
                <a:solidFill>
                  <a:srgbClr val="AAB0CD"/>
                </a:solidFill>
              </a:rPr>
              <a:t>Slotting optimization improves inventory visibility, uses warehouse space efficiently and reduces the time and distance needed for product retrieval.</a:t>
            </a:r>
            <a:endParaRPr lang="en-US" sz="1200" dirty="0"/>
          </a:p>
        </p:txBody>
      </p:sp>
      <p:sp>
        <p:nvSpPr>
          <p:cNvPr id="10" name="Card"/>
          <p:cNvSpPr/>
          <p:nvPr/>
        </p:nvSpPr>
        <p:spPr>
          <a:xfrm>
            <a:off x="8046720" y="1783080"/>
            <a:ext cx="3383280" cy="3566160"/>
          </a:xfrm>
          <a:prstGeom prst="roundRect">
            <a:avLst>
              <a:gd name="adj" fmla="val 9459"/>
            </a:avLst>
          </a:prstGeom>
          <a:solidFill>
            <a:srgbClr val="1F233E"/>
          </a:solidFill>
          <a:ln w="12700">
            <a:solidFill>
              <a:srgbClr val="1F233E"/>
            </a:solidFill>
            <a:prstDash val="solid"/>
          </a:ln>
        </p:spPr>
      </p:sp>
      <p:sp>
        <p:nvSpPr>
          <p:cNvPr id="11" name="Text 9"/>
          <p:cNvSpPr txBox="1"/>
          <p:nvPr/>
        </p:nvSpPr>
        <p:spPr>
          <a:xfrm>
            <a:off x="8366760" y="2103120"/>
            <a:ext cx="4572000" cy="274320"/>
          </a:xfrm>
          <a:prstGeom prst="rect">
            <a:avLst/>
          </a:prstGeom>
          <a:noFill/>
          <a:ln/>
        </p:spPr>
        <p:txBody>
          <a:bodyPr wrap="square" lIns="0" tIns="0" rIns="0" bIns="0" rtlCol="0" anchor="ctr"/>
          <a:lstStyle/>
          <a:p>
            <a:pPr indent="0" marL="0">
              <a:buNone/>
            </a:pPr>
            <a:r>
              <a:rPr lang="en-US" sz="1100" b="1" spc="100" kern="0" dirty="0">
                <a:solidFill>
                  <a:srgbClr val="7E57FF"/>
                </a:solidFill>
              </a:rPr>
              <a:t>KEY TAKEAWAY</a:t>
            </a:r>
            <a:endParaRPr lang="en-US" sz="1100" dirty="0"/>
          </a:p>
        </p:txBody>
      </p:sp>
      <p:sp>
        <p:nvSpPr>
          <p:cNvPr id="12" name="Text 10"/>
          <p:cNvSpPr txBox="1"/>
          <p:nvPr/>
        </p:nvSpPr>
        <p:spPr>
          <a:xfrm>
            <a:off x="8366760" y="2514600"/>
            <a:ext cx="2743200" cy="2560320"/>
          </a:xfrm>
          <a:prstGeom prst="rect">
            <a:avLst/>
          </a:prstGeom>
          <a:noFill/>
          <a:ln/>
        </p:spPr>
        <p:txBody>
          <a:bodyPr wrap="square" lIns="0" tIns="0" rIns="0" bIns="0" rtlCol="0" anchor="ctr"/>
          <a:lstStyle/>
          <a:p>
            <a:pPr indent="0" marL="0">
              <a:buNone/>
            </a:pPr>
            <a:r>
              <a:rPr lang="en-US" sz="2000" b="1" dirty="0">
                <a:solidFill>
                  <a:srgbClr val="F5F7FF"/>
                </a:solidFill>
              </a:rPr>
              <a:t>CENTRALIZED</a:t>
            </a:r>
            <a:endParaRPr lang="en-US" sz="2000" dirty="0"/>
          </a:p>
          <a:p>
            <a:pPr indent="0" marL="0">
              <a:buNone/>
            </a:pPr>
            <a:r>
              <a:rPr lang="en-US" sz="2000" b="1" dirty="0">
                <a:solidFill>
                  <a:srgbClr val="F5F7FF"/>
                </a:solidFill>
              </a:rPr>
              <a:t>+</a:t>
            </a:r>
            <a:endParaRPr lang="en-US" sz="2000" dirty="0"/>
          </a:p>
          <a:p>
            <a:pPr indent="0" marL="0">
              <a:buNone/>
            </a:pPr>
            <a:r>
              <a:rPr lang="en-US" sz="2000" b="1" dirty="0">
                <a:solidFill>
                  <a:srgbClr val="F5F7FF"/>
                </a:solidFill>
              </a:rPr>
              <a:t>SECURE</a:t>
            </a:r>
            <a:endParaRPr lang="en-US" sz="2000" dirty="0"/>
          </a:p>
          <a:p>
            <a:pPr indent="0" marL="0">
              <a:buNone/>
            </a:pPr>
            <a:r>
              <a:rPr lang="en-US" sz="2000" b="1" dirty="0">
                <a:solidFill>
                  <a:srgbClr val="F5F7FF"/>
                </a:solidFill>
              </a:rPr>
              <a:t>+</a:t>
            </a:r>
            <a:endParaRPr lang="en-US" sz="2000" dirty="0"/>
          </a:p>
          <a:p>
            <a:pPr indent="0" marL="0">
              <a:buNone/>
            </a:pPr>
            <a:r>
              <a:rPr lang="en-US" sz="2000" b="1" dirty="0">
                <a:solidFill>
                  <a:srgbClr val="F5F7FF"/>
                </a:solidFill>
              </a:rPr>
              <a:t>OPTIMIZED</a:t>
            </a:r>
            <a:endParaRPr lang="en-US" sz="2000" dirty="0"/>
          </a:p>
        </p:txBody>
      </p:sp>
      <p:sp>
        <p:nvSpPr>
          <p:cNvPr id="13" name="Text 11"/>
          <p:cNvSpPr txBox="1"/>
          <p:nvPr/>
        </p:nvSpPr>
        <p:spPr>
          <a:xfrm>
            <a:off x="685800" y="5669280"/>
            <a:ext cx="3108960" cy="411480"/>
          </a:xfrm>
          <a:prstGeom prst="rect">
            <a:avLst/>
          </a:prstGeom>
          <a:noFill/>
          <a:ln/>
        </p:spPr>
        <p:txBody>
          <a:bodyPr wrap="square" lIns="0" tIns="0" rIns="0" bIns="0" rtlCol="0" anchor="ctr"/>
          <a:lstStyle/>
          <a:p>
            <a:pPr indent="0" marL="0">
              <a:buNone/>
            </a:pPr>
            <a:r>
              <a:rPr lang="en-US" sz="2200" b="1" dirty="0">
                <a:solidFill>
                  <a:srgbClr val="F5F7FF"/>
                </a:solidFill>
              </a:rPr>
              <a:t>THANK YOU</a:t>
            </a:r>
            <a:endParaRPr lang="en-US" sz="2200" dirty="0"/>
          </a:p>
        </p:txBody>
      </p:sp>
      <p:sp>
        <p:nvSpPr>
          <p:cNvPr id="14" name="Text 12"/>
          <p:cNvSpPr txBox="1"/>
          <p:nvPr/>
        </p:nvSpPr>
        <p:spPr>
          <a:xfrm>
            <a:off x="3931920" y="5669280"/>
            <a:ext cx="3657600" cy="411480"/>
          </a:xfrm>
          <a:prstGeom prst="rect">
            <a:avLst/>
          </a:prstGeom>
          <a:noFill/>
          <a:ln/>
        </p:spPr>
        <p:txBody>
          <a:bodyPr wrap="square" lIns="0" tIns="0" rIns="0" bIns="0" rtlCol="0" anchor="ctr"/>
          <a:lstStyle/>
          <a:p>
            <a:pPr indent="0" marL="0">
              <a:buNone/>
            </a:pPr>
            <a:r>
              <a:rPr lang="en-US" sz="1300" dirty="0">
                <a:solidFill>
                  <a:srgbClr val="AAB0CD"/>
                </a:solidFill>
              </a:rPr>
              <a:t>Questions &amp; Discussion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&amp; Warehouse Management System</dc:title>
  <dc:subject>PptxGenJS Presentation</dc:subject>
  <dc:creator>PptxGenJS</dc:creator>
  <cp:lastModifiedBy>PptxGenJS</cp:lastModifiedBy>
  <cp:revision>1</cp:revision>
  <dcterms:created xsi:type="dcterms:W3CDTF">2026-10-03T08:45:01Z</dcterms:created>
  <dcterms:modified xsi:type="dcterms:W3CDTF">2026-10-03T08:45:01Z</dcterms:modified>
</cp:coreProperties>
</file>