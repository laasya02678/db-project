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e805d29-f8d2-bd31-7b1d-10677ad7ca85}">
          <p14:sldIdLst>
            <p14:sldId id="256"/>
          </p14:sldIdLst>
        </p14:section>
        <p14:section name="Backend" id="{1de35ff7-3dd7-9725-b78e-4599255fdad7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lose" id="{def1d3ab-2d7e-e696-b5d0-ddcc170caa8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LH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82880"/>
            <a:ext cx="1463040" cy="5248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INVENTORY &amp; WAREHOUSE MANAGEMENT  •  SMART STOCK CONTROL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panel"/>
          <p:cNvSpPr/>
          <p:nvPr/>
        </p:nvSpPr>
        <p:spPr>
          <a:xfrm>
            <a:off x="8183880" y="0"/>
            <a:ext cx="4005072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Purple frame"/>
          <p:cNvSpPr/>
          <p:nvPr/>
        </p:nvSpPr>
        <p:spPr>
          <a:xfrm>
            <a:off x="8778240" y="320040"/>
            <a:ext cx="3154680" cy="6217920"/>
          </a:xfrm>
          <a:prstGeom prst="rect">
            <a:avLst/>
          </a:prstGeom>
          <a:solidFill>
            <a:schemeClr val="accent2">
              <a:alpha val="28000"/>
            </a:schemeClr>
          </a:solidFill>
          <a:ln/>
        </p:spPr>
      </p:sp>
      <p:sp>
        <p:nvSpPr>
          <p:cNvPr id="4" name="Phone card"/>
          <p:cNvSpPr/>
          <p:nvPr/>
        </p:nvSpPr>
        <p:spPr>
          <a:xfrm>
            <a:off x="9226296" y="768096"/>
            <a:ext cx="2249424" cy="5321808"/>
          </a:xfrm>
          <a:prstGeom prst="roundRect">
            <a:avLst>
              <a:gd name="adj" fmla="val 203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Check circle"/>
          <p:cNvSpPr/>
          <p:nvPr/>
        </p:nvSpPr>
        <p:spPr>
          <a:xfrm>
            <a:off x="9875520" y="1371600"/>
            <a:ext cx="960120" cy="9601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235440" y="2880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BACKEND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34290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DATABASE • APIs • SECURITY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</a:rPr>
              <a:t>REVIEW - 2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1887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Inventory &amp; Warehouse Management System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08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Backend Development for Smart Stock Control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947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Connecting the Review 1 frontend with real data, server-side logic and database operations.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DBMS  •  Section 12  •  Team 17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3492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M. Laasya Sri — 2520090196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M. Rajini — 2520090197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K. Ramya — 2520090313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Backend Overview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Review 2 adds to the frontend presented earlier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685800" y="1783080"/>
            <a:ext cx="5349240" cy="434340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Card"/>
          <p:cNvSpPr/>
          <p:nvPr/>
        </p:nvSpPr>
        <p:spPr>
          <a:xfrm>
            <a:off x="6263640" y="1783080"/>
            <a:ext cx="5349240" cy="434340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FROM REVIEW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REVIEW 2 FOCUS</a:t>
            </a:r>
            <a:endParaRPr lang="en-US" sz="1400" dirty="0"/>
          </a:p>
        </p:txBody>
      </p:sp>
      <p:sp>
        <p:nvSpPr>
          <p:cNvPr id="8" name="Marker"/>
          <p:cNvSpPr/>
          <p:nvPr/>
        </p:nvSpPr>
        <p:spPr>
          <a:xfrm>
            <a:off x="1097280" y="274320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973" y="2846893"/>
            <a:ext cx="176662" cy="17666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6334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interface and navigation</a:t>
            </a:r>
            <a:endParaRPr lang="en-US" sz="1600" dirty="0"/>
          </a:p>
        </p:txBody>
      </p:sp>
      <p:sp>
        <p:nvSpPr>
          <p:cNvPr id="11" name="Marker"/>
          <p:cNvSpPr/>
          <p:nvPr/>
        </p:nvSpPr>
        <p:spPr>
          <a:xfrm>
            <a:off x="1097280" y="3538728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73" y="3642421"/>
            <a:ext cx="176662" cy="1766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4290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and warehouse screens</a:t>
            </a:r>
            <a:endParaRPr lang="en-US" sz="1600" dirty="0"/>
          </a:p>
        </p:txBody>
      </p:sp>
      <p:sp>
        <p:nvSpPr>
          <p:cNvPr id="14" name="Marker"/>
          <p:cNvSpPr/>
          <p:nvPr/>
        </p:nvSpPr>
        <p:spPr>
          <a:xfrm>
            <a:off x="1097280" y="4334256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73" y="4437949"/>
            <a:ext cx="176662" cy="1766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2245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Admin, manager and staff flows</a:t>
            </a:r>
            <a:endParaRPr lang="en-US" sz="1600" dirty="0"/>
          </a:p>
        </p:txBody>
      </p:sp>
      <p:sp>
        <p:nvSpPr>
          <p:cNvPr id="17" name="Marker"/>
          <p:cNvSpPr/>
          <p:nvPr/>
        </p:nvSpPr>
        <p:spPr>
          <a:xfrm>
            <a:off x="1097280" y="512978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73" y="5233477"/>
            <a:ext cx="176662" cy="17666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502005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Responsive dashboard design</a:t>
            </a:r>
            <a:endParaRPr lang="en-US" sz="1600" dirty="0"/>
          </a:p>
        </p:txBody>
      </p:sp>
      <p:sp>
        <p:nvSpPr>
          <p:cNvPr id="20" name="Marker"/>
          <p:cNvSpPr/>
          <p:nvPr/>
        </p:nvSpPr>
        <p:spPr>
          <a:xfrm>
            <a:off x="6675120" y="2743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813" y="2846893"/>
            <a:ext cx="176662" cy="1766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26334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 database storage</a:t>
            </a:r>
            <a:endParaRPr lang="en-US" sz="1600" dirty="0"/>
          </a:p>
        </p:txBody>
      </p:sp>
      <p:sp>
        <p:nvSpPr>
          <p:cNvPr id="23" name="Marker"/>
          <p:cNvSpPr/>
          <p:nvPr/>
        </p:nvSpPr>
        <p:spPr>
          <a:xfrm>
            <a:off x="6675120" y="3310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813" y="3413821"/>
            <a:ext cx="176662" cy="17666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223760" y="32004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Server-side business logic</a:t>
            </a:r>
            <a:endParaRPr lang="en-US" sz="1600" dirty="0"/>
          </a:p>
        </p:txBody>
      </p:sp>
      <p:sp>
        <p:nvSpPr>
          <p:cNvPr id="26" name="Marker"/>
          <p:cNvSpPr/>
          <p:nvPr/>
        </p:nvSpPr>
        <p:spPr>
          <a:xfrm>
            <a:off x="6675120" y="38770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8813" y="3980749"/>
            <a:ext cx="176662" cy="17666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223760" y="37673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Secure login and roles</a:t>
            </a:r>
            <a:endParaRPr lang="en-US" sz="1600" dirty="0"/>
          </a:p>
        </p:txBody>
      </p:sp>
      <p:sp>
        <p:nvSpPr>
          <p:cNvPr id="29" name="Marker"/>
          <p:cNvSpPr/>
          <p:nvPr/>
        </p:nvSpPr>
        <p:spPr>
          <a:xfrm>
            <a:off x="6675120" y="44439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8813" y="4547677"/>
            <a:ext cx="176662" cy="17666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23760" y="433425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REST APIs</a:t>
            </a:r>
            <a:endParaRPr lang="en-US" sz="1600" dirty="0"/>
          </a:p>
        </p:txBody>
      </p:sp>
      <p:sp>
        <p:nvSpPr>
          <p:cNvPr id="32" name="Marker"/>
          <p:cNvSpPr/>
          <p:nvPr/>
        </p:nvSpPr>
        <p:spPr>
          <a:xfrm>
            <a:off x="6675120" y="501091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mage 8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8813" y="5114605"/>
            <a:ext cx="176662" cy="17666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223760" y="490118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Stock tracking and slotting</a:t>
            </a:r>
            <a:endParaRPr lang="en-US" sz="1600" dirty="0"/>
          </a:p>
        </p:txBody>
      </p:sp>
      <p:sp>
        <p:nvSpPr>
          <p:cNvPr id="35" name="Marker"/>
          <p:cNvSpPr/>
          <p:nvPr/>
        </p:nvSpPr>
        <p:spPr>
          <a:xfrm>
            <a:off x="6675120" y="5577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9" descr="che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8813" y="5681533"/>
            <a:ext cx="176662" cy="17666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223760" y="546811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 and error handling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Backend Architecture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Simple request → processing → database flow</a:t>
            </a:r>
            <a:endParaRPr lang="en-US" sz="1600" dirty="0"/>
          </a:p>
        </p:txBody>
      </p:sp>
      <p:sp>
        <p:nvSpPr>
          <p:cNvPr id="4" name="Layer USER"/>
          <p:cNvSpPr/>
          <p:nvPr/>
        </p:nvSpPr>
        <p:spPr>
          <a:xfrm>
            <a:off x="859536" y="2148840"/>
            <a:ext cx="2240280" cy="1371600"/>
          </a:xfrm>
          <a:prstGeom prst="roundRect">
            <a:avLst>
              <a:gd name="adj" fmla="val 1466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USER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Admin / Manager / Staff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3209544" y="2679192"/>
            <a:ext cx="329184" cy="31089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Layer APPLICATION"/>
          <p:cNvSpPr/>
          <p:nvPr/>
        </p:nvSpPr>
        <p:spPr>
          <a:xfrm>
            <a:off x="3602736" y="2148840"/>
            <a:ext cx="2240280" cy="1371600"/>
          </a:xfrm>
          <a:prstGeom prst="roundRect">
            <a:avLst>
              <a:gd name="adj" fmla="val 14667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02736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APPLICATION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694176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React Web App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5952744" y="2679192"/>
            <a:ext cx="329184" cy="31089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2" name="Layer SERVER"/>
          <p:cNvSpPr/>
          <p:nvPr/>
        </p:nvSpPr>
        <p:spPr>
          <a:xfrm>
            <a:off x="6345936" y="2148840"/>
            <a:ext cx="2240280" cy="1371600"/>
          </a:xfrm>
          <a:prstGeom prst="roundRect">
            <a:avLst>
              <a:gd name="adj" fmla="val 14667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45936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SERVER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Node.js + Express API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8695944" y="2679192"/>
            <a:ext cx="329184" cy="31089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6" name="Layer DATABASE"/>
          <p:cNvSpPr/>
          <p:nvPr/>
        </p:nvSpPr>
        <p:spPr>
          <a:xfrm>
            <a:off x="9089136" y="2148840"/>
            <a:ext cx="2240280" cy="1371600"/>
          </a:xfrm>
          <a:prstGeom prst="roundRect">
            <a:avLst>
              <a:gd name="adj" fmla="val 1466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89136" y="2395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DATABASE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MySQL Stored Data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1417320" y="4069080"/>
            <a:ext cx="9326880" cy="1783080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82880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REQUEST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4297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Login • Scan barcode • Stock in/out • Create order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773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PROCESS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7731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Validate • Apply rules • Save / Retrieve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RESULT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52486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Success response • Updated stock • Error message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Database Design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Main data entities used by the warehouse management system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685800" y="1783080"/>
            <a:ext cx="3438144" cy="173736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Header USERS"/>
          <p:cNvSpPr/>
          <p:nvPr/>
        </p:nvSpPr>
        <p:spPr>
          <a:xfrm>
            <a:off x="685800" y="1783080"/>
            <a:ext cx="3438144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500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Password hash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480560" y="1783080"/>
            <a:ext cx="3438144" cy="173736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9" name="Header PRODUCTS"/>
          <p:cNvSpPr/>
          <p:nvPr/>
        </p:nvSpPr>
        <p:spPr>
          <a:xfrm>
            <a:off x="4480560" y="1783080"/>
            <a:ext cx="3438144" cy="457200"/>
          </a:xfrm>
          <a:prstGeom prst="roundRect">
            <a:avLst>
              <a:gd name="adj" fmla="val 36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7830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3500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SKU / Barcode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 and category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Supplier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Reorder level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275320" y="1783080"/>
            <a:ext cx="3438144" cy="173736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3" name="Header WAREHOUSES"/>
          <p:cNvSpPr/>
          <p:nvPr/>
        </p:nvSpPr>
        <p:spPr>
          <a:xfrm>
            <a:off x="8275320" y="1783080"/>
            <a:ext cx="3438144" cy="457200"/>
          </a:xfrm>
          <a:prstGeom prst="roundRect">
            <a:avLst>
              <a:gd name="adj" fmla="val 36000"/>
            </a:avLst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7830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WAREHOUSES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3500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 and address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capacity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Storage locations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Assigned staff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85800" y="3749040"/>
            <a:ext cx="3438144" cy="173736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7" name="Header INVENTORY"/>
          <p:cNvSpPr/>
          <p:nvPr/>
        </p:nvSpPr>
        <p:spPr>
          <a:xfrm>
            <a:off x="685800" y="3749040"/>
            <a:ext cx="3438144" cy="457200"/>
          </a:xfrm>
          <a:prstGeom prst="roundRect">
            <a:avLst>
              <a:gd name="adj" fmla="val 36000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7490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INVENTORY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31596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Capacity check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480560" y="3749040"/>
            <a:ext cx="3438144" cy="173736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21" name="Header TRANSACTIONS"/>
          <p:cNvSpPr/>
          <p:nvPr/>
        </p:nvSpPr>
        <p:spPr>
          <a:xfrm>
            <a:off x="4480560" y="3749040"/>
            <a:ext cx="3438144" cy="457200"/>
          </a:xfrm>
          <a:prstGeom prst="roundRect">
            <a:avLst>
              <a:gd name="adj" fmla="val 360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0560" y="37490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31596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 (in / out / transfer)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Performed by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 / time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8275320" y="3749040"/>
            <a:ext cx="3438144" cy="173736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25" name="Header ORDERS"/>
          <p:cNvSpPr/>
          <p:nvPr/>
        </p:nvSpPr>
        <p:spPr>
          <a:xfrm>
            <a:off x="8275320" y="3749040"/>
            <a:ext cx="3438144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37490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431596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ID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items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 staff, locations, categories, suppliers and order items = 11 related tables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Authentication &amp; Authorization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Controlling who can access the system and what they can do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685800" y="1783080"/>
            <a:ext cx="5349240" cy="434340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Card"/>
          <p:cNvSpPr/>
          <p:nvPr/>
        </p:nvSpPr>
        <p:spPr>
          <a:xfrm>
            <a:off x="6263640" y="1783080"/>
            <a:ext cx="5349240" cy="4343400"/>
          </a:xfrm>
          <a:prstGeom prst="roundRect">
            <a:avLst>
              <a:gd name="adj" fmla="val 94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AUTHORIZATION</a:t>
            </a:r>
            <a:endParaRPr lang="en-US" sz="1400" dirty="0"/>
          </a:p>
        </p:txBody>
      </p:sp>
      <p:sp>
        <p:nvSpPr>
          <p:cNvPr id="8" name="Marker"/>
          <p:cNvSpPr/>
          <p:nvPr/>
        </p:nvSpPr>
        <p:spPr>
          <a:xfrm>
            <a:off x="1097280" y="274320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973" y="2846893"/>
            <a:ext cx="176662" cy="17666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6334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Admin creates accounts with valid details</a:t>
            </a:r>
            <a:endParaRPr lang="en-US" sz="1600" dirty="0"/>
          </a:p>
        </p:txBody>
      </p:sp>
      <p:sp>
        <p:nvSpPr>
          <p:cNvPr id="11" name="Marker"/>
          <p:cNvSpPr/>
          <p:nvPr/>
        </p:nvSpPr>
        <p:spPr>
          <a:xfrm>
            <a:off x="1097280" y="361188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73" y="3715573"/>
            <a:ext cx="176662" cy="1766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50215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Hash password before storing</a:t>
            </a:r>
            <a:endParaRPr lang="en-US" sz="1600" dirty="0"/>
          </a:p>
        </p:txBody>
      </p:sp>
      <p:sp>
        <p:nvSpPr>
          <p:cNvPr id="14" name="Marker"/>
          <p:cNvSpPr/>
          <p:nvPr/>
        </p:nvSpPr>
        <p:spPr>
          <a:xfrm>
            <a:off x="1097280" y="448056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73" y="4584253"/>
            <a:ext cx="176662" cy="1766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370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Login with email and password</a:t>
            </a:r>
            <a:endParaRPr lang="en-US" sz="1600" dirty="0"/>
          </a:p>
        </p:txBody>
      </p:sp>
      <p:sp>
        <p:nvSpPr>
          <p:cNvPr id="17" name="Marker"/>
          <p:cNvSpPr/>
          <p:nvPr/>
        </p:nvSpPr>
        <p:spPr>
          <a:xfrm>
            <a:off x="1097280" y="534924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73" y="5452933"/>
            <a:ext cx="176662" cy="17666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523951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Create authenticated JWT token</a:t>
            </a:r>
            <a:endParaRPr lang="en-US" sz="1600" dirty="0"/>
          </a:p>
        </p:txBody>
      </p:sp>
      <p:sp>
        <p:nvSpPr>
          <p:cNvPr id="20" name="Marker"/>
          <p:cNvSpPr/>
          <p:nvPr/>
        </p:nvSpPr>
        <p:spPr>
          <a:xfrm>
            <a:off x="6675120" y="2743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813" y="2846893"/>
            <a:ext cx="176662" cy="1766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26334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Admin → users, warehouses, master data</a:t>
            </a:r>
            <a:endParaRPr lang="en-US" sz="1600" dirty="0"/>
          </a:p>
        </p:txBody>
      </p:sp>
      <p:sp>
        <p:nvSpPr>
          <p:cNvPr id="23" name="Marker"/>
          <p:cNvSpPr/>
          <p:nvPr/>
        </p:nvSpPr>
        <p:spPr>
          <a:xfrm>
            <a:off x="6675120" y="3611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813" y="3715573"/>
            <a:ext cx="176662" cy="17666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223760" y="350215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Manager → reports, orders, slotting</a:t>
            </a:r>
            <a:endParaRPr lang="en-US" sz="1600" dirty="0"/>
          </a:p>
        </p:txBody>
      </p:sp>
      <p:sp>
        <p:nvSpPr>
          <p:cNvPr id="26" name="Marker"/>
          <p:cNvSpPr/>
          <p:nvPr/>
        </p:nvSpPr>
        <p:spPr>
          <a:xfrm>
            <a:off x="6675120" y="44805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8813" y="4584253"/>
            <a:ext cx="176662" cy="17666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223760" y="4370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→ stock moves and scans (own warehouse)</a:t>
            </a:r>
            <a:endParaRPr lang="en-US" sz="1600" dirty="0"/>
          </a:p>
        </p:txBody>
      </p:sp>
      <p:sp>
        <p:nvSpPr>
          <p:cNvPr id="29" name="Marker"/>
          <p:cNvSpPr/>
          <p:nvPr/>
        </p:nvSpPr>
        <p:spPr>
          <a:xfrm>
            <a:off x="6675120" y="5349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8813" y="5452933"/>
            <a:ext cx="176662" cy="17666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23760" y="523951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Protect private routes, reject unauthorized requests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REST API Design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Endpoints used to connect the frontend with backend operations</a:t>
            </a:r>
            <a:endParaRPr lang="en-US" sz="1600" dirty="0"/>
          </a:p>
        </p:txBody>
      </p:sp>
      <p:sp>
        <p:nvSpPr>
          <p:cNvPr id="4" name="Row 1"/>
          <p:cNvSpPr/>
          <p:nvPr/>
        </p:nvSpPr>
        <p:spPr>
          <a:xfrm>
            <a:off x="685800" y="1783080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AUTH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78308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7830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/api/auth/login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17830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Login</a:t>
            </a:r>
            <a:endParaRPr lang="en-US" sz="1300" dirty="0"/>
          </a:p>
        </p:txBody>
      </p:sp>
      <p:sp>
        <p:nvSpPr>
          <p:cNvPr id="9" name="Row 2"/>
          <p:cNvSpPr/>
          <p:nvPr/>
        </p:nvSpPr>
        <p:spPr>
          <a:xfrm>
            <a:off x="685800" y="2276856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2768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PRODUCTS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276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27685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/api/products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2768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List products</a:t>
            </a:r>
            <a:endParaRPr lang="en-US" sz="1300" dirty="0"/>
          </a:p>
        </p:txBody>
      </p:sp>
      <p:sp>
        <p:nvSpPr>
          <p:cNvPr id="14" name="Row 3"/>
          <p:cNvSpPr/>
          <p:nvPr/>
        </p:nvSpPr>
        <p:spPr>
          <a:xfrm>
            <a:off x="685800" y="2770632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PRODUCTS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77063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7706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/api/products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7706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Add product</a:t>
            </a:r>
            <a:endParaRPr lang="en-US" sz="1300" dirty="0"/>
          </a:p>
        </p:txBody>
      </p:sp>
      <p:sp>
        <p:nvSpPr>
          <p:cNvPr id="19" name="Row 4"/>
          <p:cNvSpPr/>
          <p:nvPr/>
        </p:nvSpPr>
        <p:spPr>
          <a:xfrm>
            <a:off x="685800" y="3264408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3264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INVENTORY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2644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/api/warehouses/:id/inventory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2644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View stored products</a:t>
            </a:r>
            <a:endParaRPr lang="en-US" sz="1300" dirty="0"/>
          </a:p>
        </p:txBody>
      </p:sp>
      <p:sp>
        <p:nvSpPr>
          <p:cNvPr id="24" name="Row 5"/>
          <p:cNvSpPr/>
          <p:nvPr/>
        </p:nvSpPr>
        <p:spPr>
          <a:xfrm>
            <a:off x="685800" y="3758184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37581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375818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POST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375818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/api/transactions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758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Record stock movement</a:t>
            </a:r>
            <a:endParaRPr lang="en-US" sz="1300" dirty="0"/>
          </a:p>
        </p:txBody>
      </p:sp>
      <p:sp>
        <p:nvSpPr>
          <p:cNvPr id="29" name="Row 6"/>
          <p:cNvSpPr/>
          <p:nvPr/>
        </p:nvSpPr>
        <p:spPr>
          <a:xfrm>
            <a:off x="685800" y="4251960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" y="42519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ORDERS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42519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42519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/api/orders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2519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Create order</a:t>
            </a:r>
            <a:endParaRPr lang="en-US" sz="1300" dirty="0"/>
          </a:p>
        </p:txBody>
      </p:sp>
      <p:sp>
        <p:nvSpPr>
          <p:cNvPr id="34" name="Row 7"/>
          <p:cNvSpPr/>
          <p:nvPr/>
        </p:nvSpPr>
        <p:spPr>
          <a:xfrm>
            <a:off x="685800" y="4745736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" y="47457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SCAN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926080" y="47457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840480" y="47457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/api/scan/:barcode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474573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Find product</a:t>
            </a:r>
            <a:endParaRPr lang="en-US" sz="1300" dirty="0"/>
          </a:p>
        </p:txBody>
      </p:sp>
      <p:sp>
        <p:nvSpPr>
          <p:cNvPr id="39" name="Row 8"/>
          <p:cNvSpPr/>
          <p:nvPr/>
        </p:nvSpPr>
        <p:spPr>
          <a:xfrm>
            <a:off x="685800" y="5239512"/>
            <a:ext cx="1083564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05840" y="5239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SLOTTING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2926080" y="523951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POST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840480" y="523951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/api/slotting/run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412480" y="52395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Optimize slots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58521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Every API should validate input, check permissions, perform the operation and return a clear response.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Stock, Order &amp; Slotting Logic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How the backend processes the main warehouse actions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31520" y="1783080"/>
            <a:ext cx="2432304" cy="1737360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Marker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products and locations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Master data saved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520440" y="1783080"/>
            <a:ext cx="2432304" cy="1737360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0" name="Marker"/>
          <p:cNvSpPr/>
          <p:nvPr/>
        </p:nvSpPr>
        <p:spPr>
          <a:xfrm>
            <a:off x="370332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9659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Staff records stock movement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In, out or transfer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309360" y="1783080"/>
            <a:ext cx="2432304" cy="1737360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5" name="Marker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9659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stock and capacity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Row lock inside a transaction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9098280" y="1783080"/>
            <a:ext cx="2432304" cy="1737360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20" name="Marker"/>
          <p:cNvSpPr/>
          <p:nvPr/>
        </p:nvSpPr>
        <p:spPr>
          <a:xfrm>
            <a:off x="9281160" y="20116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19659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 inventory and log it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Commit or roll back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731520" y="3749040"/>
            <a:ext cx="2432304" cy="1737360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25" name="Marker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39319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 product demand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54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Priority queue by demand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3520440" y="3749040"/>
            <a:ext cx="2432304" cy="1737360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30" name="Marker"/>
          <p:cNvSpPr/>
          <p:nvPr/>
        </p:nvSpPr>
        <p:spPr>
          <a:xfrm>
            <a:off x="370332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033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39319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Greedy slot assignment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749040" y="4754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Nearest valid location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6309360" y="3749040"/>
            <a:ext cx="2432304" cy="1737360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35" name="Marker"/>
          <p:cNvSpPr/>
          <p:nvPr/>
        </p:nvSpPr>
        <p:spPr>
          <a:xfrm>
            <a:off x="6492240" y="3977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9319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Manager applies the plan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754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Moves saved as transactions</a:t>
            </a:r>
            <a:endParaRPr lang="en-US" sz="1200" dirty="0"/>
          </a:p>
        </p:txBody>
      </p:sp>
      <p:sp>
        <p:nvSpPr>
          <p:cNvPr id="39" name="Flow banner"/>
          <p:cNvSpPr/>
          <p:nvPr/>
        </p:nvSpPr>
        <p:spPr>
          <a:xfrm>
            <a:off x="1417320" y="5760720"/>
            <a:ext cx="932688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417320" y="57607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REQUEST  →  VALIDATE  →  UPDATE  →  LOG  →  OPTIMIZE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Testing &amp; Validation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Checks to make sure the backend behaves correctly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685800" y="1783080"/>
            <a:ext cx="5266944" cy="173736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Authentication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Valid / invalid login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Role protection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355080" y="1783080"/>
            <a:ext cx="5266944" cy="173736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66560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Stock &amp; Inventory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6060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Stock-out above available quantity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Capacity and negative-quantity checks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85800" y="3749040"/>
            <a:ext cx="5266944" cy="173736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4005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Orders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72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 with enough stock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Cancel order restores stock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355080" y="3749040"/>
            <a:ext cx="5266944" cy="173736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4005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Slotting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572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High-demand products get nearest slots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 location capacity exceeded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806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Expected: valid requests succeed, invalid requests are rejected, and database records remain consistent.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1207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Review 2 connects the user interface to a functional backend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31520" y="1783080"/>
            <a:ext cx="7315200" cy="365760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5" name="Card"/>
          <p:cNvSpPr/>
          <p:nvPr/>
        </p:nvSpPr>
        <p:spPr>
          <a:xfrm>
            <a:off x="8321040" y="1783080"/>
            <a:ext cx="3291840" cy="365760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34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7" name="Marker"/>
          <p:cNvSpPr/>
          <p:nvPr/>
        </p:nvSpPr>
        <p:spPr>
          <a:xfrm>
            <a:off x="1188720" y="269748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2796235"/>
            <a:ext cx="168250" cy="1682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651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 data is stored in the database</a:t>
            </a:r>
            <a:endParaRPr lang="en-US" sz="1600" dirty="0"/>
          </a:p>
        </p:txBody>
      </p:sp>
      <p:sp>
        <p:nvSpPr>
          <p:cNvPr id="10" name="Marker"/>
          <p:cNvSpPr/>
          <p:nvPr/>
        </p:nvSpPr>
        <p:spPr>
          <a:xfrm>
            <a:off x="1188720" y="32278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75" y="3326587"/>
            <a:ext cx="168250" cy="1682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1821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handles stock and order logic</a:t>
            </a:r>
            <a:endParaRPr lang="en-US" sz="1600" dirty="0"/>
          </a:p>
        </p:txBody>
      </p:sp>
      <p:sp>
        <p:nvSpPr>
          <p:cNvPr id="13" name="Marker"/>
          <p:cNvSpPr/>
          <p:nvPr/>
        </p:nvSpPr>
        <p:spPr>
          <a:xfrm>
            <a:off x="1188720" y="37581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75" y="3856939"/>
            <a:ext cx="168250" cy="1682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37124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APIs connect frontend and database</a:t>
            </a:r>
            <a:endParaRPr lang="en-US" sz="1600" dirty="0"/>
          </a:p>
        </p:txBody>
      </p:sp>
      <p:sp>
        <p:nvSpPr>
          <p:cNvPr id="16" name="Marker"/>
          <p:cNvSpPr/>
          <p:nvPr/>
        </p:nvSpPr>
        <p:spPr>
          <a:xfrm>
            <a:off x="1188720" y="428853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475" y="4387291"/>
            <a:ext cx="168250" cy="1682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42428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 protects user accounts</a:t>
            </a:r>
            <a:endParaRPr lang="en-US" sz="1600" dirty="0"/>
          </a:p>
        </p:txBody>
      </p:sp>
      <p:sp>
        <p:nvSpPr>
          <p:cNvPr id="19" name="Marker"/>
          <p:cNvSpPr/>
          <p:nvPr/>
        </p:nvSpPr>
        <p:spPr>
          <a:xfrm>
            <a:off x="1188720" y="481888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475" y="4917643"/>
            <a:ext cx="168250" cy="16825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737360" y="4773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Slotting optimization speeds up retrieval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32104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REVIEW 2 GOAL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832104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FRONTEND</a:t>
            </a:r>
            <a:endParaRPr lang="en-US" sz="3000" dirty="0"/>
          </a:p>
        </p:txBody>
      </p:sp>
      <p:sp>
        <p:nvSpPr>
          <p:cNvPr id="24" name="Text 17"/>
          <p:cNvSpPr txBox="1"/>
          <p:nvPr/>
        </p:nvSpPr>
        <p:spPr>
          <a:xfrm>
            <a:off x="8321040" y="3136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+</a:t>
            </a:r>
            <a:endParaRPr lang="en-US" sz="2600" dirty="0"/>
          </a:p>
        </p:txBody>
      </p:sp>
      <p:sp>
        <p:nvSpPr>
          <p:cNvPr id="25" name="Text 18"/>
          <p:cNvSpPr txBox="1"/>
          <p:nvPr/>
        </p:nvSpPr>
        <p:spPr>
          <a:xfrm>
            <a:off x="8321040" y="3666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BACKEND</a:t>
            </a:r>
            <a:endParaRPr lang="en-US" sz="3000" dirty="0"/>
          </a:p>
        </p:txBody>
      </p:sp>
      <p:sp>
        <p:nvSpPr>
          <p:cNvPr id="26" name="Text 19"/>
          <p:cNvSpPr txBox="1"/>
          <p:nvPr/>
        </p:nvSpPr>
        <p:spPr>
          <a:xfrm>
            <a:off x="8321040" y="41970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+</a:t>
            </a:r>
            <a:endParaRPr lang="en-US" sz="2600" dirty="0"/>
          </a:p>
        </p:txBody>
      </p:sp>
      <p:sp>
        <p:nvSpPr>
          <p:cNvPr id="27" name="Text 20"/>
          <p:cNvSpPr txBox="1"/>
          <p:nvPr/>
        </p:nvSpPr>
        <p:spPr>
          <a:xfrm>
            <a:off x="8321040" y="4727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DATABASE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623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29" name="Text 22"/>
          <p:cNvSpPr txBox="1"/>
          <p:nvPr/>
        </p:nvSpPr>
        <p:spPr>
          <a:xfrm>
            <a:off x="4663440" y="5623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ehouse Light">
  <a:themeElements>
    <a:clrScheme name="Warehouse Light">
      <a:dk1>
        <a:srgbClr val="1B2340"/>
      </a:dk1>
      <a:lt1>
        <a:srgbClr val="FFFFFF"/>
      </a:lt1>
      <a:dk2>
        <a:srgbClr val="5B6785"/>
      </a:dk2>
      <a:lt2>
        <a:srgbClr val="F1F4FB"/>
      </a:lt2>
      <a:accent1>
        <a:srgbClr val="3B82F6"/>
      </a:accent1>
      <a:accent2>
        <a:srgbClr val="7C5CFC"/>
      </a:accent2>
      <a:accent3>
        <a:srgbClr val="0E9AAA"/>
      </a:accent3>
      <a:accent4>
        <a:srgbClr val="1FAE6B"/>
      </a:accent4>
      <a:accent5>
        <a:srgbClr val="E04F8B"/>
      </a:accent5>
      <a:accent6>
        <a:srgbClr val="F59E0B"/>
      </a:accent6>
      <a:hlink>
        <a:srgbClr val="3B82F6"/>
      </a:hlink>
      <a:folHlink>
        <a:srgbClr val="7C5CFC"/>
      </a:folHlink>
    </a:clrScheme>
    <a:fontScheme name="Warehouse L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&amp; Warehouse Management System - Review 2</dc:title>
  <dc:subject>PptxGenJS Presentation</dc:subject>
  <dc:creator>Team 17</dc:creator>
  <cp:lastModifiedBy>Team 17</cp:lastModifiedBy>
  <cp:revision>1</cp:revision>
  <dcterms:created xsi:type="dcterms:W3CDTF">2026-10-03T05:40:05Z</dcterms:created>
  <dcterms:modified xsi:type="dcterms:W3CDTF">2026-10-03T05:40:05Z</dcterms:modified>
</cp:coreProperties>
</file>