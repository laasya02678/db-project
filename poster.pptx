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0693400" cy="15138400"/>
  <p:notesSz cx="15138400" cy="10693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p:scale>
          <a:sx n="66" d="100"/>
          <a:sy n="66" d="100"/>
        </p:scale>
        <p:origin x="1637" y="-26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3090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Poster based on the project abstract, styled after the Team 23 Event Management poster. Team 17, Section 12 details taken from the abstract submission form. Expected Results are intended outcomes, not measured test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Header band"/>
          <p:cNvSpPr/>
          <p:nvPr/>
        </p:nvSpPr>
        <p:spPr>
          <a:xfrm>
            <a:off x="0" y="0"/>
            <a:ext cx="10693908" cy="1920240"/>
          </a:xfrm>
          <a:prstGeom prst="rect">
            <a:avLst/>
          </a:prstGeom>
          <a:solidFill>
            <a:srgbClr val="5B21B6"/>
          </a:solidFill>
          <a:ln w="12700">
            <a:solidFill>
              <a:srgbClr val="5B21B6"/>
            </a:solidFill>
            <a:prstDash val="solid"/>
          </a:ln>
        </p:spPr>
      </p:sp>
      <p:sp>
        <p:nvSpPr>
          <p:cNvPr id="3" name="Logo plate"/>
          <p:cNvSpPr/>
          <p:nvPr/>
        </p:nvSpPr>
        <p:spPr>
          <a:xfrm>
            <a:off x="365760" y="320040"/>
            <a:ext cx="1280160" cy="1280160"/>
          </a:xfrm>
          <a:prstGeom prst="rect">
            <a:avLst/>
          </a:prstGeom>
          <a:solidFill>
            <a:srgbClr val="FFFFFF"/>
          </a:solidFill>
          <a:ln w="12700">
            <a:solidFill>
              <a:srgbClr val="FFFFFF"/>
            </a:solidFill>
            <a:prstDash val="solid"/>
          </a:ln>
        </p:spPr>
      </p:sp>
      <p:pic>
        <p:nvPicPr>
          <p:cNvPr id="4" name="Image 0" descr="KL University logo"/>
          <p:cNvPicPr>
            <a:picLocks noChangeAspect="1"/>
          </p:cNvPicPr>
          <p:nvPr/>
        </p:nvPicPr>
        <p:blipFill>
          <a:blip r:embed="rId3"/>
          <a:stretch>
            <a:fillRect/>
          </a:stretch>
        </p:blipFill>
        <p:spPr>
          <a:xfrm>
            <a:off x="420624" y="680173"/>
            <a:ext cx="1170432" cy="559894"/>
          </a:xfrm>
          <a:prstGeom prst="rect">
            <a:avLst/>
          </a:prstGeom>
        </p:spPr>
      </p:pic>
      <p:sp>
        <p:nvSpPr>
          <p:cNvPr id="5" name="Text 2"/>
          <p:cNvSpPr txBox="1"/>
          <p:nvPr/>
        </p:nvSpPr>
        <p:spPr>
          <a:xfrm>
            <a:off x="1920240" y="137160"/>
            <a:ext cx="8412480" cy="7315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Inventory and Warehouse Management System with Slotting Optimization</a:t>
            </a:r>
            <a:endParaRPr lang="en-US" sz="2200" dirty="0"/>
          </a:p>
        </p:txBody>
      </p:sp>
      <p:sp>
        <p:nvSpPr>
          <p:cNvPr id="6" name="Text 3"/>
          <p:cNvSpPr txBox="1"/>
          <p:nvPr/>
        </p:nvSpPr>
        <p:spPr>
          <a:xfrm>
            <a:off x="1920240" y="896112"/>
            <a:ext cx="8412480" cy="960120"/>
          </a:xfrm>
          <a:prstGeom prst="rect">
            <a:avLst/>
          </a:prstGeom>
          <a:noFill/>
          <a:ln/>
        </p:spPr>
        <p:txBody>
          <a:bodyPr wrap="square" lIns="0" tIns="0" rIns="0" bIns="0" rtlCol="0" anchor="t"/>
          <a:lstStyle/>
          <a:p>
            <a:pPr marL="0" indent="0">
              <a:buNone/>
            </a:pPr>
            <a:r>
              <a:rPr lang="en-US" sz="1400" b="1" dirty="0">
                <a:solidFill>
                  <a:srgbClr val="FDE68A"/>
                </a:solidFill>
                <a:latin typeface="Calibri" pitchFamily="34" charset="0"/>
                <a:ea typeface="Calibri" pitchFamily="34" charset="-122"/>
                <a:cs typeface="Calibri" pitchFamily="34" charset="-120"/>
              </a:rPr>
              <a:t>Team 17     Section 12</a:t>
            </a:r>
            <a:endParaRPr lang="en-US" sz="1400" dirty="0"/>
          </a:p>
          <a:p>
            <a:pPr marL="0" indent="0">
              <a:buNone/>
            </a:pPr>
            <a:r>
              <a:rPr lang="en-US" sz="1250" dirty="0">
                <a:solidFill>
                  <a:srgbClr val="FFFFFF"/>
                </a:solidFill>
                <a:latin typeface="Calibri" pitchFamily="34" charset="0"/>
                <a:ea typeface="Calibri" pitchFamily="34" charset="-122"/>
                <a:cs typeface="Calibri" pitchFamily="34" charset="-120"/>
              </a:rPr>
              <a:t>M. Laasya Sri - 2520090196     M. Rajini - 2520090197</a:t>
            </a:r>
            <a:endParaRPr lang="en-US" sz="1400" dirty="0"/>
          </a:p>
          <a:p>
            <a:pPr marL="0" indent="0">
              <a:buNone/>
            </a:pPr>
            <a:r>
              <a:rPr lang="en-US" sz="1250" dirty="0">
                <a:solidFill>
                  <a:srgbClr val="FFFFFF"/>
                </a:solidFill>
                <a:latin typeface="Calibri" pitchFamily="34" charset="0"/>
                <a:ea typeface="Calibri" pitchFamily="34" charset="-122"/>
                <a:cs typeface="Calibri" pitchFamily="34" charset="-120"/>
              </a:rPr>
              <a:t>K. Ramya - 2520090313</a:t>
            </a:r>
            <a:endParaRPr lang="en-US" sz="1400" dirty="0"/>
          </a:p>
          <a:p>
            <a:pPr marL="0" indent="0">
              <a:buNone/>
            </a:pPr>
            <a:r>
              <a:rPr lang="en-US" sz="1000" dirty="0">
                <a:solidFill>
                  <a:srgbClr val="FFFFFF"/>
                </a:solidFill>
                <a:latin typeface="Calibri" pitchFamily="34" charset="0"/>
                <a:ea typeface="Calibri" pitchFamily="34" charset="-122"/>
                <a:cs typeface="Calibri" pitchFamily="34" charset="-120"/>
              </a:rPr>
              <a:t>Database Systems Engineering and Distributed Backend Development (25CS1302E)</a:t>
            </a:r>
            <a:endParaRPr lang="en-US" sz="1400" dirty="0"/>
          </a:p>
          <a:p>
            <a:pPr marL="0" indent="0">
              <a:buNone/>
            </a:pPr>
            <a:r>
              <a:rPr lang="en-US" sz="1000" dirty="0">
                <a:solidFill>
                  <a:srgbClr val="FFFFFF"/>
                </a:solidFill>
                <a:latin typeface="Calibri" pitchFamily="34" charset="0"/>
                <a:ea typeface="Calibri" pitchFamily="34" charset="-122"/>
                <a:cs typeface="Calibri" pitchFamily="34" charset="-120"/>
              </a:rPr>
              <a:t>KLH Bachupally Campus     Y25 | 2026-27 | Trimester 4</a:t>
            </a:r>
            <a:endParaRPr lang="en-US" sz="1400" dirty="0"/>
          </a:p>
        </p:txBody>
      </p:sp>
      <p:sp>
        <p:nvSpPr>
          <p:cNvPr id="7" name="Abstract card"/>
          <p:cNvSpPr/>
          <p:nvPr/>
        </p:nvSpPr>
        <p:spPr>
          <a:xfrm>
            <a:off x="365760" y="2103120"/>
            <a:ext cx="4846320" cy="2377440"/>
          </a:xfrm>
          <a:prstGeom prst="roundRect">
            <a:avLst>
              <a:gd name="adj" fmla="val 3077"/>
            </a:avLst>
          </a:prstGeom>
          <a:solidFill>
            <a:srgbClr val="FEF3C7"/>
          </a:solidFill>
          <a:ln w="15875">
            <a:solidFill>
              <a:srgbClr val="F59E0B"/>
            </a:solidFill>
            <a:prstDash val="solid"/>
          </a:ln>
        </p:spPr>
      </p:sp>
      <p:sp>
        <p:nvSpPr>
          <p:cNvPr id="8" name="Abstract title"/>
          <p:cNvSpPr txBox="1"/>
          <p:nvPr/>
        </p:nvSpPr>
        <p:spPr>
          <a:xfrm>
            <a:off x="548640" y="2194560"/>
            <a:ext cx="4480560" cy="365760"/>
          </a:xfrm>
          <a:prstGeom prst="rect">
            <a:avLst/>
          </a:prstGeom>
          <a:noFill/>
          <a:ln/>
        </p:spPr>
        <p:txBody>
          <a:bodyPr wrap="square" lIns="0" tIns="0" rIns="0" bIns="0" rtlCol="0" anchor="ctr"/>
          <a:lstStyle/>
          <a:p>
            <a:pPr marL="0" indent="0">
              <a:buNone/>
            </a:pPr>
            <a:r>
              <a:rPr lang="en-US" sz="1600" b="1" dirty="0">
                <a:solidFill>
                  <a:srgbClr val="B45309"/>
                </a:solidFill>
                <a:latin typeface="Calibri" pitchFamily="34" charset="0"/>
                <a:ea typeface="Calibri" pitchFamily="34" charset="-122"/>
                <a:cs typeface="Calibri" pitchFamily="34" charset="-120"/>
              </a:rPr>
              <a:t>Abstract</a:t>
            </a:r>
            <a:endParaRPr lang="en-US" sz="1600" dirty="0"/>
          </a:p>
        </p:txBody>
      </p:sp>
      <p:sp>
        <p:nvSpPr>
          <p:cNvPr id="9" name="Abstract body"/>
          <p:cNvSpPr txBox="1"/>
          <p:nvPr/>
        </p:nvSpPr>
        <p:spPr>
          <a:xfrm>
            <a:off x="548640" y="2606040"/>
            <a:ext cx="4480560" cy="17830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A web-based platform to manage products, warehouses, suppliers, staff, stock transactions and orders in one centralized system.</a:t>
            </a:r>
            <a:endParaRPr lang="en-US" sz="1250" dirty="0"/>
          </a:p>
          <a:p>
            <a:pPr marL="177800" indent="-1778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Monitors inventory, tracks stock movement, manages warehouse capacity and shows the products stored in each warehouse.</a:t>
            </a:r>
            <a:endParaRPr lang="en-US" sz="1250" dirty="0"/>
          </a:p>
          <a:p>
            <a:pPr marL="177800" indent="-1778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Warehouse Slotting Optimization uses DSA to place high-demand products in the best locations, cutting retrieval time and distance.</a:t>
            </a:r>
            <a:endParaRPr lang="en-US" sz="1250" dirty="0"/>
          </a:p>
        </p:txBody>
      </p:sp>
      <p:sp>
        <p:nvSpPr>
          <p:cNvPr id="10" name="Problem card"/>
          <p:cNvSpPr/>
          <p:nvPr/>
        </p:nvSpPr>
        <p:spPr>
          <a:xfrm>
            <a:off x="365760" y="4663440"/>
            <a:ext cx="4846320" cy="2377440"/>
          </a:xfrm>
          <a:prstGeom prst="roundRect">
            <a:avLst>
              <a:gd name="adj" fmla="val 3077"/>
            </a:avLst>
          </a:prstGeom>
          <a:solidFill>
            <a:srgbClr val="FCE7F3"/>
          </a:solidFill>
          <a:ln w="15875">
            <a:solidFill>
              <a:srgbClr val="EC4899"/>
            </a:solidFill>
            <a:prstDash val="solid"/>
          </a:ln>
        </p:spPr>
      </p:sp>
      <p:sp>
        <p:nvSpPr>
          <p:cNvPr id="11" name="Problem title"/>
          <p:cNvSpPr txBox="1"/>
          <p:nvPr/>
        </p:nvSpPr>
        <p:spPr>
          <a:xfrm>
            <a:off x="548640" y="4754880"/>
            <a:ext cx="4480560" cy="365760"/>
          </a:xfrm>
          <a:prstGeom prst="rect">
            <a:avLst/>
          </a:prstGeom>
          <a:noFill/>
          <a:ln/>
        </p:spPr>
        <p:txBody>
          <a:bodyPr wrap="square" lIns="0" tIns="0" rIns="0" bIns="0" rtlCol="0" anchor="ctr"/>
          <a:lstStyle/>
          <a:p>
            <a:pPr marL="0" indent="0">
              <a:buNone/>
            </a:pPr>
            <a:r>
              <a:rPr lang="en-US" sz="1600" b="1" dirty="0">
                <a:solidFill>
                  <a:srgbClr val="BE185D"/>
                </a:solidFill>
                <a:latin typeface="Calibri" pitchFamily="34" charset="0"/>
                <a:ea typeface="Calibri" pitchFamily="34" charset="-122"/>
                <a:cs typeface="Calibri" pitchFamily="34" charset="-120"/>
              </a:rPr>
              <a:t>Problem Statement &amp; Objectives</a:t>
            </a:r>
            <a:endParaRPr lang="en-US" sz="1600" dirty="0"/>
          </a:p>
        </p:txBody>
      </p:sp>
      <p:sp>
        <p:nvSpPr>
          <p:cNvPr id="12" name="Problem body"/>
          <p:cNvSpPr txBox="1"/>
          <p:nvPr/>
        </p:nvSpPr>
        <p:spPr>
          <a:xfrm>
            <a:off x="548640" y="5166360"/>
            <a:ext cx="4480560" cy="1783080"/>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rgbClr val="1E293B"/>
                </a:solidFill>
                <a:latin typeface="Calibri" pitchFamily="34" charset="0"/>
                <a:ea typeface="Calibri" pitchFamily="34" charset="-122"/>
                <a:cs typeface="Calibri" pitchFamily="34" charset="-120"/>
              </a:rPr>
              <a:t>Problem: </a:t>
            </a:r>
            <a:r>
              <a:rPr lang="en-US" sz="1200" dirty="0">
                <a:solidFill>
                  <a:srgbClr val="1E293B"/>
                </a:solidFill>
                <a:latin typeface="Calibri" pitchFamily="34" charset="0"/>
                <a:ea typeface="Calibri" pitchFamily="34" charset="-122"/>
                <a:cs typeface="Calibri" pitchFamily="34" charset="-120"/>
              </a:rPr>
              <a:t>Scattered inventory records, poor stock visibility and inefficient product placement.</a:t>
            </a:r>
            <a:endParaRPr lang="en-US" sz="1200" dirty="0"/>
          </a:p>
          <a:p>
            <a:pPr marL="177800" indent="-177800">
              <a:spcAft>
                <a:spcPts val="500"/>
              </a:spcAft>
              <a:buSzPct val="100000"/>
              <a:buChar char="•"/>
            </a:pPr>
            <a:r>
              <a:rPr lang="en-US" sz="1200" b="1" dirty="0">
                <a:solidFill>
                  <a:srgbClr val="1E293B"/>
                </a:solidFill>
                <a:latin typeface="Calibri" pitchFamily="34" charset="0"/>
                <a:ea typeface="Calibri" pitchFamily="34" charset="-122"/>
                <a:cs typeface="Calibri" pitchFamily="34" charset="-120"/>
              </a:rPr>
              <a:t>Objective: </a:t>
            </a:r>
            <a:r>
              <a:rPr lang="en-US" sz="1200" dirty="0">
                <a:solidFill>
                  <a:srgbClr val="1E293B"/>
                </a:solidFill>
                <a:latin typeface="Calibri" pitchFamily="34" charset="0"/>
                <a:ea typeface="Calibri" pitchFamily="34" charset="-122"/>
                <a:cs typeface="Calibri" pitchFamily="34" charset="-120"/>
              </a:rPr>
              <a:t>Centralize products, warehouses, suppliers, staff and orders.</a:t>
            </a:r>
            <a:endParaRPr lang="en-US" sz="1200" dirty="0"/>
          </a:p>
          <a:p>
            <a:pPr marL="177800" indent="-177800">
              <a:spcAft>
                <a:spcPts val="500"/>
              </a:spcAft>
              <a:buSzPct val="100000"/>
              <a:buChar char="•"/>
            </a:pPr>
            <a:r>
              <a:rPr lang="en-US" sz="1200" b="1" dirty="0">
                <a:solidFill>
                  <a:srgbClr val="1E293B"/>
                </a:solidFill>
                <a:latin typeface="Calibri" pitchFamily="34" charset="0"/>
                <a:ea typeface="Calibri" pitchFamily="34" charset="-122"/>
                <a:cs typeface="Calibri" pitchFamily="34" charset="-120"/>
              </a:rPr>
              <a:t>Objective: </a:t>
            </a:r>
            <a:r>
              <a:rPr lang="en-US" sz="1200" dirty="0">
                <a:solidFill>
                  <a:srgbClr val="1E293B"/>
                </a:solidFill>
                <a:latin typeface="Calibri" pitchFamily="34" charset="0"/>
                <a:ea typeface="Calibri" pitchFamily="34" charset="-122"/>
                <a:cs typeface="Calibri" pitchFamily="34" charset="-120"/>
              </a:rPr>
              <a:t>Track stock transactions (barcode scanning) and warehouse capacity.</a:t>
            </a:r>
            <a:endParaRPr lang="en-US" sz="1200" dirty="0"/>
          </a:p>
          <a:p>
            <a:pPr marL="177800" indent="-177800">
              <a:spcAft>
                <a:spcPts val="500"/>
              </a:spcAft>
              <a:buSzPct val="100000"/>
              <a:buChar char="•"/>
            </a:pPr>
            <a:r>
              <a:rPr lang="en-US" sz="1200" b="1" dirty="0">
                <a:solidFill>
                  <a:srgbClr val="1E293B"/>
                </a:solidFill>
                <a:latin typeface="Calibri" pitchFamily="34" charset="0"/>
                <a:ea typeface="Calibri" pitchFamily="34" charset="-122"/>
                <a:cs typeface="Calibri" pitchFamily="34" charset="-120"/>
              </a:rPr>
              <a:t>Objective: </a:t>
            </a:r>
            <a:r>
              <a:rPr lang="en-US" sz="1200" dirty="0">
                <a:solidFill>
                  <a:srgbClr val="1E293B"/>
                </a:solidFill>
                <a:latin typeface="Calibri" pitchFamily="34" charset="0"/>
                <a:ea typeface="Calibri" pitchFamily="34" charset="-122"/>
                <a:cs typeface="Calibri" pitchFamily="34" charset="-120"/>
              </a:rPr>
              <a:t>Optimize product slotting using DSA techniques.</a:t>
            </a:r>
            <a:endParaRPr lang="en-US" sz="1200" dirty="0"/>
          </a:p>
          <a:p>
            <a:pPr marL="177800" indent="-177800">
              <a:spcAft>
                <a:spcPts val="500"/>
              </a:spcAft>
              <a:buSzPct val="100000"/>
              <a:buChar char="•"/>
            </a:pPr>
            <a:r>
              <a:rPr lang="en-US" sz="1200" b="1" dirty="0">
                <a:solidFill>
                  <a:srgbClr val="1E293B"/>
                </a:solidFill>
                <a:latin typeface="Calibri" pitchFamily="34" charset="0"/>
                <a:ea typeface="Calibri" pitchFamily="34" charset="-122"/>
                <a:cs typeface="Calibri" pitchFamily="34" charset="-120"/>
              </a:rPr>
              <a:t>Scope: </a:t>
            </a:r>
            <a:r>
              <a:rPr lang="en-US" sz="1200" dirty="0">
                <a:solidFill>
                  <a:srgbClr val="1E293B"/>
                </a:solidFill>
                <a:latin typeface="Calibri" pitchFamily="34" charset="0"/>
                <a:ea typeface="Calibri" pitchFamily="34" charset="-122"/>
                <a:cs typeface="Calibri" pitchFamily="34" charset="-120"/>
              </a:rPr>
              <a:t>Warehouse administrators and staff.</a:t>
            </a:r>
            <a:endParaRPr lang="en-US" sz="1200" dirty="0"/>
          </a:p>
        </p:txBody>
      </p:sp>
      <p:sp>
        <p:nvSpPr>
          <p:cNvPr id="13" name="Compare card"/>
          <p:cNvSpPr/>
          <p:nvPr/>
        </p:nvSpPr>
        <p:spPr>
          <a:xfrm>
            <a:off x="365760" y="7223760"/>
            <a:ext cx="4846320" cy="2834640"/>
          </a:xfrm>
          <a:prstGeom prst="roundRect">
            <a:avLst>
              <a:gd name="adj" fmla="val 2581"/>
            </a:avLst>
          </a:prstGeom>
          <a:solidFill>
            <a:srgbClr val="DBEAFE"/>
          </a:solidFill>
          <a:ln w="15875">
            <a:solidFill>
              <a:srgbClr val="60A5FA"/>
            </a:solidFill>
            <a:prstDash val="solid"/>
          </a:ln>
        </p:spPr>
      </p:sp>
      <p:sp>
        <p:nvSpPr>
          <p:cNvPr id="14" name="Compare title"/>
          <p:cNvSpPr txBox="1"/>
          <p:nvPr/>
        </p:nvSpPr>
        <p:spPr>
          <a:xfrm>
            <a:off x="548640" y="7315200"/>
            <a:ext cx="4480560" cy="365760"/>
          </a:xfrm>
          <a:prstGeom prst="rect">
            <a:avLst/>
          </a:prstGeom>
          <a:noFill/>
          <a:ln/>
        </p:spPr>
        <p:txBody>
          <a:bodyPr wrap="square" lIns="0" tIns="0" rIns="0" bIns="0" rtlCol="0" anchor="ctr"/>
          <a:lstStyle/>
          <a:p>
            <a:pPr marL="0" indent="0">
              <a:buNone/>
            </a:pPr>
            <a:r>
              <a:rPr lang="en-US" sz="1600" b="1" dirty="0">
                <a:solidFill>
                  <a:srgbClr val="1D4ED8"/>
                </a:solidFill>
                <a:latin typeface="Calibri" pitchFamily="34" charset="0"/>
                <a:ea typeface="Calibri" pitchFamily="34" charset="-122"/>
                <a:cs typeface="Calibri" pitchFamily="34" charset="-120"/>
              </a:rPr>
              <a:t>Existing vs Proposed System</a:t>
            </a:r>
            <a:endParaRPr lang="en-US" sz="1600" dirty="0"/>
          </a:p>
        </p:txBody>
      </p:sp>
      <p:graphicFrame>
        <p:nvGraphicFramePr>
          <p:cNvPr id="15" name="Comparison table"/>
          <p:cNvGraphicFramePr>
            <a:graphicFrameLocks noGrp="1"/>
          </p:cNvGraphicFramePr>
          <p:nvPr>
            <p:extLst>
              <p:ext uri="{D42A27DB-BD31-4B8C-83A1-F6EECF244321}">
                <p14:modId xmlns:p14="http://schemas.microsoft.com/office/powerpoint/2010/main" val="1579011935"/>
              </p:ext>
            </p:extLst>
          </p:nvPr>
        </p:nvGraphicFramePr>
        <p:xfrm>
          <a:off x="548640" y="7772400"/>
          <a:ext cx="4480560" cy="2249424"/>
        </p:xfrm>
        <a:graphic>
          <a:graphicData uri="http://schemas.openxmlformats.org/drawingml/2006/table">
            <a:tbl>
              <a:tblPr/>
              <a:tblGrid>
                <a:gridCol w="11887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7490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Existing System</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Proposed System</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374904">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Inventory</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Registers, sheets</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Centralized database</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4904">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Stock movement</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Unrecorded, delayed</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Logged transactions</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4904">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Placement</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Fixed / ad hoc</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Demand-based slotting</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4904">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Retrieval</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Long search, travel</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Shorter pick paths</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4904">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Access</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Open, shared</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Auth + role-based</a:t>
                      </a:r>
                      <a:endParaRPr lang="en-US" sz="1100" dirty="0">
                        <a:latin typeface="Calibri" charset="0"/>
                        <a:ea typeface="Calibri" charset="0"/>
                        <a:cs typeface="Calibri" charset="0"/>
                      </a:endParaRPr>
                    </a:p>
                  </a:txBody>
                  <a:tcPr marL="64008" marR="64008" marT="0" marB="0" anchor="ctr">
                    <a:lnL w="9525" cap="flat" cmpd="sng" algn="ctr">
                      <a:solidFill>
                        <a:srgbClr val="93C5FD"/>
                      </a:solidFill>
                      <a:prstDash val="solid"/>
                      <a:round/>
                      <a:headEnd type="none" w="med" len="med"/>
                      <a:tailEnd type="none" w="med" len="med"/>
                    </a:lnL>
                    <a:lnR w="9525" cap="flat" cmpd="sng" algn="ctr">
                      <a:solidFill>
                        <a:srgbClr val="93C5FD"/>
                      </a:solidFill>
                      <a:prstDash val="solid"/>
                      <a:round/>
                      <a:headEnd type="none" w="med" len="med"/>
                      <a:tailEnd type="none" w="med" len="med"/>
                    </a:lnR>
                    <a:lnT w="9525" cap="flat" cmpd="sng" algn="ctr">
                      <a:solidFill>
                        <a:srgbClr val="93C5FD"/>
                      </a:solidFill>
                      <a:prstDash val="solid"/>
                      <a:round/>
                      <a:headEnd type="none" w="med" len="med"/>
                      <a:tailEnd type="none" w="med" len="med"/>
                    </a:lnT>
                    <a:lnB w="9525" cap="flat" cmpd="sng" algn="ctr">
                      <a:solidFill>
                        <a:srgbClr val="93C5F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6" name="Feasibility card"/>
          <p:cNvSpPr/>
          <p:nvPr/>
        </p:nvSpPr>
        <p:spPr>
          <a:xfrm>
            <a:off x="365760" y="10241280"/>
            <a:ext cx="4846320" cy="2743200"/>
          </a:xfrm>
          <a:prstGeom prst="roundRect">
            <a:avLst>
              <a:gd name="adj" fmla="val 2667"/>
            </a:avLst>
          </a:prstGeom>
          <a:solidFill>
            <a:srgbClr val="DCFCE7"/>
          </a:solidFill>
          <a:ln w="15875">
            <a:solidFill>
              <a:srgbClr val="4ADE80"/>
            </a:solidFill>
            <a:prstDash val="solid"/>
          </a:ln>
        </p:spPr>
      </p:sp>
      <p:sp>
        <p:nvSpPr>
          <p:cNvPr id="17" name="Feasibility title"/>
          <p:cNvSpPr txBox="1"/>
          <p:nvPr/>
        </p:nvSpPr>
        <p:spPr>
          <a:xfrm>
            <a:off x="548640" y="10332720"/>
            <a:ext cx="4480560" cy="365760"/>
          </a:xfrm>
          <a:prstGeom prst="rect">
            <a:avLst/>
          </a:prstGeom>
          <a:noFill/>
          <a:ln/>
        </p:spPr>
        <p:txBody>
          <a:bodyPr wrap="square" lIns="0" tIns="0" rIns="0" bIns="0" rtlCol="0" anchor="ctr"/>
          <a:lstStyle/>
          <a:p>
            <a:pPr marL="0" indent="0">
              <a:buNone/>
            </a:pPr>
            <a:r>
              <a:rPr lang="en-US" sz="1600" b="1" dirty="0">
                <a:solidFill>
                  <a:srgbClr val="15803D"/>
                </a:solidFill>
                <a:latin typeface="Calibri" pitchFamily="34" charset="0"/>
                <a:ea typeface="Calibri" pitchFamily="34" charset="-122"/>
                <a:cs typeface="Calibri" pitchFamily="34" charset="-120"/>
              </a:rPr>
              <a:t>Feasibility Study</a:t>
            </a:r>
            <a:endParaRPr lang="en-US" sz="1600" dirty="0"/>
          </a:p>
        </p:txBody>
      </p:sp>
      <p:sp>
        <p:nvSpPr>
          <p:cNvPr id="18" name="Feasibility body"/>
          <p:cNvSpPr txBox="1"/>
          <p:nvPr/>
        </p:nvSpPr>
        <p:spPr>
          <a:xfrm>
            <a:off x="548640" y="10744200"/>
            <a:ext cx="4480560" cy="2148840"/>
          </a:xfrm>
          <a:prstGeom prst="rect">
            <a:avLst/>
          </a:prstGeom>
          <a:noFill/>
          <a:ln/>
        </p:spPr>
        <p:txBody>
          <a:bodyPr wrap="square" lIns="0" tIns="0" rIns="0" bIns="0" rtlCol="0" anchor="t"/>
          <a:lstStyle/>
          <a:p>
            <a:pPr marL="177800" indent="-177800">
              <a:spcAft>
                <a:spcPts val="500"/>
              </a:spcAft>
              <a:buSzPct val="100000"/>
              <a:buChar char="•"/>
            </a:pPr>
            <a:r>
              <a:rPr lang="en-US" sz="1300" b="1" dirty="0">
                <a:solidFill>
                  <a:srgbClr val="1E293B"/>
                </a:solidFill>
                <a:latin typeface="Calibri" pitchFamily="34" charset="0"/>
                <a:ea typeface="Calibri" pitchFamily="34" charset="-122"/>
                <a:cs typeface="Calibri" pitchFamily="34" charset="-120"/>
              </a:rPr>
              <a:t>Technical: </a:t>
            </a:r>
            <a:r>
              <a:rPr lang="en-US" sz="1300" dirty="0">
                <a:solidFill>
                  <a:srgbClr val="1E293B"/>
                </a:solidFill>
                <a:latin typeface="Calibri" pitchFamily="34" charset="0"/>
                <a:ea typeface="Calibri" pitchFamily="34" charset="-122"/>
                <a:cs typeface="Calibri" pitchFamily="34" charset="-120"/>
              </a:rPr>
              <a:t>FastAPI, MySQL and a JavaScript frontend run in any browser.</a:t>
            </a:r>
            <a:endParaRPr lang="en-US" sz="1300" dirty="0"/>
          </a:p>
          <a:p>
            <a:pPr marL="177800" indent="-177800">
              <a:spcAft>
                <a:spcPts val="500"/>
              </a:spcAft>
              <a:buSzPct val="100000"/>
              <a:buChar char="•"/>
            </a:pPr>
            <a:r>
              <a:rPr lang="en-US" sz="1300" b="1" dirty="0">
                <a:solidFill>
                  <a:srgbClr val="1E293B"/>
                </a:solidFill>
                <a:latin typeface="Calibri" pitchFamily="34" charset="0"/>
                <a:ea typeface="Calibri" pitchFamily="34" charset="-122"/>
                <a:cs typeface="Calibri" pitchFamily="34" charset="-120"/>
              </a:rPr>
              <a:t>Economic: </a:t>
            </a:r>
            <a:r>
              <a:rPr lang="en-US" sz="1300" dirty="0">
                <a:solidFill>
                  <a:srgbClr val="1E293B"/>
                </a:solidFill>
                <a:latin typeface="Calibri" pitchFamily="34" charset="0"/>
                <a:ea typeface="Calibri" pitchFamily="34" charset="-122"/>
                <a:cs typeface="Calibri" pitchFamily="34" charset="-120"/>
              </a:rPr>
              <a:t>Open-source tools keep the prototype low cost.</a:t>
            </a:r>
            <a:endParaRPr lang="en-US" sz="1300" dirty="0"/>
          </a:p>
          <a:p>
            <a:pPr marL="177800" indent="-177800">
              <a:spcAft>
                <a:spcPts val="500"/>
              </a:spcAft>
              <a:buSzPct val="100000"/>
              <a:buChar char="•"/>
            </a:pPr>
            <a:r>
              <a:rPr lang="en-US" sz="1300" b="1" dirty="0">
                <a:solidFill>
                  <a:srgbClr val="1E293B"/>
                </a:solidFill>
                <a:latin typeface="Calibri" pitchFamily="34" charset="0"/>
                <a:ea typeface="Calibri" pitchFamily="34" charset="-122"/>
                <a:cs typeface="Calibri" pitchFamily="34" charset="-120"/>
              </a:rPr>
              <a:t>Operational: </a:t>
            </a:r>
            <a:r>
              <a:rPr lang="en-US" sz="1300" dirty="0">
                <a:solidFill>
                  <a:srgbClr val="1E293B"/>
                </a:solidFill>
                <a:latin typeface="Calibri" pitchFamily="34" charset="0"/>
                <a:ea typeface="Calibri" pitchFamily="34" charset="-122"/>
                <a:cs typeface="Calibri" pitchFamily="34" charset="-120"/>
              </a:rPr>
              <a:t>Role-based access gives staff and admins simple, secure workflows.</a:t>
            </a:r>
            <a:endParaRPr lang="en-US" sz="1300" dirty="0"/>
          </a:p>
          <a:p>
            <a:pPr marL="177800" indent="-177800">
              <a:spcAft>
                <a:spcPts val="500"/>
              </a:spcAft>
              <a:buSzPct val="100000"/>
              <a:buChar char="•"/>
            </a:pPr>
            <a:r>
              <a:rPr lang="en-US" sz="1300" b="1" dirty="0">
                <a:solidFill>
                  <a:srgbClr val="1E293B"/>
                </a:solidFill>
                <a:latin typeface="Calibri" pitchFamily="34" charset="0"/>
                <a:ea typeface="Calibri" pitchFamily="34" charset="-122"/>
                <a:cs typeface="Calibri" pitchFamily="34" charset="-120"/>
              </a:rPr>
              <a:t>Schedule: </a:t>
            </a:r>
            <a:r>
              <a:rPr lang="en-US" sz="1300" dirty="0">
                <a:solidFill>
                  <a:srgbClr val="1E293B"/>
                </a:solidFill>
                <a:latin typeface="Calibri" pitchFamily="34" charset="0"/>
                <a:ea typeface="Calibri" pitchFamily="34" charset="-122"/>
                <a:cs typeface="Calibri" pitchFamily="34" charset="-120"/>
              </a:rPr>
              <a:t>Core modules and slotting logic built and reviewed in stages within the semester.</a:t>
            </a:r>
            <a:endParaRPr lang="en-US" sz="1300" dirty="0"/>
          </a:p>
        </p:txBody>
      </p:sp>
      <p:sp>
        <p:nvSpPr>
          <p:cNvPr id="19" name="Tools card"/>
          <p:cNvSpPr/>
          <p:nvPr/>
        </p:nvSpPr>
        <p:spPr>
          <a:xfrm>
            <a:off x="5440680" y="2103120"/>
            <a:ext cx="4887468" cy="2377440"/>
          </a:xfrm>
          <a:prstGeom prst="roundRect">
            <a:avLst>
              <a:gd name="adj" fmla="val 3077"/>
            </a:avLst>
          </a:prstGeom>
          <a:solidFill>
            <a:srgbClr val="E0F2FE"/>
          </a:solidFill>
          <a:ln w="15875">
            <a:solidFill>
              <a:srgbClr val="38BDF8"/>
            </a:solidFill>
            <a:prstDash val="solid"/>
          </a:ln>
        </p:spPr>
      </p:sp>
      <p:sp>
        <p:nvSpPr>
          <p:cNvPr id="20" name="Tools title"/>
          <p:cNvSpPr txBox="1"/>
          <p:nvPr/>
        </p:nvSpPr>
        <p:spPr>
          <a:xfrm>
            <a:off x="5623560" y="2194560"/>
            <a:ext cx="4521708" cy="365760"/>
          </a:xfrm>
          <a:prstGeom prst="rect">
            <a:avLst/>
          </a:prstGeom>
          <a:noFill/>
          <a:ln/>
        </p:spPr>
        <p:txBody>
          <a:bodyPr wrap="square" lIns="0" tIns="0" rIns="0" bIns="0" rtlCol="0" anchor="ctr"/>
          <a:lstStyle/>
          <a:p>
            <a:pPr marL="0" indent="0">
              <a:buNone/>
            </a:pPr>
            <a:r>
              <a:rPr lang="en-US" sz="1600" b="1" dirty="0">
                <a:solidFill>
                  <a:srgbClr val="0369A1"/>
                </a:solidFill>
                <a:latin typeface="Calibri" pitchFamily="34" charset="0"/>
                <a:ea typeface="Calibri" pitchFamily="34" charset="-122"/>
                <a:cs typeface="Calibri" pitchFamily="34" charset="-120"/>
              </a:rPr>
              <a:t>Tools &amp; Technologies</a:t>
            </a:r>
            <a:endParaRPr lang="en-US" sz="1600" dirty="0"/>
          </a:p>
        </p:txBody>
      </p:sp>
      <p:sp>
        <p:nvSpPr>
          <p:cNvPr id="21" name="Tools body"/>
          <p:cNvSpPr txBox="1"/>
          <p:nvPr/>
        </p:nvSpPr>
        <p:spPr>
          <a:xfrm>
            <a:off x="5623560" y="2606040"/>
            <a:ext cx="4521708" cy="17830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Front-End: HTML, CSS, JavaScript and Chart.js</a:t>
            </a:r>
            <a:endParaRPr lang="en-US" sz="1300" dirty="0"/>
          </a:p>
          <a:p>
            <a:pPr marL="177800" indent="-1778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Back-End: Python FastAPI REST APIs</a:t>
            </a:r>
            <a:endParaRPr lang="en-US" sz="1300" dirty="0"/>
          </a:p>
          <a:p>
            <a:pPr marL="177800" indent="-1778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Database: MySQL</a:t>
            </a:r>
            <a:endParaRPr lang="en-US" sz="1300" dirty="0"/>
          </a:p>
          <a:p>
            <a:pPr marL="177800" indent="-1778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Security: JWT authentication and role-based access control</a:t>
            </a:r>
            <a:endParaRPr lang="en-US" sz="1300" dirty="0"/>
          </a:p>
          <a:p>
            <a:pPr marL="177800" indent="-1778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Integration: Barcode Scanner API</a:t>
            </a:r>
            <a:endParaRPr lang="en-US" sz="1300" dirty="0"/>
          </a:p>
          <a:p>
            <a:pPr marL="177800" indent="-1778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Algorithms: Sorting, priority queues, greedy</a:t>
            </a:r>
            <a:endParaRPr lang="en-US" sz="1300" dirty="0"/>
          </a:p>
        </p:txBody>
      </p:sp>
      <p:sp>
        <p:nvSpPr>
          <p:cNvPr id="22" name="Arch card"/>
          <p:cNvSpPr/>
          <p:nvPr/>
        </p:nvSpPr>
        <p:spPr>
          <a:xfrm>
            <a:off x="5440680" y="4663440"/>
            <a:ext cx="4887468" cy="2560320"/>
          </a:xfrm>
          <a:prstGeom prst="roundRect">
            <a:avLst>
              <a:gd name="adj" fmla="val 2857"/>
            </a:avLst>
          </a:prstGeom>
          <a:solidFill>
            <a:srgbClr val="EDE9FE"/>
          </a:solidFill>
          <a:ln w="15875">
            <a:solidFill>
              <a:srgbClr val="A78BFA"/>
            </a:solidFill>
            <a:prstDash val="solid"/>
          </a:ln>
        </p:spPr>
      </p:sp>
      <p:sp>
        <p:nvSpPr>
          <p:cNvPr id="23" name="Arch title"/>
          <p:cNvSpPr txBox="1"/>
          <p:nvPr/>
        </p:nvSpPr>
        <p:spPr>
          <a:xfrm>
            <a:off x="5623560" y="4754880"/>
            <a:ext cx="4521708" cy="365760"/>
          </a:xfrm>
          <a:prstGeom prst="rect">
            <a:avLst/>
          </a:prstGeom>
          <a:noFill/>
          <a:ln/>
        </p:spPr>
        <p:txBody>
          <a:bodyPr wrap="square" lIns="0" tIns="0" rIns="0" bIns="0" rtlCol="0" anchor="ctr"/>
          <a:lstStyle/>
          <a:p>
            <a:pPr marL="0" indent="0">
              <a:buNone/>
            </a:pPr>
            <a:r>
              <a:rPr lang="en-US" sz="1600" b="1" dirty="0">
                <a:solidFill>
                  <a:srgbClr val="6D28D9"/>
                </a:solidFill>
                <a:latin typeface="Calibri" pitchFamily="34" charset="0"/>
                <a:ea typeface="Calibri" pitchFamily="34" charset="-122"/>
                <a:cs typeface="Calibri" pitchFamily="34" charset="-120"/>
              </a:rPr>
              <a:t>System Architecture</a:t>
            </a:r>
            <a:endParaRPr lang="en-US" sz="1600" dirty="0"/>
          </a:p>
        </p:txBody>
      </p:sp>
      <p:sp>
        <p:nvSpPr>
          <p:cNvPr id="24" name="Arch frame"/>
          <p:cNvSpPr/>
          <p:nvPr/>
        </p:nvSpPr>
        <p:spPr>
          <a:xfrm>
            <a:off x="5623560" y="5138928"/>
            <a:ext cx="4521708" cy="1965960"/>
          </a:xfrm>
          <a:prstGeom prst="rect">
            <a:avLst/>
          </a:prstGeom>
          <a:ln w="12700">
            <a:solidFill>
              <a:srgbClr val="6D28D9"/>
            </a:solidFill>
            <a:prstDash val="dash"/>
          </a:ln>
        </p:spPr>
      </p:sp>
      <p:sp>
        <p:nvSpPr>
          <p:cNvPr id="25" name="Arch users"/>
          <p:cNvSpPr/>
          <p:nvPr/>
        </p:nvSpPr>
        <p:spPr>
          <a:xfrm>
            <a:off x="5806440" y="5230368"/>
            <a:ext cx="4155948" cy="310896"/>
          </a:xfrm>
          <a:prstGeom prst="rect">
            <a:avLst/>
          </a:prstGeom>
          <a:solidFill>
            <a:srgbClr val="FFFFFF"/>
          </a:solidFill>
          <a:ln w="12700">
            <a:solidFill>
              <a:srgbClr val="6D28D9"/>
            </a:solidFill>
          </a:ln>
        </p:spPr>
        <p:txBody>
          <a:bodyPr wrap="square" lIns="381" tIns="381" rIns="381" bIns="381"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Warehouse Admin / Staff</a:t>
            </a:r>
            <a:endParaRPr lang="en-US" sz="1050" dirty="0"/>
          </a:p>
        </p:txBody>
      </p:sp>
      <p:sp>
        <p:nvSpPr>
          <p:cNvPr id="26" name="Shape 22"/>
          <p:cNvSpPr/>
          <p:nvPr/>
        </p:nvSpPr>
        <p:spPr>
          <a:xfrm>
            <a:off x="7884414" y="5541264"/>
            <a:ext cx="0" cy="91440"/>
          </a:xfrm>
          <a:prstGeom prst="line">
            <a:avLst/>
          </a:prstGeom>
          <a:noFill/>
          <a:ln w="15875">
            <a:solidFill>
              <a:srgbClr val="6D28D9"/>
            </a:solidFill>
            <a:prstDash val="solid"/>
            <a:tailEnd type="triangle"/>
          </a:ln>
        </p:spPr>
      </p:sp>
      <p:sp>
        <p:nvSpPr>
          <p:cNvPr id="27" name="Arch frontend"/>
          <p:cNvSpPr/>
          <p:nvPr/>
        </p:nvSpPr>
        <p:spPr>
          <a:xfrm>
            <a:off x="5806440" y="5632704"/>
            <a:ext cx="4155948" cy="310896"/>
          </a:xfrm>
          <a:prstGeom prst="rect">
            <a:avLst/>
          </a:prstGeom>
          <a:solidFill>
            <a:srgbClr val="FFFFFF"/>
          </a:solidFill>
          <a:ln w="12700">
            <a:solidFill>
              <a:srgbClr val="6D28D9"/>
            </a:solidFill>
          </a:ln>
        </p:spPr>
        <p:txBody>
          <a:bodyPr wrap="square" lIns="381" tIns="381" rIns="381" bIns="381"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HTML + CSS + JavaScript frontend</a:t>
            </a:r>
            <a:endParaRPr lang="en-US" sz="1050" dirty="0"/>
          </a:p>
        </p:txBody>
      </p:sp>
      <p:sp>
        <p:nvSpPr>
          <p:cNvPr id="28" name="Shape 24"/>
          <p:cNvSpPr/>
          <p:nvPr/>
        </p:nvSpPr>
        <p:spPr>
          <a:xfrm>
            <a:off x="7884414" y="5943600"/>
            <a:ext cx="0" cy="91440"/>
          </a:xfrm>
          <a:prstGeom prst="line">
            <a:avLst/>
          </a:prstGeom>
          <a:noFill/>
          <a:ln w="15875">
            <a:solidFill>
              <a:srgbClr val="6D28D9"/>
            </a:solidFill>
            <a:prstDash val="solid"/>
            <a:tailEnd type="triangle"/>
          </a:ln>
        </p:spPr>
      </p:sp>
      <p:sp>
        <p:nvSpPr>
          <p:cNvPr id="29" name="Arch API"/>
          <p:cNvSpPr/>
          <p:nvPr/>
        </p:nvSpPr>
        <p:spPr>
          <a:xfrm>
            <a:off x="5806440" y="6035040"/>
            <a:ext cx="4155948" cy="457200"/>
          </a:xfrm>
          <a:prstGeom prst="rect">
            <a:avLst/>
          </a:prstGeom>
          <a:solidFill>
            <a:srgbClr val="FFFFFF"/>
          </a:solidFill>
          <a:ln w="12700">
            <a:solidFill>
              <a:srgbClr val="6D28D9"/>
            </a:solidFill>
          </a:ln>
        </p:spPr>
        <p:txBody>
          <a:bodyPr wrap="square" lIns="381" tIns="381" rIns="381" bIns="381"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FastAPI REST APIs</a:t>
            </a:r>
            <a:endParaRPr lang="en-US" sz="1050" dirty="0"/>
          </a:p>
          <a:p>
            <a:pPr marL="0" indent="0" algn="ctr">
              <a:buNone/>
            </a:pPr>
            <a:r>
              <a:rPr lang="en-US" sz="1050" dirty="0">
                <a:solidFill>
                  <a:srgbClr val="1E293B"/>
                </a:solidFill>
                <a:latin typeface="Calibri" pitchFamily="34" charset="0"/>
                <a:ea typeface="Calibri" pitchFamily="34" charset="-122"/>
                <a:cs typeface="Calibri" pitchFamily="34" charset="-120"/>
              </a:rPr>
              <a:t>Authentication and role-based access control</a:t>
            </a:r>
            <a:endParaRPr lang="en-US" sz="1050" dirty="0"/>
          </a:p>
        </p:txBody>
      </p:sp>
      <p:sp>
        <p:nvSpPr>
          <p:cNvPr id="30" name="Shape 26"/>
          <p:cNvSpPr/>
          <p:nvPr/>
        </p:nvSpPr>
        <p:spPr>
          <a:xfrm>
            <a:off x="7061454" y="6492240"/>
            <a:ext cx="0" cy="164592"/>
          </a:xfrm>
          <a:prstGeom prst="line">
            <a:avLst/>
          </a:prstGeom>
          <a:noFill/>
          <a:ln w="15875">
            <a:solidFill>
              <a:srgbClr val="6D28D9"/>
            </a:solidFill>
            <a:prstDash val="solid"/>
            <a:tailEnd type="triangle"/>
          </a:ln>
        </p:spPr>
      </p:sp>
      <p:sp>
        <p:nvSpPr>
          <p:cNvPr id="31" name="Shape 27"/>
          <p:cNvSpPr/>
          <p:nvPr/>
        </p:nvSpPr>
        <p:spPr>
          <a:xfrm>
            <a:off x="8707374" y="6492240"/>
            <a:ext cx="0" cy="164592"/>
          </a:xfrm>
          <a:prstGeom prst="line">
            <a:avLst/>
          </a:prstGeom>
          <a:noFill/>
          <a:ln w="15875">
            <a:solidFill>
              <a:srgbClr val="6D28D9"/>
            </a:solidFill>
            <a:prstDash val="solid"/>
            <a:tailEnd type="triangle"/>
          </a:ln>
        </p:spPr>
      </p:sp>
      <p:sp>
        <p:nvSpPr>
          <p:cNvPr id="32" name="Arch DB"/>
          <p:cNvSpPr/>
          <p:nvPr/>
        </p:nvSpPr>
        <p:spPr>
          <a:xfrm>
            <a:off x="5806440" y="6656832"/>
            <a:ext cx="1920240" cy="365760"/>
          </a:xfrm>
          <a:prstGeom prst="rect">
            <a:avLst/>
          </a:prstGeom>
          <a:solidFill>
            <a:srgbClr val="FFFFFF"/>
          </a:solidFill>
          <a:ln w="12700">
            <a:solidFill>
              <a:srgbClr val="6D28D9"/>
            </a:solidFill>
          </a:ln>
        </p:spPr>
        <p:txBody>
          <a:bodyPr wrap="square" lIns="381" tIns="381" rIns="381" bIns="381"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MySQL database</a:t>
            </a:r>
            <a:endParaRPr lang="en-US" sz="1050" dirty="0"/>
          </a:p>
        </p:txBody>
      </p:sp>
      <p:sp>
        <p:nvSpPr>
          <p:cNvPr id="33" name="Arch engine"/>
          <p:cNvSpPr/>
          <p:nvPr/>
        </p:nvSpPr>
        <p:spPr>
          <a:xfrm>
            <a:off x="8042148" y="6656832"/>
            <a:ext cx="1920240" cy="365760"/>
          </a:xfrm>
          <a:prstGeom prst="rect">
            <a:avLst/>
          </a:prstGeom>
          <a:solidFill>
            <a:srgbClr val="FFFFFF"/>
          </a:solidFill>
          <a:ln w="12700">
            <a:solidFill>
              <a:srgbClr val="6D28D9"/>
            </a:solidFill>
          </a:ln>
        </p:spPr>
        <p:txBody>
          <a:bodyPr wrap="square" lIns="381" tIns="381" rIns="381" bIns="381"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Slotting engine (DSA)</a:t>
            </a:r>
            <a:endParaRPr lang="en-US" sz="1050" dirty="0"/>
          </a:p>
        </p:txBody>
      </p:sp>
      <p:sp>
        <p:nvSpPr>
          <p:cNvPr id="34" name="ER card"/>
          <p:cNvSpPr/>
          <p:nvPr/>
        </p:nvSpPr>
        <p:spPr>
          <a:xfrm>
            <a:off x="5440680" y="7406640"/>
            <a:ext cx="4887468" cy="2743200"/>
          </a:xfrm>
          <a:prstGeom prst="roundRect">
            <a:avLst>
              <a:gd name="adj" fmla="val 2667"/>
            </a:avLst>
          </a:prstGeom>
          <a:solidFill>
            <a:srgbClr val="FFEDD5"/>
          </a:solidFill>
          <a:ln w="15875">
            <a:solidFill>
              <a:srgbClr val="FB923C"/>
            </a:solidFill>
            <a:prstDash val="solid"/>
          </a:ln>
        </p:spPr>
      </p:sp>
      <p:sp>
        <p:nvSpPr>
          <p:cNvPr id="35" name="ER title"/>
          <p:cNvSpPr txBox="1"/>
          <p:nvPr/>
        </p:nvSpPr>
        <p:spPr>
          <a:xfrm>
            <a:off x="5623560" y="7498080"/>
            <a:ext cx="4521708" cy="365760"/>
          </a:xfrm>
          <a:prstGeom prst="rect">
            <a:avLst/>
          </a:prstGeom>
          <a:noFill/>
          <a:ln/>
        </p:spPr>
        <p:txBody>
          <a:bodyPr wrap="square" lIns="0" tIns="0" rIns="0" bIns="0" rtlCol="0" anchor="ctr"/>
          <a:lstStyle/>
          <a:p>
            <a:pPr marL="0" indent="0">
              <a:buNone/>
            </a:pPr>
            <a:r>
              <a:rPr lang="en-US" sz="1600" b="1" dirty="0">
                <a:solidFill>
                  <a:srgbClr val="C2410C"/>
                </a:solidFill>
                <a:latin typeface="Calibri" pitchFamily="34" charset="0"/>
                <a:ea typeface="Calibri" pitchFamily="34" charset="-122"/>
                <a:cs typeface="Calibri" pitchFamily="34" charset="-120"/>
              </a:rPr>
              <a:t>ER Diagram &amp; Database Design</a:t>
            </a:r>
            <a:endParaRPr lang="en-US" sz="1600" dirty="0"/>
          </a:p>
        </p:txBody>
      </p:sp>
      <p:sp>
        <p:nvSpPr>
          <p:cNvPr id="36" name="ER frame"/>
          <p:cNvSpPr/>
          <p:nvPr/>
        </p:nvSpPr>
        <p:spPr>
          <a:xfrm>
            <a:off x="5623560" y="7882128"/>
            <a:ext cx="4521708" cy="1920240"/>
          </a:xfrm>
          <a:prstGeom prst="rect">
            <a:avLst/>
          </a:prstGeom>
          <a:ln w="12700">
            <a:solidFill>
              <a:srgbClr val="C2410C"/>
            </a:solidFill>
            <a:prstDash val="dash"/>
          </a:ln>
        </p:spPr>
      </p:sp>
      <p:sp>
        <p:nvSpPr>
          <p:cNvPr id="37" name="ER suppliers"/>
          <p:cNvSpPr/>
          <p:nvPr/>
        </p:nvSpPr>
        <p:spPr>
          <a:xfrm>
            <a:off x="5733288" y="8028432"/>
            <a:ext cx="1261872" cy="475488"/>
          </a:xfrm>
          <a:prstGeom prst="rect">
            <a:avLst/>
          </a:prstGeom>
          <a:solidFill>
            <a:srgbClr val="FFFFFF"/>
          </a:solidFill>
          <a:ln w="12700">
            <a:solidFill>
              <a:srgbClr val="C2410C"/>
            </a:solidFill>
          </a:ln>
        </p:spPr>
        <p:txBody>
          <a:bodyPr wrap="square" lIns="381" tIns="381" rIns="381" bIns="381" rtlCol="0" anchor="ctr"/>
          <a:lstStyle/>
          <a:p>
            <a:pPr marL="0" indent="0" algn="ctr">
              <a:buNone/>
            </a:pPr>
            <a:r>
              <a:rPr lang="en-US" sz="950" b="1" dirty="0">
                <a:solidFill>
                  <a:srgbClr val="1E293B"/>
                </a:solidFill>
                <a:latin typeface="Calibri" pitchFamily="34" charset="0"/>
                <a:ea typeface="Calibri" pitchFamily="34" charset="-122"/>
                <a:cs typeface="Calibri" pitchFamily="34" charset="-120"/>
              </a:rPr>
              <a:t>SUPPLIERS</a:t>
            </a:r>
            <a:endParaRPr lang="en-US" sz="1050" dirty="0"/>
          </a:p>
          <a:p>
            <a:pPr marL="0" indent="0" algn="ctr">
              <a:buNone/>
            </a:pPr>
            <a:r>
              <a:rPr lang="en-US" sz="800" dirty="0">
                <a:solidFill>
                  <a:srgbClr val="1E293B"/>
                </a:solidFill>
                <a:latin typeface="Calibri" pitchFamily="34" charset="0"/>
                <a:ea typeface="Calibri" pitchFamily="34" charset="-122"/>
                <a:cs typeface="Calibri" pitchFamily="34" charset="-120"/>
              </a:rPr>
              <a:t>PK id</a:t>
            </a:r>
            <a:endParaRPr lang="en-US" sz="1050" dirty="0"/>
          </a:p>
        </p:txBody>
      </p:sp>
      <p:sp>
        <p:nvSpPr>
          <p:cNvPr id="38" name="ER products"/>
          <p:cNvSpPr/>
          <p:nvPr/>
        </p:nvSpPr>
        <p:spPr>
          <a:xfrm>
            <a:off x="7253478" y="8028432"/>
            <a:ext cx="1261872" cy="475488"/>
          </a:xfrm>
          <a:prstGeom prst="rect">
            <a:avLst/>
          </a:prstGeom>
          <a:solidFill>
            <a:srgbClr val="FFFFFF"/>
          </a:solidFill>
          <a:ln w="12700">
            <a:solidFill>
              <a:srgbClr val="C2410C"/>
            </a:solidFill>
          </a:ln>
        </p:spPr>
        <p:txBody>
          <a:bodyPr wrap="square" lIns="381" tIns="381" rIns="381" bIns="381" rtlCol="0" anchor="ctr"/>
          <a:lstStyle/>
          <a:p>
            <a:pPr marL="0" indent="0" algn="ctr">
              <a:buNone/>
            </a:pPr>
            <a:r>
              <a:rPr lang="en-US" sz="950" b="1" dirty="0">
                <a:solidFill>
                  <a:srgbClr val="1E293B"/>
                </a:solidFill>
                <a:latin typeface="Calibri" pitchFamily="34" charset="0"/>
                <a:ea typeface="Calibri" pitchFamily="34" charset="-122"/>
                <a:cs typeface="Calibri" pitchFamily="34" charset="-120"/>
              </a:rPr>
              <a:t>PRODUCTS</a:t>
            </a:r>
            <a:endParaRPr lang="en-US" sz="1050" dirty="0"/>
          </a:p>
          <a:p>
            <a:pPr marL="0" indent="0" algn="ctr">
              <a:buNone/>
            </a:pPr>
            <a:r>
              <a:rPr lang="en-US" sz="800" dirty="0">
                <a:solidFill>
                  <a:srgbClr val="1E293B"/>
                </a:solidFill>
                <a:latin typeface="Calibri" pitchFamily="34" charset="0"/>
                <a:ea typeface="Calibri" pitchFamily="34" charset="-122"/>
                <a:cs typeface="Calibri" pitchFamily="34" charset="-120"/>
              </a:rPr>
              <a:t>PK id, FK supplier_id</a:t>
            </a:r>
            <a:endParaRPr lang="en-US" sz="1050" dirty="0"/>
          </a:p>
        </p:txBody>
      </p:sp>
      <p:sp>
        <p:nvSpPr>
          <p:cNvPr id="39" name="ER txns"/>
          <p:cNvSpPr/>
          <p:nvPr/>
        </p:nvSpPr>
        <p:spPr>
          <a:xfrm>
            <a:off x="8773668" y="8028432"/>
            <a:ext cx="1261872" cy="475488"/>
          </a:xfrm>
          <a:prstGeom prst="rect">
            <a:avLst/>
          </a:prstGeom>
          <a:solidFill>
            <a:srgbClr val="FFFFFF"/>
          </a:solidFill>
          <a:ln w="12700">
            <a:solidFill>
              <a:srgbClr val="C2410C"/>
            </a:solidFill>
          </a:ln>
        </p:spPr>
        <p:txBody>
          <a:bodyPr wrap="square" lIns="381" tIns="381" rIns="381" bIns="381" rtlCol="0" anchor="ctr"/>
          <a:lstStyle/>
          <a:p>
            <a:pPr marL="0" indent="0" algn="ctr">
              <a:buNone/>
            </a:pPr>
            <a:r>
              <a:rPr lang="en-US" sz="950" b="1" dirty="0">
                <a:solidFill>
                  <a:srgbClr val="1E293B"/>
                </a:solidFill>
                <a:latin typeface="Calibri" pitchFamily="34" charset="0"/>
                <a:ea typeface="Calibri" pitchFamily="34" charset="-122"/>
                <a:cs typeface="Calibri" pitchFamily="34" charset="-120"/>
              </a:rPr>
              <a:t>STOCK_TXNS</a:t>
            </a:r>
            <a:endParaRPr lang="en-US" sz="1050" dirty="0"/>
          </a:p>
          <a:p>
            <a:pPr marL="0" indent="0" algn="ctr">
              <a:buNone/>
            </a:pPr>
            <a:r>
              <a:rPr lang="en-US" sz="800" dirty="0">
                <a:solidFill>
                  <a:srgbClr val="1E293B"/>
                </a:solidFill>
                <a:latin typeface="Calibri" pitchFamily="34" charset="0"/>
                <a:ea typeface="Calibri" pitchFamily="34" charset="-122"/>
                <a:cs typeface="Calibri" pitchFamily="34" charset="-120"/>
              </a:rPr>
              <a:t>PK id, FK product_id</a:t>
            </a:r>
            <a:endParaRPr lang="en-US" sz="1050" dirty="0"/>
          </a:p>
        </p:txBody>
      </p:sp>
      <p:sp>
        <p:nvSpPr>
          <p:cNvPr id="40" name="ER warehouses"/>
          <p:cNvSpPr/>
          <p:nvPr/>
        </p:nvSpPr>
        <p:spPr>
          <a:xfrm>
            <a:off x="5733288" y="8942832"/>
            <a:ext cx="1261872" cy="475488"/>
          </a:xfrm>
          <a:prstGeom prst="rect">
            <a:avLst/>
          </a:prstGeom>
          <a:solidFill>
            <a:srgbClr val="FFFFFF"/>
          </a:solidFill>
          <a:ln w="12700">
            <a:solidFill>
              <a:srgbClr val="C2410C"/>
            </a:solidFill>
          </a:ln>
        </p:spPr>
        <p:txBody>
          <a:bodyPr wrap="square" lIns="381" tIns="381" rIns="381" bIns="381" rtlCol="0" anchor="ctr"/>
          <a:lstStyle/>
          <a:p>
            <a:pPr marL="0" indent="0" algn="ctr">
              <a:buNone/>
            </a:pPr>
            <a:r>
              <a:rPr lang="en-US" sz="950" b="1" dirty="0">
                <a:solidFill>
                  <a:srgbClr val="1E293B"/>
                </a:solidFill>
                <a:latin typeface="Calibri" pitchFamily="34" charset="0"/>
                <a:ea typeface="Calibri" pitchFamily="34" charset="-122"/>
                <a:cs typeface="Calibri" pitchFamily="34" charset="-120"/>
              </a:rPr>
              <a:t>WAREHOUSES</a:t>
            </a:r>
            <a:endParaRPr lang="en-US" sz="1050" dirty="0"/>
          </a:p>
          <a:p>
            <a:pPr marL="0" indent="0" algn="ctr">
              <a:buNone/>
            </a:pPr>
            <a:r>
              <a:rPr lang="en-US" sz="800" dirty="0">
                <a:solidFill>
                  <a:srgbClr val="1E293B"/>
                </a:solidFill>
                <a:latin typeface="Calibri" pitchFamily="34" charset="0"/>
                <a:ea typeface="Calibri" pitchFamily="34" charset="-122"/>
                <a:cs typeface="Calibri" pitchFamily="34" charset="-120"/>
              </a:rPr>
              <a:t>PK id</a:t>
            </a:r>
            <a:endParaRPr lang="en-US" sz="1050" dirty="0"/>
          </a:p>
        </p:txBody>
      </p:sp>
      <p:sp>
        <p:nvSpPr>
          <p:cNvPr id="41" name="ER wh stock"/>
          <p:cNvSpPr/>
          <p:nvPr/>
        </p:nvSpPr>
        <p:spPr>
          <a:xfrm>
            <a:off x="7253478" y="8942832"/>
            <a:ext cx="1261872" cy="475488"/>
          </a:xfrm>
          <a:prstGeom prst="rect">
            <a:avLst/>
          </a:prstGeom>
          <a:solidFill>
            <a:srgbClr val="FFFFFF"/>
          </a:solidFill>
          <a:ln w="12700">
            <a:solidFill>
              <a:srgbClr val="C2410C"/>
            </a:solidFill>
          </a:ln>
        </p:spPr>
        <p:txBody>
          <a:bodyPr wrap="square" lIns="381" tIns="381" rIns="381" bIns="381" rtlCol="0" anchor="ctr"/>
          <a:lstStyle/>
          <a:p>
            <a:pPr marL="0" indent="0" algn="ctr">
              <a:buNone/>
            </a:pPr>
            <a:r>
              <a:rPr lang="en-US" sz="950" b="1" dirty="0">
                <a:solidFill>
                  <a:srgbClr val="1E293B"/>
                </a:solidFill>
                <a:latin typeface="Calibri" pitchFamily="34" charset="0"/>
                <a:ea typeface="Calibri" pitchFamily="34" charset="-122"/>
                <a:cs typeface="Calibri" pitchFamily="34" charset="-120"/>
              </a:rPr>
              <a:t>WH_STOCK</a:t>
            </a:r>
            <a:endParaRPr lang="en-US" sz="1050" dirty="0"/>
          </a:p>
          <a:p>
            <a:pPr marL="0" indent="0" algn="ctr">
              <a:buNone/>
            </a:pPr>
            <a:r>
              <a:rPr lang="en-US" sz="800" dirty="0">
                <a:solidFill>
                  <a:srgbClr val="1E293B"/>
                </a:solidFill>
                <a:latin typeface="Calibri" pitchFamily="34" charset="0"/>
                <a:ea typeface="Calibri" pitchFamily="34" charset="-122"/>
                <a:cs typeface="Calibri" pitchFamily="34" charset="-120"/>
              </a:rPr>
              <a:t>FK warehouse_id, product_id</a:t>
            </a:r>
            <a:endParaRPr lang="en-US" sz="1050" dirty="0"/>
          </a:p>
        </p:txBody>
      </p:sp>
      <p:sp>
        <p:nvSpPr>
          <p:cNvPr id="42" name="ER staff"/>
          <p:cNvSpPr/>
          <p:nvPr/>
        </p:nvSpPr>
        <p:spPr>
          <a:xfrm>
            <a:off x="8773668" y="8942832"/>
            <a:ext cx="1261872" cy="475488"/>
          </a:xfrm>
          <a:prstGeom prst="rect">
            <a:avLst/>
          </a:prstGeom>
          <a:solidFill>
            <a:srgbClr val="FFFFFF"/>
          </a:solidFill>
          <a:ln w="12700">
            <a:solidFill>
              <a:srgbClr val="C2410C"/>
            </a:solidFill>
          </a:ln>
        </p:spPr>
        <p:txBody>
          <a:bodyPr wrap="square" lIns="381" tIns="381" rIns="381" bIns="381" rtlCol="0" anchor="ctr"/>
          <a:lstStyle/>
          <a:p>
            <a:pPr marL="0" indent="0" algn="ctr">
              <a:buNone/>
            </a:pPr>
            <a:r>
              <a:rPr lang="en-US" sz="950" b="1" dirty="0">
                <a:solidFill>
                  <a:srgbClr val="1E293B"/>
                </a:solidFill>
                <a:latin typeface="Calibri" pitchFamily="34" charset="0"/>
                <a:ea typeface="Calibri" pitchFamily="34" charset="-122"/>
                <a:cs typeface="Calibri" pitchFamily="34" charset="-120"/>
              </a:rPr>
              <a:t>STAFF</a:t>
            </a:r>
            <a:endParaRPr lang="en-US" sz="1050" dirty="0"/>
          </a:p>
          <a:p>
            <a:pPr marL="0" indent="0" algn="ctr">
              <a:buNone/>
            </a:pPr>
            <a:r>
              <a:rPr lang="en-US" sz="800" dirty="0">
                <a:solidFill>
                  <a:srgbClr val="1E293B"/>
                </a:solidFill>
                <a:latin typeface="Calibri" pitchFamily="34" charset="0"/>
                <a:ea typeface="Calibri" pitchFamily="34" charset="-122"/>
                <a:cs typeface="Calibri" pitchFamily="34" charset="-120"/>
              </a:rPr>
              <a:t>PK id, FK role</a:t>
            </a:r>
            <a:endParaRPr lang="en-US" sz="1050" dirty="0"/>
          </a:p>
        </p:txBody>
      </p:sp>
      <p:sp>
        <p:nvSpPr>
          <p:cNvPr id="43" name="Shape 39"/>
          <p:cNvSpPr/>
          <p:nvPr/>
        </p:nvSpPr>
        <p:spPr>
          <a:xfrm>
            <a:off x="6995160" y="8266176"/>
            <a:ext cx="258318" cy="0"/>
          </a:xfrm>
          <a:prstGeom prst="line">
            <a:avLst/>
          </a:prstGeom>
          <a:noFill/>
          <a:ln w="15875">
            <a:solidFill>
              <a:srgbClr val="C2410C"/>
            </a:solidFill>
            <a:prstDash val="solid"/>
            <a:tailEnd type="triangle"/>
          </a:ln>
        </p:spPr>
      </p:sp>
      <p:sp>
        <p:nvSpPr>
          <p:cNvPr id="44" name="Text 40"/>
          <p:cNvSpPr txBox="1"/>
          <p:nvPr/>
        </p:nvSpPr>
        <p:spPr>
          <a:xfrm>
            <a:off x="6995160" y="8065008"/>
            <a:ext cx="258318" cy="182880"/>
          </a:xfrm>
          <a:prstGeom prst="rect">
            <a:avLst/>
          </a:prstGeom>
          <a:noFill/>
          <a:ln/>
        </p:spPr>
        <p:txBody>
          <a:bodyPr wrap="square" lIns="0" tIns="0" rIns="0" bIns="0" rtlCol="0" anchor="ctr"/>
          <a:lstStyle/>
          <a:p>
            <a:pPr marL="0" indent="0" algn="ctr">
              <a:buNone/>
            </a:pPr>
            <a:r>
              <a:rPr lang="en-US" sz="800" b="1" dirty="0">
                <a:solidFill>
                  <a:srgbClr val="C2410C"/>
                </a:solidFill>
                <a:latin typeface="Calibri" pitchFamily="34" charset="0"/>
                <a:ea typeface="Calibri" pitchFamily="34" charset="-122"/>
                <a:cs typeface="Calibri" pitchFamily="34" charset="-120"/>
              </a:rPr>
              <a:t>1 : M</a:t>
            </a:r>
            <a:endParaRPr lang="en-US" sz="800" dirty="0"/>
          </a:p>
        </p:txBody>
      </p:sp>
      <p:sp>
        <p:nvSpPr>
          <p:cNvPr id="45" name="Shape 41"/>
          <p:cNvSpPr/>
          <p:nvPr/>
        </p:nvSpPr>
        <p:spPr>
          <a:xfrm>
            <a:off x="8515350" y="8266176"/>
            <a:ext cx="258318" cy="0"/>
          </a:xfrm>
          <a:prstGeom prst="line">
            <a:avLst/>
          </a:prstGeom>
          <a:noFill/>
          <a:ln w="15875">
            <a:solidFill>
              <a:srgbClr val="C2410C"/>
            </a:solidFill>
            <a:prstDash val="solid"/>
            <a:tailEnd type="triangle"/>
          </a:ln>
        </p:spPr>
      </p:sp>
      <p:sp>
        <p:nvSpPr>
          <p:cNvPr id="46" name="Text 42"/>
          <p:cNvSpPr txBox="1"/>
          <p:nvPr/>
        </p:nvSpPr>
        <p:spPr>
          <a:xfrm>
            <a:off x="8515350" y="8065008"/>
            <a:ext cx="258318" cy="182880"/>
          </a:xfrm>
          <a:prstGeom prst="rect">
            <a:avLst/>
          </a:prstGeom>
          <a:noFill/>
          <a:ln/>
        </p:spPr>
        <p:txBody>
          <a:bodyPr wrap="square" lIns="0" tIns="0" rIns="0" bIns="0" rtlCol="0" anchor="ctr"/>
          <a:lstStyle/>
          <a:p>
            <a:pPr marL="0" indent="0" algn="ctr">
              <a:buNone/>
            </a:pPr>
            <a:r>
              <a:rPr lang="en-US" sz="800" b="1" dirty="0">
                <a:solidFill>
                  <a:srgbClr val="C2410C"/>
                </a:solidFill>
                <a:latin typeface="Calibri" pitchFamily="34" charset="0"/>
                <a:ea typeface="Calibri" pitchFamily="34" charset="-122"/>
                <a:cs typeface="Calibri" pitchFamily="34" charset="-120"/>
              </a:rPr>
              <a:t>1 : M</a:t>
            </a:r>
            <a:endParaRPr lang="en-US" sz="800" dirty="0"/>
          </a:p>
        </p:txBody>
      </p:sp>
      <p:sp>
        <p:nvSpPr>
          <p:cNvPr id="47" name="Shape 43"/>
          <p:cNvSpPr/>
          <p:nvPr/>
        </p:nvSpPr>
        <p:spPr>
          <a:xfrm>
            <a:off x="6995160" y="9180576"/>
            <a:ext cx="258318" cy="0"/>
          </a:xfrm>
          <a:prstGeom prst="line">
            <a:avLst/>
          </a:prstGeom>
          <a:noFill/>
          <a:ln w="15875">
            <a:solidFill>
              <a:srgbClr val="C2410C"/>
            </a:solidFill>
            <a:prstDash val="solid"/>
            <a:tailEnd type="triangle"/>
          </a:ln>
        </p:spPr>
      </p:sp>
      <p:sp>
        <p:nvSpPr>
          <p:cNvPr id="48" name="Text 44"/>
          <p:cNvSpPr txBox="1"/>
          <p:nvPr/>
        </p:nvSpPr>
        <p:spPr>
          <a:xfrm>
            <a:off x="6995160" y="8979408"/>
            <a:ext cx="258318" cy="182880"/>
          </a:xfrm>
          <a:prstGeom prst="rect">
            <a:avLst/>
          </a:prstGeom>
          <a:noFill/>
          <a:ln/>
        </p:spPr>
        <p:txBody>
          <a:bodyPr wrap="square" lIns="0" tIns="0" rIns="0" bIns="0" rtlCol="0" anchor="ctr"/>
          <a:lstStyle/>
          <a:p>
            <a:pPr marL="0" indent="0" algn="ctr">
              <a:buNone/>
            </a:pPr>
            <a:r>
              <a:rPr lang="en-US" sz="800" b="1" dirty="0">
                <a:solidFill>
                  <a:srgbClr val="C2410C"/>
                </a:solidFill>
                <a:latin typeface="Calibri" pitchFamily="34" charset="0"/>
                <a:ea typeface="Calibri" pitchFamily="34" charset="-122"/>
                <a:cs typeface="Calibri" pitchFamily="34" charset="-120"/>
              </a:rPr>
              <a:t>1 : M</a:t>
            </a:r>
            <a:endParaRPr lang="en-US" sz="800" dirty="0"/>
          </a:p>
        </p:txBody>
      </p:sp>
      <p:sp>
        <p:nvSpPr>
          <p:cNvPr id="49" name="Shape 45"/>
          <p:cNvSpPr/>
          <p:nvPr/>
        </p:nvSpPr>
        <p:spPr>
          <a:xfrm>
            <a:off x="7884414" y="8503920"/>
            <a:ext cx="0" cy="438912"/>
          </a:xfrm>
          <a:prstGeom prst="line">
            <a:avLst/>
          </a:prstGeom>
          <a:noFill/>
          <a:ln w="15875">
            <a:solidFill>
              <a:srgbClr val="C2410C"/>
            </a:solidFill>
            <a:prstDash val="solid"/>
            <a:tailEnd type="triangle"/>
          </a:ln>
        </p:spPr>
      </p:sp>
      <p:sp>
        <p:nvSpPr>
          <p:cNvPr id="50" name="Text 46"/>
          <p:cNvSpPr txBox="1"/>
          <p:nvPr/>
        </p:nvSpPr>
        <p:spPr>
          <a:xfrm>
            <a:off x="7939278" y="8613648"/>
            <a:ext cx="457200" cy="182880"/>
          </a:xfrm>
          <a:prstGeom prst="rect">
            <a:avLst/>
          </a:prstGeom>
          <a:noFill/>
          <a:ln/>
        </p:spPr>
        <p:txBody>
          <a:bodyPr wrap="square" lIns="0" tIns="0" rIns="0" bIns="0" rtlCol="0" anchor="ctr"/>
          <a:lstStyle/>
          <a:p>
            <a:pPr marL="0" indent="0" algn="ctr">
              <a:buNone/>
            </a:pPr>
            <a:r>
              <a:rPr lang="en-US" sz="800" b="1" dirty="0">
                <a:solidFill>
                  <a:srgbClr val="C2410C"/>
                </a:solidFill>
                <a:latin typeface="Calibri" pitchFamily="34" charset="0"/>
                <a:ea typeface="Calibri" pitchFamily="34" charset="-122"/>
                <a:cs typeface="Calibri" pitchFamily="34" charset="-120"/>
              </a:rPr>
              <a:t>1 : M</a:t>
            </a:r>
            <a:endParaRPr lang="en-US" sz="800" dirty="0"/>
          </a:p>
        </p:txBody>
      </p:sp>
      <p:sp>
        <p:nvSpPr>
          <p:cNvPr id="51" name="Shape 47"/>
          <p:cNvSpPr/>
          <p:nvPr/>
        </p:nvSpPr>
        <p:spPr>
          <a:xfrm>
            <a:off x="9404604" y="8942832"/>
            <a:ext cx="0" cy="0"/>
          </a:xfrm>
          <a:prstGeom prst="line">
            <a:avLst/>
          </a:prstGeom>
          <a:noFill/>
          <a:ln w="15875">
            <a:solidFill>
              <a:srgbClr val="C2410C"/>
            </a:solidFill>
            <a:prstDash val="solid"/>
            <a:tailEnd type="triangle"/>
          </a:ln>
        </p:spPr>
      </p:sp>
      <p:sp>
        <p:nvSpPr>
          <p:cNvPr id="52" name="Text 48"/>
          <p:cNvSpPr txBox="1"/>
          <p:nvPr/>
        </p:nvSpPr>
        <p:spPr>
          <a:xfrm>
            <a:off x="9459468" y="8613648"/>
            <a:ext cx="457200" cy="182880"/>
          </a:xfrm>
          <a:prstGeom prst="rect">
            <a:avLst/>
          </a:prstGeom>
          <a:noFill/>
          <a:ln/>
        </p:spPr>
        <p:txBody>
          <a:bodyPr wrap="square" lIns="0" tIns="0" rIns="0" bIns="0" rtlCol="0" anchor="ctr"/>
          <a:lstStyle/>
          <a:p>
            <a:pPr marL="0" indent="0" algn="ctr">
              <a:buNone/>
            </a:pPr>
            <a:r>
              <a:rPr lang="en-US" sz="800" b="1" dirty="0">
                <a:solidFill>
                  <a:srgbClr val="C2410C"/>
                </a:solidFill>
                <a:latin typeface="Calibri" pitchFamily="34" charset="0"/>
                <a:ea typeface="Calibri" pitchFamily="34" charset="-122"/>
                <a:cs typeface="Calibri" pitchFamily="34" charset="-120"/>
              </a:rPr>
              <a:t>M : 1</a:t>
            </a:r>
            <a:endParaRPr lang="en-US" sz="800" dirty="0"/>
          </a:p>
        </p:txBody>
      </p:sp>
      <p:sp>
        <p:nvSpPr>
          <p:cNvPr id="53" name="Text 49"/>
          <p:cNvSpPr txBox="1"/>
          <p:nvPr/>
        </p:nvSpPr>
        <p:spPr>
          <a:xfrm>
            <a:off x="5733288" y="9528048"/>
            <a:ext cx="4302252" cy="228600"/>
          </a:xfrm>
          <a:prstGeom prst="rect">
            <a:avLst/>
          </a:prstGeom>
          <a:noFill/>
          <a:ln/>
        </p:spPr>
        <p:txBody>
          <a:bodyPr wrap="square" lIns="0" tIns="0" rIns="0" bIns="0" rtlCol="0" anchor="ctr"/>
          <a:lstStyle/>
          <a:p>
            <a:pPr marL="0" indent="0">
              <a:buNone/>
            </a:pPr>
            <a:r>
              <a:rPr lang="en-US" sz="850" i="1" dirty="0">
                <a:solidFill>
                  <a:srgbClr val="C2410C"/>
                </a:solidFill>
                <a:latin typeface="Calibri" pitchFamily="34" charset="0"/>
                <a:ea typeface="Calibri" pitchFamily="34" charset="-122"/>
                <a:cs typeface="Calibri" pitchFamily="34" charset="-120"/>
              </a:rPr>
              <a:t>Core entities shown. Also: orders, order items, categories and user roles.</a:t>
            </a:r>
            <a:endParaRPr lang="en-US" sz="850" dirty="0"/>
          </a:p>
        </p:txBody>
      </p:sp>
      <p:sp>
        <p:nvSpPr>
          <p:cNvPr id="54" name="Slotting card"/>
          <p:cNvSpPr/>
          <p:nvPr/>
        </p:nvSpPr>
        <p:spPr>
          <a:xfrm>
            <a:off x="5440680" y="10332720"/>
            <a:ext cx="4887468" cy="2651760"/>
          </a:xfrm>
          <a:prstGeom prst="roundRect">
            <a:avLst>
              <a:gd name="adj" fmla="val 2759"/>
            </a:avLst>
          </a:prstGeom>
          <a:solidFill>
            <a:srgbClr val="CCFBF1"/>
          </a:solidFill>
          <a:ln w="15875">
            <a:solidFill>
              <a:srgbClr val="2DD4BF"/>
            </a:solidFill>
            <a:prstDash val="solid"/>
          </a:ln>
        </p:spPr>
      </p:sp>
      <p:sp>
        <p:nvSpPr>
          <p:cNvPr id="55" name="Slotting title"/>
          <p:cNvSpPr txBox="1"/>
          <p:nvPr/>
        </p:nvSpPr>
        <p:spPr>
          <a:xfrm>
            <a:off x="5623560" y="10424160"/>
            <a:ext cx="4521708" cy="365760"/>
          </a:xfrm>
          <a:prstGeom prst="rect">
            <a:avLst/>
          </a:prstGeom>
          <a:noFill/>
          <a:ln/>
        </p:spPr>
        <p:txBody>
          <a:bodyPr wrap="square" lIns="0" tIns="0" rIns="0" bIns="0" rtlCol="0" anchor="ctr"/>
          <a:lstStyle/>
          <a:p>
            <a:pPr marL="0" indent="0">
              <a:buNone/>
            </a:pPr>
            <a:r>
              <a:rPr lang="en-US" sz="1600" b="1" dirty="0">
                <a:solidFill>
                  <a:srgbClr val="0F766E"/>
                </a:solidFill>
                <a:latin typeface="Calibri" pitchFamily="34" charset="0"/>
                <a:ea typeface="Calibri" pitchFamily="34" charset="-122"/>
                <a:cs typeface="Calibri" pitchFamily="34" charset="-120"/>
              </a:rPr>
              <a:t>Warehouse Slotting Optimization</a:t>
            </a:r>
            <a:endParaRPr lang="en-US" sz="1600" dirty="0"/>
          </a:p>
        </p:txBody>
      </p:sp>
      <p:sp>
        <p:nvSpPr>
          <p:cNvPr id="56" name="Slot step 1"/>
          <p:cNvSpPr/>
          <p:nvPr/>
        </p:nvSpPr>
        <p:spPr>
          <a:xfrm>
            <a:off x="5623560" y="10835640"/>
            <a:ext cx="1024128" cy="731520"/>
          </a:xfrm>
          <a:prstGeom prst="rect">
            <a:avLst/>
          </a:prstGeom>
          <a:solidFill>
            <a:srgbClr val="FFFFFF"/>
          </a:solidFill>
          <a:ln w="12700">
            <a:solidFill>
              <a:srgbClr val="0F766E"/>
            </a:solidFill>
          </a:ln>
        </p:spPr>
        <p:txBody>
          <a:bodyPr wrap="square" lIns="381" tIns="381" rIns="381" bIns="381" rtlCol="0" anchor="ctr"/>
          <a:lstStyle/>
          <a:p>
            <a:pPr marL="0" indent="0" algn="ctr">
              <a:buNone/>
            </a:pPr>
            <a:r>
              <a:rPr lang="en-US" sz="1000" b="1" dirty="0">
                <a:solidFill>
                  <a:srgbClr val="0F766E"/>
                </a:solidFill>
                <a:latin typeface="Calibri" pitchFamily="34" charset="0"/>
                <a:ea typeface="Calibri" pitchFamily="34" charset="-122"/>
                <a:cs typeface="Calibri" pitchFamily="34" charset="-120"/>
              </a:rPr>
              <a:t>1  Sort</a:t>
            </a:r>
            <a:endParaRPr lang="en-US" sz="1050" dirty="0"/>
          </a:p>
          <a:p>
            <a:pPr marL="0" indent="0" algn="ctr">
              <a:buNone/>
            </a:pPr>
            <a:r>
              <a:rPr lang="en-US" sz="900" dirty="0">
                <a:solidFill>
                  <a:srgbClr val="1E293B"/>
                </a:solidFill>
                <a:latin typeface="Calibri" pitchFamily="34" charset="0"/>
                <a:ea typeface="Calibri" pitchFamily="34" charset="-122"/>
                <a:cs typeface="Calibri" pitchFamily="34" charset="-120"/>
              </a:rPr>
              <a:t>products by demand</a:t>
            </a:r>
            <a:endParaRPr lang="en-US" sz="1050" dirty="0"/>
          </a:p>
        </p:txBody>
      </p:sp>
      <p:sp>
        <p:nvSpPr>
          <p:cNvPr id="57" name="Shape 53"/>
          <p:cNvSpPr/>
          <p:nvPr/>
        </p:nvSpPr>
        <p:spPr>
          <a:xfrm>
            <a:off x="6656832" y="11201400"/>
            <a:ext cx="123444" cy="0"/>
          </a:xfrm>
          <a:prstGeom prst="line">
            <a:avLst/>
          </a:prstGeom>
          <a:noFill/>
          <a:ln w="15875">
            <a:solidFill>
              <a:srgbClr val="0F766E"/>
            </a:solidFill>
            <a:prstDash val="solid"/>
            <a:tailEnd type="triangle"/>
          </a:ln>
        </p:spPr>
      </p:sp>
      <p:sp>
        <p:nvSpPr>
          <p:cNvPr id="58" name="Slot step 2"/>
          <p:cNvSpPr/>
          <p:nvPr/>
        </p:nvSpPr>
        <p:spPr>
          <a:xfrm>
            <a:off x="6789420" y="10835640"/>
            <a:ext cx="1024128" cy="731520"/>
          </a:xfrm>
          <a:prstGeom prst="rect">
            <a:avLst/>
          </a:prstGeom>
          <a:solidFill>
            <a:srgbClr val="FFFFFF"/>
          </a:solidFill>
          <a:ln w="12700">
            <a:solidFill>
              <a:srgbClr val="0F766E"/>
            </a:solidFill>
          </a:ln>
        </p:spPr>
        <p:txBody>
          <a:bodyPr wrap="square" lIns="381" tIns="381" rIns="381" bIns="381" rtlCol="0" anchor="ctr"/>
          <a:lstStyle/>
          <a:p>
            <a:pPr marL="0" indent="0" algn="ctr">
              <a:buNone/>
            </a:pPr>
            <a:r>
              <a:rPr lang="en-US" sz="1000" b="1" dirty="0">
                <a:solidFill>
                  <a:srgbClr val="0F766E"/>
                </a:solidFill>
                <a:latin typeface="Calibri" pitchFamily="34" charset="0"/>
                <a:ea typeface="Calibri" pitchFamily="34" charset="-122"/>
                <a:cs typeface="Calibri" pitchFamily="34" charset="-120"/>
              </a:rPr>
              <a:t>2  Priority queue</a:t>
            </a:r>
            <a:endParaRPr lang="en-US" sz="1050" dirty="0"/>
          </a:p>
          <a:p>
            <a:pPr marL="0" indent="0" algn="ctr">
              <a:buNone/>
            </a:pPr>
            <a:r>
              <a:rPr lang="en-US" sz="900" dirty="0">
                <a:solidFill>
                  <a:srgbClr val="1E293B"/>
                </a:solidFill>
                <a:latin typeface="Calibri" pitchFamily="34" charset="0"/>
                <a:ea typeface="Calibri" pitchFamily="34" charset="-122"/>
                <a:cs typeface="Calibri" pitchFamily="34" charset="-120"/>
              </a:rPr>
              <a:t>highest demand first</a:t>
            </a:r>
            <a:endParaRPr lang="en-US" sz="1050" dirty="0"/>
          </a:p>
        </p:txBody>
      </p:sp>
      <p:sp>
        <p:nvSpPr>
          <p:cNvPr id="59" name="Shape 55"/>
          <p:cNvSpPr/>
          <p:nvPr/>
        </p:nvSpPr>
        <p:spPr>
          <a:xfrm>
            <a:off x="7822692" y="11201400"/>
            <a:ext cx="123444" cy="0"/>
          </a:xfrm>
          <a:prstGeom prst="line">
            <a:avLst/>
          </a:prstGeom>
          <a:noFill/>
          <a:ln w="15875">
            <a:solidFill>
              <a:srgbClr val="0F766E"/>
            </a:solidFill>
            <a:prstDash val="solid"/>
            <a:tailEnd type="triangle"/>
          </a:ln>
        </p:spPr>
      </p:sp>
      <p:sp>
        <p:nvSpPr>
          <p:cNvPr id="60" name="Slot step 3"/>
          <p:cNvSpPr/>
          <p:nvPr/>
        </p:nvSpPr>
        <p:spPr>
          <a:xfrm>
            <a:off x="7955280" y="10835640"/>
            <a:ext cx="1024128" cy="731520"/>
          </a:xfrm>
          <a:prstGeom prst="rect">
            <a:avLst/>
          </a:prstGeom>
          <a:solidFill>
            <a:srgbClr val="FFFFFF"/>
          </a:solidFill>
          <a:ln w="12700">
            <a:solidFill>
              <a:srgbClr val="0F766E"/>
            </a:solidFill>
          </a:ln>
        </p:spPr>
        <p:txBody>
          <a:bodyPr wrap="square" lIns="381" tIns="381" rIns="381" bIns="381" rtlCol="0" anchor="ctr"/>
          <a:lstStyle/>
          <a:p>
            <a:pPr marL="0" indent="0" algn="ctr">
              <a:buNone/>
            </a:pPr>
            <a:r>
              <a:rPr lang="en-US" sz="1000" b="1" dirty="0">
                <a:solidFill>
                  <a:srgbClr val="0F766E"/>
                </a:solidFill>
                <a:latin typeface="Calibri" pitchFamily="34" charset="0"/>
                <a:ea typeface="Calibri" pitchFamily="34" charset="-122"/>
                <a:cs typeface="Calibri" pitchFamily="34" charset="-120"/>
              </a:rPr>
              <a:t>3  Greedy assign</a:t>
            </a:r>
            <a:endParaRPr lang="en-US" sz="1050" dirty="0"/>
          </a:p>
          <a:p>
            <a:pPr marL="0" indent="0" algn="ctr">
              <a:buNone/>
            </a:pPr>
            <a:r>
              <a:rPr lang="en-US" sz="900" dirty="0">
                <a:solidFill>
                  <a:srgbClr val="1E293B"/>
                </a:solidFill>
                <a:latin typeface="Calibri" pitchFamily="34" charset="0"/>
                <a:ea typeface="Calibri" pitchFamily="34" charset="-122"/>
                <a:cs typeface="Calibri" pitchFamily="34" charset="-120"/>
              </a:rPr>
              <a:t>best free slot</a:t>
            </a:r>
            <a:endParaRPr lang="en-US" sz="1050" dirty="0"/>
          </a:p>
        </p:txBody>
      </p:sp>
      <p:sp>
        <p:nvSpPr>
          <p:cNvPr id="61" name="Shape 57"/>
          <p:cNvSpPr/>
          <p:nvPr/>
        </p:nvSpPr>
        <p:spPr>
          <a:xfrm>
            <a:off x="8988552" y="11201400"/>
            <a:ext cx="123444" cy="0"/>
          </a:xfrm>
          <a:prstGeom prst="line">
            <a:avLst/>
          </a:prstGeom>
          <a:noFill/>
          <a:ln w="15875">
            <a:solidFill>
              <a:srgbClr val="0F766E"/>
            </a:solidFill>
            <a:prstDash val="solid"/>
            <a:tailEnd type="triangle"/>
          </a:ln>
        </p:spPr>
      </p:sp>
      <p:sp>
        <p:nvSpPr>
          <p:cNvPr id="62" name="Slot step 4"/>
          <p:cNvSpPr/>
          <p:nvPr/>
        </p:nvSpPr>
        <p:spPr>
          <a:xfrm>
            <a:off x="9121140" y="10835640"/>
            <a:ext cx="1024128" cy="731520"/>
          </a:xfrm>
          <a:prstGeom prst="rect">
            <a:avLst/>
          </a:prstGeom>
          <a:solidFill>
            <a:srgbClr val="FFFFFF"/>
          </a:solidFill>
          <a:ln w="12700">
            <a:solidFill>
              <a:srgbClr val="0F766E"/>
            </a:solidFill>
          </a:ln>
        </p:spPr>
        <p:txBody>
          <a:bodyPr wrap="square" lIns="381" tIns="381" rIns="381" bIns="381" rtlCol="0" anchor="ctr"/>
          <a:lstStyle/>
          <a:p>
            <a:pPr marL="0" indent="0" algn="ctr">
              <a:buNone/>
            </a:pPr>
            <a:r>
              <a:rPr lang="en-US" sz="1000" b="1" dirty="0">
                <a:solidFill>
                  <a:srgbClr val="0F766E"/>
                </a:solidFill>
                <a:latin typeface="Calibri" pitchFamily="34" charset="0"/>
                <a:ea typeface="Calibri" pitchFamily="34" charset="-122"/>
                <a:cs typeface="Calibri" pitchFamily="34" charset="-120"/>
              </a:rPr>
              <a:t>4  Update</a:t>
            </a:r>
            <a:endParaRPr lang="en-US" sz="1050" dirty="0"/>
          </a:p>
          <a:p>
            <a:pPr marL="0" indent="0" algn="ctr">
              <a:buNone/>
            </a:pPr>
            <a:r>
              <a:rPr lang="en-US" sz="900" dirty="0">
                <a:solidFill>
                  <a:srgbClr val="1E293B"/>
                </a:solidFill>
                <a:latin typeface="Calibri" pitchFamily="34" charset="0"/>
                <a:ea typeface="Calibri" pitchFamily="34" charset="-122"/>
                <a:cs typeface="Calibri" pitchFamily="34" charset="-120"/>
              </a:rPr>
              <a:t>stock and locations</a:t>
            </a:r>
            <a:endParaRPr lang="en-US" sz="1050" dirty="0"/>
          </a:p>
        </p:txBody>
      </p:sp>
      <p:sp>
        <p:nvSpPr>
          <p:cNvPr id="63" name="Dock"/>
          <p:cNvSpPr/>
          <p:nvPr/>
        </p:nvSpPr>
        <p:spPr>
          <a:xfrm>
            <a:off x="5623560" y="11795760"/>
            <a:ext cx="411480" cy="932688"/>
          </a:xfrm>
          <a:prstGeom prst="rect">
            <a:avLst/>
          </a:prstGeom>
          <a:solidFill>
            <a:srgbClr val="134E4A"/>
          </a:solidFill>
          <a:ln>
            <a:solidFill>
              <a:srgbClr val="134E4A"/>
            </a:solidFill>
          </a:ln>
        </p:spPr>
        <p:txBody>
          <a:bodyPr vert="vert270"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DOCK</a:t>
            </a:r>
            <a:endParaRPr lang="en-US" sz="800" dirty="0"/>
          </a:p>
        </p:txBody>
      </p:sp>
      <p:sp>
        <p:nvSpPr>
          <p:cNvPr id="64" name="Slot 0-0"/>
          <p:cNvSpPr/>
          <p:nvPr/>
        </p:nvSpPr>
        <p:spPr>
          <a:xfrm>
            <a:off x="6126480" y="11795760"/>
            <a:ext cx="365760" cy="310896"/>
          </a:xfrm>
          <a:prstGeom prst="rect">
            <a:avLst/>
          </a:prstGeom>
          <a:solidFill>
            <a:srgbClr val="0F766E"/>
          </a:solidFill>
          <a:ln w="12700">
            <a:solidFill>
              <a:srgbClr val="CCFBF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5" name="Slot 0-1"/>
          <p:cNvSpPr/>
          <p:nvPr/>
        </p:nvSpPr>
        <p:spPr>
          <a:xfrm>
            <a:off x="6492240" y="11795760"/>
            <a:ext cx="365760" cy="310896"/>
          </a:xfrm>
          <a:prstGeom prst="rect">
            <a:avLst/>
          </a:prstGeom>
          <a:solidFill>
            <a:srgbClr val="0F766E"/>
          </a:solidFill>
          <a:ln w="12700">
            <a:solidFill>
              <a:srgbClr val="CCFBF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6" name="Slot 0-2"/>
          <p:cNvSpPr/>
          <p:nvPr/>
        </p:nvSpPr>
        <p:spPr>
          <a:xfrm>
            <a:off x="6858000" y="11795760"/>
            <a:ext cx="365760" cy="310896"/>
          </a:xfrm>
          <a:prstGeom prst="rect">
            <a:avLst/>
          </a:prstGeom>
          <a:solidFill>
            <a:srgbClr val="14B8A6"/>
          </a:solidFill>
          <a:ln w="12700">
            <a:solidFill>
              <a:srgbClr val="CCFBF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67" name="Slot 0-3"/>
          <p:cNvSpPr/>
          <p:nvPr/>
        </p:nvSpPr>
        <p:spPr>
          <a:xfrm>
            <a:off x="7223760" y="11795760"/>
            <a:ext cx="365760" cy="310896"/>
          </a:xfrm>
          <a:prstGeom prst="rect">
            <a:avLst/>
          </a:prstGeom>
          <a:solidFill>
            <a:srgbClr val="14B8A6"/>
          </a:solidFill>
          <a:ln w="12700">
            <a:solidFill>
              <a:srgbClr val="CCFBF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68" name="Slot 0-4"/>
          <p:cNvSpPr/>
          <p:nvPr/>
        </p:nvSpPr>
        <p:spPr>
          <a:xfrm>
            <a:off x="7589520" y="11795760"/>
            <a:ext cx="365760" cy="310896"/>
          </a:xfrm>
          <a:prstGeom prst="rect">
            <a:avLst/>
          </a:prstGeom>
          <a:solidFill>
            <a:srgbClr val="99F6E4"/>
          </a:solidFill>
          <a:ln w="12700">
            <a:solidFill>
              <a:srgbClr val="CCFBF1"/>
            </a:solidFill>
          </a:ln>
        </p:spPr>
        <p:txBody>
          <a:bodyPr wrap="square" lIns="0" tIns="0" rIns="0" bIns="0" rtlCol="0" anchor="ctr"/>
          <a:lstStyle/>
          <a:p>
            <a:pPr marL="0" indent="0" algn="ctr">
              <a:buNone/>
            </a:pPr>
            <a:r>
              <a:rPr lang="en-US" sz="900" b="1" dirty="0">
                <a:solidFill>
                  <a:srgbClr val="134E4A"/>
                </a:solidFill>
                <a:latin typeface="Calibri" pitchFamily="34" charset="0"/>
                <a:ea typeface="Calibri" pitchFamily="34" charset="-122"/>
                <a:cs typeface="Calibri" pitchFamily="34" charset="-120"/>
              </a:rPr>
              <a:t>C</a:t>
            </a:r>
            <a:endParaRPr lang="en-US" sz="900" dirty="0"/>
          </a:p>
        </p:txBody>
      </p:sp>
      <p:sp>
        <p:nvSpPr>
          <p:cNvPr id="69" name="Slot 0-5"/>
          <p:cNvSpPr/>
          <p:nvPr/>
        </p:nvSpPr>
        <p:spPr>
          <a:xfrm>
            <a:off x="7955280" y="11795760"/>
            <a:ext cx="365760" cy="310896"/>
          </a:xfrm>
          <a:prstGeom prst="rect">
            <a:avLst/>
          </a:prstGeom>
          <a:solidFill>
            <a:srgbClr val="99F6E4"/>
          </a:solidFill>
          <a:ln w="12700">
            <a:solidFill>
              <a:srgbClr val="CCFBF1"/>
            </a:solidFill>
          </a:ln>
        </p:spPr>
        <p:txBody>
          <a:bodyPr wrap="square" lIns="0" tIns="0" rIns="0" bIns="0" rtlCol="0" anchor="ctr"/>
          <a:lstStyle/>
          <a:p>
            <a:pPr marL="0" indent="0" algn="ctr">
              <a:buNone/>
            </a:pPr>
            <a:r>
              <a:rPr lang="en-US" sz="900" b="1" dirty="0">
                <a:solidFill>
                  <a:srgbClr val="134E4A"/>
                </a:solidFill>
                <a:latin typeface="Calibri" pitchFamily="34" charset="0"/>
                <a:ea typeface="Calibri" pitchFamily="34" charset="-122"/>
                <a:cs typeface="Calibri" pitchFamily="34" charset="-120"/>
              </a:rPr>
              <a:t>C</a:t>
            </a:r>
            <a:endParaRPr lang="en-US" sz="900" dirty="0"/>
          </a:p>
        </p:txBody>
      </p:sp>
      <p:sp>
        <p:nvSpPr>
          <p:cNvPr id="70" name="Slot 1-0"/>
          <p:cNvSpPr/>
          <p:nvPr/>
        </p:nvSpPr>
        <p:spPr>
          <a:xfrm>
            <a:off x="6126480" y="12106656"/>
            <a:ext cx="365760" cy="310896"/>
          </a:xfrm>
          <a:prstGeom prst="rect">
            <a:avLst/>
          </a:prstGeom>
          <a:solidFill>
            <a:srgbClr val="0F766E"/>
          </a:solidFill>
          <a:ln w="12700">
            <a:solidFill>
              <a:srgbClr val="CCFBF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1" name="Slot 1-1"/>
          <p:cNvSpPr/>
          <p:nvPr/>
        </p:nvSpPr>
        <p:spPr>
          <a:xfrm>
            <a:off x="6492240" y="12106656"/>
            <a:ext cx="365760" cy="310896"/>
          </a:xfrm>
          <a:prstGeom prst="rect">
            <a:avLst/>
          </a:prstGeom>
          <a:solidFill>
            <a:srgbClr val="0F766E"/>
          </a:solidFill>
          <a:ln w="12700">
            <a:solidFill>
              <a:srgbClr val="CCFBF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2" name="Slot 1-2"/>
          <p:cNvSpPr/>
          <p:nvPr/>
        </p:nvSpPr>
        <p:spPr>
          <a:xfrm>
            <a:off x="6858000" y="12106656"/>
            <a:ext cx="365760" cy="310896"/>
          </a:xfrm>
          <a:prstGeom prst="rect">
            <a:avLst/>
          </a:prstGeom>
          <a:solidFill>
            <a:srgbClr val="14B8A6"/>
          </a:solidFill>
          <a:ln w="12700">
            <a:solidFill>
              <a:srgbClr val="CCFBF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3" name="Slot 1-3"/>
          <p:cNvSpPr/>
          <p:nvPr/>
        </p:nvSpPr>
        <p:spPr>
          <a:xfrm>
            <a:off x="7223760" y="12106656"/>
            <a:ext cx="365760" cy="310896"/>
          </a:xfrm>
          <a:prstGeom prst="rect">
            <a:avLst/>
          </a:prstGeom>
          <a:solidFill>
            <a:srgbClr val="14B8A6"/>
          </a:solidFill>
          <a:ln w="12700">
            <a:solidFill>
              <a:srgbClr val="CCFBF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4" name="Slot 1-4"/>
          <p:cNvSpPr/>
          <p:nvPr/>
        </p:nvSpPr>
        <p:spPr>
          <a:xfrm>
            <a:off x="7589520" y="12106656"/>
            <a:ext cx="365760" cy="310896"/>
          </a:xfrm>
          <a:prstGeom prst="rect">
            <a:avLst/>
          </a:prstGeom>
          <a:solidFill>
            <a:srgbClr val="99F6E4"/>
          </a:solidFill>
          <a:ln w="12700">
            <a:solidFill>
              <a:srgbClr val="CCFBF1"/>
            </a:solidFill>
          </a:ln>
        </p:spPr>
        <p:txBody>
          <a:bodyPr wrap="square" lIns="0" tIns="0" rIns="0" bIns="0" rtlCol="0" anchor="ctr"/>
          <a:lstStyle/>
          <a:p>
            <a:pPr marL="0" indent="0" algn="ctr">
              <a:buNone/>
            </a:pPr>
            <a:r>
              <a:rPr lang="en-US" sz="900" b="1" dirty="0">
                <a:solidFill>
                  <a:srgbClr val="134E4A"/>
                </a:solidFill>
                <a:latin typeface="Calibri" pitchFamily="34" charset="0"/>
                <a:ea typeface="Calibri" pitchFamily="34" charset="-122"/>
                <a:cs typeface="Calibri" pitchFamily="34" charset="-120"/>
              </a:rPr>
              <a:t>C</a:t>
            </a:r>
            <a:endParaRPr lang="en-US" sz="900" dirty="0"/>
          </a:p>
        </p:txBody>
      </p:sp>
      <p:sp>
        <p:nvSpPr>
          <p:cNvPr id="75" name="Slot 1-5"/>
          <p:cNvSpPr/>
          <p:nvPr/>
        </p:nvSpPr>
        <p:spPr>
          <a:xfrm>
            <a:off x="7955280" y="12106656"/>
            <a:ext cx="365760" cy="310896"/>
          </a:xfrm>
          <a:prstGeom prst="rect">
            <a:avLst/>
          </a:prstGeom>
          <a:solidFill>
            <a:srgbClr val="99F6E4"/>
          </a:solidFill>
          <a:ln w="12700">
            <a:solidFill>
              <a:srgbClr val="CCFBF1"/>
            </a:solidFill>
          </a:ln>
        </p:spPr>
        <p:txBody>
          <a:bodyPr wrap="square" lIns="0" tIns="0" rIns="0" bIns="0" rtlCol="0" anchor="ctr"/>
          <a:lstStyle/>
          <a:p>
            <a:pPr marL="0" indent="0" algn="ctr">
              <a:buNone/>
            </a:pPr>
            <a:r>
              <a:rPr lang="en-US" sz="900" b="1" dirty="0">
                <a:solidFill>
                  <a:srgbClr val="134E4A"/>
                </a:solidFill>
                <a:latin typeface="Calibri" pitchFamily="34" charset="0"/>
                <a:ea typeface="Calibri" pitchFamily="34" charset="-122"/>
                <a:cs typeface="Calibri" pitchFamily="34" charset="-120"/>
              </a:rPr>
              <a:t>C</a:t>
            </a:r>
            <a:endParaRPr lang="en-US" sz="900" dirty="0"/>
          </a:p>
        </p:txBody>
      </p:sp>
      <p:sp>
        <p:nvSpPr>
          <p:cNvPr id="76" name="Slot 2-0"/>
          <p:cNvSpPr/>
          <p:nvPr/>
        </p:nvSpPr>
        <p:spPr>
          <a:xfrm>
            <a:off x="6126480" y="12417552"/>
            <a:ext cx="365760" cy="310896"/>
          </a:xfrm>
          <a:prstGeom prst="rect">
            <a:avLst/>
          </a:prstGeom>
          <a:solidFill>
            <a:srgbClr val="0F766E"/>
          </a:solidFill>
          <a:ln w="12700">
            <a:solidFill>
              <a:srgbClr val="CCFBF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7" name="Slot 2-1"/>
          <p:cNvSpPr/>
          <p:nvPr/>
        </p:nvSpPr>
        <p:spPr>
          <a:xfrm>
            <a:off x="6492240" y="12417552"/>
            <a:ext cx="365760" cy="310896"/>
          </a:xfrm>
          <a:prstGeom prst="rect">
            <a:avLst/>
          </a:prstGeom>
          <a:solidFill>
            <a:srgbClr val="0F766E"/>
          </a:solidFill>
          <a:ln w="12700">
            <a:solidFill>
              <a:srgbClr val="CCFBF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8" name="Slot 2-2"/>
          <p:cNvSpPr/>
          <p:nvPr/>
        </p:nvSpPr>
        <p:spPr>
          <a:xfrm>
            <a:off x="6858000" y="12417552"/>
            <a:ext cx="365760" cy="310896"/>
          </a:xfrm>
          <a:prstGeom prst="rect">
            <a:avLst/>
          </a:prstGeom>
          <a:solidFill>
            <a:srgbClr val="14B8A6"/>
          </a:solidFill>
          <a:ln w="12700">
            <a:solidFill>
              <a:srgbClr val="CCFBF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9" name="Slot 2-3"/>
          <p:cNvSpPr/>
          <p:nvPr/>
        </p:nvSpPr>
        <p:spPr>
          <a:xfrm>
            <a:off x="7223760" y="12417552"/>
            <a:ext cx="365760" cy="310896"/>
          </a:xfrm>
          <a:prstGeom prst="rect">
            <a:avLst/>
          </a:prstGeom>
          <a:solidFill>
            <a:srgbClr val="14B8A6"/>
          </a:solidFill>
          <a:ln w="12700">
            <a:solidFill>
              <a:srgbClr val="CCFBF1"/>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0" name="Slot 2-4"/>
          <p:cNvSpPr/>
          <p:nvPr/>
        </p:nvSpPr>
        <p:spPr>
          <a:xfrm>
            <a:off x="7589520" y="12417552"/>
            <a:ext cx="365760" cy="310896"/>
          </a:xfrm>
          <a:prstGeom prst="rect">
            <a:avLst/>
          </a:prstGeom>
          <a:solidFill>
            <a:srgbClr val="99F6E4"/>
          </a:solidFill>
          <a:ln w="12700">
            <a:solidFill>
              <a:srgbClr val="CCFBF1"/>
            </a:solidFill>
          </a:ln>
        </p:spPr>
        <p:txBody>
          <a:bodyPr wrap="square" lIns="0" tIns="0" rIns="0" bIns="0" rtlCol="0" anchor="ctr"/>
          <a:lstStyle/>
          <a:p>
            <a:pPr marL="0" indent="0" algn="ctr">
              <a:buNone/>
            </a:pPr>
            <a:r>
              <a:rPr lang="en-US" sz="900" b="1" dirty="0">
                <a:solidFill>
                  <a:srgbClr val="134E4A"/>
                </a:solidFill>
                <a:latin typeface="Calibri" pitchFamily="34" charset="0"/>
                <a:ea typeface="Calibri" pitchFamily="34" charset="-122"/>
                <a:cs typeface="Calibri" pitchFamily="34" charset="-120"/>
              </a:rPr>
              <a:t>C</a:t>
            </a:r>
            <a:endParaRPr lang="en-US" sz="900" dirty="0"/>
          </a:p>
        </p:txBody>
      </p:sp>
      <p:sp>
        <p:nvSpPr>
          <p:cNvPr id="81" name="Slot 2-5"/>
          <p:cNvSpPr/>
          <p:nvPr/>
        </p:nvSpPr>
        <p:spPr>
          <a:xfrm>
            <a:off x="7955280" y="12417552"/>
            <a:ext cx="365760" cy="310896"/>
          </a:xfrm>
          <a:prstGeom prst="rect">
            <a:avLst/>
          </a:prstGeom>
          <a:solidFill>
            <a:srgbClr val="99F6E4"/>
          </a:solidFill>
          <a:ln w="12700">
            <a:solidFill>
              <a:srgbClr val="CCFBF1"/>
            </a:solidFill>
          </a:ln>
        </p:spPr>
        <p:txBody>
          <a:bodyPr wrap="square" lIns="0" tIns="0" rIns="0" bIns="0" rtlCol="0" anchor="ctr"/>
          <a:lstStyle/>
          <a:p>
            <a:pPr marL="0" indent="0" algn="ctr">
              <a:buNone/>
            </a:pPr>
            <a:r>
              <a:rPr lang="en-US" sz="900" b="1" dirty="0">
                <a:solidFill>
                  <a:srgbClr val="134E4A"/>
                </a:solidFill>
                <a:latin typeface="Calibri" pitchFamily="34" charset="0"/>
                <a:ea typeface="Calibri" pitchFamily="34" charset="-122"/>
                <a:cs typeface="Calibri" pitchFamily="34" charset="-120"/>
              </a:rPr>
              <a:t>C</a:t>
            </a:r>
            <a:endParaRPr lang="en-US" sz="900" dirty="0"/>
          </a:p>
        </p:txBody>
      </p:sp>
      <p:sp>
        <p:nvSpPr>
          <p:cNvPr id="82" name="Slot legend"/>
          <p:cNvSpPr txBox="1"/>
          <p:nvPr/>
        </p:nvSpPr>
        <p:spPr>
          <a:xfrm>
            <a:off x="8458200" y="11777472"/>
            <a:ext cx="1687068" cy="1005840"/>
          </a:xfrm>
          <a:prstGeom prst="rect">
            <a:avLst/>
          </a:prstGeom>
          <a:noFill/>
          <a:ln/>
        </p:spPr>
        <p:txBody>
          <a:bodyPr wrap="square" lIns="0" tIns="0" rIns="0" bIns="0" rtlCol="0" anchor="t"/>
          <a:lstStyle/>
          <a:p>
            <a:pPr marL="0" indent="0">
              <a:spcAft>
                <a:spcPts val="300"/>
              </a:spcAft>
              <a:buNone/>
            </a:pPr>
            <a:r>
              <a:rPr lang="en-US" sz="950" dirty="0">
                <a:solidFill>
                  <a:srgbClr val="1E293B"/>
                </a:solidFill>
                <a:latin typeface="Calibri" pitchFamily="34" charset="0"/>
                <a:ea typeface="Calibri" pitchFamily="34" charset="-122"/>
                <a:cs typeface="Calibri" pitchFamily="34" charset="-120"/>
              </a:rPr>
              <a:t>A: fast-moving, nearest the dock</a:t>
            </a:r>
            <a:endParaRPr lang="en-US" sz="950" dirty="0"/>
          </a:p>
          <a:p>
            <a:pPr marL="0" indent="0">
              <a:spcAft>
                <a:spcPts val="300"/>
              </a:spcAft>
              <a:buNone/>
            </a:pPr>
            <a:r>
              <a:rPr lang="en-US" sz="950" dirty="0">
                <a:solidFill>
                  <a:srgbClr val="1E293B"/>
                </a:solidFill>
                <a:latin typeface="Calibri" pitchFamily="34" charset="0"/>
                <a:ea typeface="Calibri" pitchFamily="34" charset="-122"/>
                <a:cs typeface="Calibri" pitchFamily="34" charset="-120"/>
              </a:rPr>
              <a:t>B: medium demand</a:t>
            </a:r>
            <a:endParaRPr lang="en-US" sz="950" dirty="0"/>
          </a:p>
          <a:p>
            <a:pPr marL="0" indent="0">
              <a:spcAft>
                <a:spcPts val="300"/>
              </a:spcAft>
              <a:buNone/>
            </a:pPr>
            <a:r>
              <a:rPr lang="en-US" sz="950" dirty="0">
                <a:solidFill>
                  <a:srgbClr val="1E293B"/>
                </a:solidFill>
                <a:latin typeface="Calibri" pitchFamily="34" charset="0"/>
                <a:ea typeface="Calibri" pitchFamily="34" charset="-122"/>
                <a:cs typeface="Calibri" pitchFamily="34" charset="-120"/>
              </a:rPr>
              <a:t>C: slow-moving, farthest</a:t>
            </a:r>
            <a:endParaRPr lang="en-US" sz="950" dirty="0"/>
          </a:p>
          <a:p>
            <a:pPr marL="0" indent="0">
              <a:buNone/>
            </a:pPr>
            <a:r>
              <a:rPr lang="en-US" sz="950" i="1" dirty="0">
                <a:solidFill>
                  <a:srgbClr val="1E293B"/>
                </a:solidFill>
                <a:latin typeface="Calibri" pitchFamily="34" charset="0"/>
                <a:ea typeface="Calibri" pitchFamily="34" charset="-122"/>
                <a:cs typeface="Calibri" pitchFamily="34" charset="-120"/>
              </a:rPr>
              <a:t>Checks capacity, product needs and accessibility</a:t>
            </a:r>
            <a:endParaRPr lang="en-US" sz="950" dirty="0"/>
          </a:p>
        </p:txBody>
      </p:sp>
      <p:sp>
        <p:nvSpPr>
          <p:cNvPr id="83" name="Results card"/>
          <p:cNvSpPr/>
          <p:nvPr/>
        </p:nvSpPr>
        <p:spPr>
          <a:xfrm>
            <a:off x="365760" y="13167360"/>
            <a:ext cx="3198876" cy="1371600"/>
          </a:xfrm>
          <a:prstGeom prst="roundRect">
            <a:avLst>
              <a:gd name="adj" fmla="val 5333"/>
            </a:avLst>
          </a:prstGeom>
          <a:solidFill>
            <a:srgbClr val="FEE2E2"/>
          </a:solidFill>
          <a:ln w="15875">
            <a:solidFill>
              <a:srgbClr val="F87171"/>
            </a:solidFill>
            <a:prstDash val="solid"/>
          </a:ln>
        </p:spPr>
      </p:sp>
      <p:sp>
        <p:nvSpPr>
          <p:cNvPr id="84" name="Results title"/>
          <p:cNvSpPr txBox="1"/>
          <p:nvPr/>
        </p:nvSpPr>
        <p:spPr>
          <a:xfrm>
            <a:off x="548640" y="13258800"/>
            <a:ext cx="2833116" cy="365760"/>
          </a:xfrm>
          <a:prstGeom prst="rect">
            <a:avLst/>
          </a:prstGeom>
          <a:noFill/>
          <a:ln/>
        </p:spPr>
        <p:txBody>
          <a:bodyPr wrap="square" lIns="0" tIns="0" rIns="0" bIns="0" rtlCol="0" anchor="ctr"/>
          <a:lstStyle/>
          <a:p>
            <a:pPr marL="0" indent="0">
              <a:buNone/>
            </a:pPr>
            <a:r>
              <a:rPr lang="en-US" sz="1600" b="1" dirty="0">
                <a:solidFill>
                  <a:srgbClr val="B91C1C"/>
                </a:solidFill>
                <a:latin typeface="Calibri" pitchFamily="34" charset="0"/>
                <a:ea typeface="Calibri" pitchFamily="34" charset="-122"/>
                <a:cs typeface="Calibri" pitchFamily="34" charset="-120"/>
              </a:rPr>
              <a:t>Expected Results</a:t>
            </a:r>
            <a:endParaRPr lang="en-US" sz="1600" dirty="0"/>
          </a:p>
        </p:txBody>
      </p:sp>
      <p:sp>
        <p:nvSpPr>
          <p:cNvPr id="85" name="Results body"/>
          <p:cNvSpPr txBox="1"/>
          <p:nvPr/>
        </p:nvSpPr>
        <p:spPr>
          <a:xfrm>
            <a:off x="548640" y="13670280"/>
            <a:ext cx="2833116" cy="82296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Live inventory visibility and tracked stock movement.</a:t>
            </a:r>
            <a:endParaRPr lang="en-US" sz="1100" dirty="0"/>
          </a:p>
          <a:p>
            <a:pPr marL="177800" indent="-1778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Better space use and shorter retrieval time.</a:t>
            </a:r>
            <a:endParaRPr lang="en-US" sz="1100" dirty="0"/>
          </a:p>
        </p:txBody>
      </p:sp>
      <p:sp>
        <p:nvSpPr>
          <p:cNvPr id="86" name="Conclusion card"/>
          <p:cNvSpPr/>
          <p:nvPr/>
        </p:nvSpPr>
        <p:spPr>
          <a:xfrm>
            <a:off x="3747516" y="13167360"/>
            <a:ext cx="3198876" cy="1371600"/>
          </a:xfrm>
          <a:prstGeom prst="roundRect">
            <a:avLst>
              <a:gd name="adj" fmla="val 5333"/>
            </a:avLst>
          </a:prstGeom>
          <a:solidFill>
            <a:srgbClr val="ECFCCB"/>
          </a:solidFill>
          <a:ln w="15875">
            <a:solidFill>
              <a:srgbClr val="A3E635"/>
            </a:solidFill>
            <a:prstDash val="solid"/>
          </a:ln>
        </p:spPr>
      </p:sp>
      <p:sp>
        <p:nvSpPr>
          <p:cNvPr id="87" name="Conclusion title"/>
          <p:cNvSpPr txBox="1"/>
          <p:nvPr/>
        </p:nvSpPr>
        <p:spPr>
          <a:xfrm>
            <a:off x="3930396" y="13258800"/>
            <a:ext cx="2833116" cy="365760"/>
          </a:xfrm>
          <a:prstGeom prst="rect">
            <a:avLst/>
          </a:prstGeom>
          <a:noFill/>
          <a:ln/>
        </p:spPr>
        <p:txBody>
          <a:bodyPr wrap="square" lIns="0" tIns="0" rIns="0" bIns="0" rtlCol="0" anchor="ctr"/>
          <a:lstStyle/>
          <a:p>
            <a:pPr marL="0" indent="0">
              <a:buNone/>
            </a:pPr>
            <a:r>
              <a:rPr lang="en-US" sz="1600" b="1" dirty="0">
                <a:solidFill>
                  <a:srgbClr val="4D7C0F"/>
                </a:solidFill>
                <a:latin typeface="Calibri" pitchFamily="34" charset="0"/>
                <a:ea typeface="Calibri" pitchFamily="34" charset="-122"/>
                <a:cs typeface="Calibri" pitchFamily="34" charset="-120"/>
              </a:rPr>
              <a:t>Conclusion</a:t>
            </a:r>
            <a:endParaRPr lang="en-US" sz="1600" dirty="0"/>
          </a:p>
        </p:txBody>
      </p:sp>
      <p:sp>
        <p:nvSpPr>
          <p:cNvPr id="88" name="Conclusion body"/>
          <p:cNvSpPr txBox="1"/>
          <p:nvPr/>
        </p:nvSpPr>
        <p:spPr>
          <a:xfrm>
            <a:off x="3930396" y="13670280"/>
            <a:ext cx="2833116" cy="82296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One secure platform for inventory, suppliers and orders.</a:t>
            </a:r>
            <a:endParaRPr lang="en-US" sz="1100" dirty="0"/>
          </a:p>
          <a:p>
            <a:pPr marL="177800" indent="-1778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DSA-based slotting boosts warehouse efficiency.</a:t>
            </a:r>
            <a:endParaRPr lang="en-US" sz="1100" dirty="0"/>
          </a:p>
        </p:txBody>
      </p:sp>
      <p:sp>
        <p:nvSpPr>
          <p:cNvPr id="89" name="Future card"/>
          <p:cNvSpPr/>
          <p:nvPr/>
        </p:nvSpPr>
        <p:spPr>
          <a:xfrm>
            <a:off x="7129272" y="13167360"/>
            <a:ext cx="3198876" cy="1371600"/>
          </a:xfrm>
          <a:prstGeom prst="roundRect">
            <a:avLst>
              <a:gd name="adj" fmla="val 5333"/>
            </a:avLst>
          </a:prstGeom>
          <a:solidFill>
            <a:srgbClr val="FAE8FF"/>
          </a:solidFill>
          <a:ln w="15875">
            <a:solidFill>
              <a:srgbClr val="E879F9"/>
            </a:solidFill>
            <a:prstDash val="solid"/>
          </a:ln>
        </p:spPr>
      </p:sp>
      <p:sp>
        <p:nvSpPr>
          <p:cNvPr id="90" name="Future title"/>
          <p:cNvSpPr txBox="1"/>
          <p:nvPr/>
        </p:nvSpPr>
        <p:spPr>
          <a:xfrm>
            <a:off x="7312152" y="13258800"/>
            <a:ext cx="2833116" cy="365760"/>
          </a:xfrm>
          <a:prstGeom prst="rect">
            <a:avLst/>
          </a:prstGeom>
          <a:noFill/>
          <a:ln/>
        </p:spPr>
        <p:txBody>
          <a:bodyPr wrap="square" lIns="0" tIns="0" rIns="0" bIns="0" rtlCol="0" anchor="ctr"/>
          <a:lstStyle/>
          <a:p>
            <a:pPr marL="0" indent="0">
              <a:buNone/>
            </a:pPr>
            <a:r>
              <a:rPr lang="en-US" sz="1600" b="1" dirty="0">
                <a:solidFill>
                  <a:srgbClr val="A21CAF"/>
                </a:solidFill>
                <a:latin typeface="Calibri" pitchFamily="34" charset="0"/>
                <a:ea typeface="Calibri" pitchFamily="34" charset="-122"/>
                <a:cs typeface="Calibri" pitchFamily="34" charset="-120"/>
              </a:rPr>
              <a:t>Future Scope</a:t>
            </a:r>
            <a:endParaRPr lang="en-US" sz="1600" dirty="0"/>
          </a:p>
        </p:txBody>
      </p:sp>
      <p:sp>
        <p:nvSpPr>
          <p:cNvPr id="91" name="Future body"/>
          <p:cNvSpPr txBox="1"/>
          <p:nvPr/>
        </p:nvSpPr>
        <p:spPr>
          <a:xfrm>
            <a:off x="7312152" y="13670280"/>
            <a:ext cx="2833116" cy="82296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Demand forecasting using machine learning.</a:t>
            </a:r>
            <a:endParaRPr lang="en-US" sz="1100" dirty="0"/>
          </a:p>
          <a:p>
            <a:pPr marL="177800" indent="-1778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RFID tracking and a mobile app for warehouse staff.</a:t>
            </a:r>
            <a:endParaRPr lang="en-US" sz="1100" dirty="0"/>
          </a:p>
        </p:txBody>
      </p:sp>
      <p:sp>
        <p:nvSpPr>
          <p:cNvPr id="92" name="Text 88"/>
          <p:cNvSpPr txBox="1"/>
          <p:nvPr/>
        </p:nvSpPr>
        <p:spPr>
          <a:xfrm>
            <a:off x="365760" y="14676120"/>
            <a:ext cx="7315200" cy="27432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Sources: Project abstract and system design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584</Words>
  <Application>Microsoft Office PowerPoint</Application>
  <PresentationFormat>Custom</PresentationFormat>
  <Paragraphs>117</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and Warehouse Management System</dc:title>
  <dc:subject>PptxGenJS Presentation</dc:subject>
  <dc:creator>PptxGenJS</dc:creator>
  <cp:lastModifiedBy>laasya sri</cp:lastModifiedBy>
  <cp:revision>1</cp:revision>
  <dcterms:created xsi:type="dcterms:W3CDTF">2026-10-03T04:59:43Z</dcterms:created>
  <dcterms:modified xsi:type="dcterms:W3CDTF">2026-10-03T08:19:55Z</dcterms:modified>
</cp:coreProperties>
</file>