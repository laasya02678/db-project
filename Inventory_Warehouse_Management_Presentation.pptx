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C1C"/>
        </a:solidFill>
      </p:bgPr>
    </p:bg>
    <p:spTree>
      <p:nvGrpSpPr>
        <p:cNvPr id="1" name=""/>
        <p:cNvGrpSpPr/>
        <p:nvPr/>
      </p:nvGrpSpPr>
      <p:grpSpPr>
        <a:xfrm>
          <a:off x="0" y="0"/>
          <a:ext cx="0" cy="0"/>
          <a:chOff x="0" y="0"/>
          <a:chExt cx="0" cy="0"/>
        </a:xfrm>
      </p:grpSpPr>
      <p:sp>
        <p:nvSpPr>
          <p:cNvPr id="2" name="RightPanel"/>
          <p:cNvSpPr/>
          <p:nvPr/>
        </p:nvSpPr>
        <p:spPr>
          <a:xfrm>
            <a:off x="8183880" y="0"/>
            <a:ext cx="4005072" cy="6858000"/>
          </a:xfrm>
          <a:prstGeom prst="rect">
            <a:avLst/>
          </a:prstGeom>
          <a:solidFill>
            <a:srgbClr val="1F233E"/>
          </a:solidFill>
          <a:ln w="12700">
            <a:solidFill>
              <a:srgbClr val="1F233E"/>
            </a:solidFill>
            <a:prstDash val="solid"/>
          </a:ln>
        </p:spPr>
      </p:sp>
      <p:sp>
        <p:nvSpPr>
          <p:cNvPr id="3" name="PurpleBlock"/>
          <p:cNvSpPr/>
          <p:nvPr/>
        </p:nvSpPr>
        <p:spPr>
          <a:xfrm>
            <a:off x="8778240" y="320040"/>
            <a:ext cx="3108960" cy="6217920"/>
          </a:xfrm>
          <a:prstGeom prst="rect">
            <a:avLst/>
          </a:prstGeom>
          <a:solidFill>
            <a:srgbClr val="7E57FF"/>
          </a:solidFill>
          <a:ln w="12700">
            <a:solidFill>
              <a:srgbClr val="7E57FF"/>
            </a:solidFill>
            <a:prstDash val="solid"/>
          </a:ln>
        </p:spPr>
      </p:sp>
      <p:sp>
        <p:nvSpPr>
          <p:cNvPr id="4" name="Panel"/>
          <p:cNvSpPr/>
          <p:nvPr/>
        </p:nvSpPr>
        <p:spPr>
          <a:xfrm>
            <a:off x="9144000" y="777240"/>
            <a:ext cx="2377440" cy="5303520"/>
          </a:xfrm>
          <a:prstGeom prst="roundRect">
            <a:avLst>
              <a:gd name="adj" fmla="val 15385"/>
            </a:avLst>
          </a:prstGeom>
          <a:solidFill>
            <a:srgbClr val="0A0C1C"/>
          </a:solidFill>
          <a:ln w="12700">
            <a:solidFill>
              <a:srgbClr val="0A0C1C"/>
            </a:solidFill>
            <a:prstDash val="solid"/>
          </a:ln>
          <a:effectLst>
            <a:outerShdw sx="100000" sy="100000" kx="0" ky="0" algn="bl" rotWithShape="0" blurRad="127000" dist="38100" dir="5400000">
              <a:srgbClr val="000000">
                <a:alpha val="40000"/>
              </a:srgbClr>
            </a:outerShdw>
          </a:effectLst>
        </p:spPr>
      </p:sp>
      <p:sp>
        <p:nvSpPr>
          <p:cNvPr id="5" name="Slot1"/>
          <p:cNvSpPr/>
          <p:nvPr/>
        </p:nvSpPr>
        <p:spPr>
          <a:xfrm>
            <a:off x="9418320" y="1188720"/>
            <a:ext cx="530352" cy="585216"/>
          </a:xfrm>
          <a:prstGeom prst="roundRect">
            <a:avLst>
              <a:gd name="adj" fmla="val 17241"/>
            </a:avLst>
          </a:prstGeom>
          <a:solidFill>
            <a:srgbClr val="34C98B"/>
          </a:solidFill>
          <a:ln w="12700">
            <a:solidFill>
              <a:srgbClr val="34C98B"/>
            </a:solidFill>
            <a:prstDash val="solid"/>
          </a:ln>
        </p:spPr>
      </p:sp>
      <p:sp>
        <p:nvSpPr>
          <p:cNvPr id="6" name="Slot2"/>
          <p:cNvSpPr/>
          <p:nvPr/>
        </p:nvSpPr>
        <p:spPr>
          <a:xfrm>
            <a:off x="10040112" y="1188720"/>
            <a:ext cx="530352" cy="585216"/>
          </a:xfrm>
          <a:prstGeom prst="roundRect">
            <a:avLst>
              <a:gd name="adj" fmla="val 17241"/>
            </a:avLst>
          </a:prstGeom>
          <a:solidFill>
            <a:srgbClr val="4991FF"/>
          </a:solidFill>
          <a:ln w="12700">
            <a:solidFill>
              <a:srgbClr val="4991FF"/>
            </a:solidFill>
            <a:prstDash val="solid"/>
          </a:ln>
        </p:spPr>
      </p:sp>
      <p:sp>
        <p:nvSpPr>
          <p:cNvPr id="7" name="Slot3"/>
          <p:cNvSpPr/>
          <p:nvPr/>
        </p:nvSpPr>
        <p:spPr>
          <a:xfrm>
            <a:off x="10661904" y="1188720"/>
            <a:ext cx="530352" cy="585216"/>
          </a:xfrm>
          <a:prstGeom prst="roundRect">
            <a:avLst>
              <a:gd name="adj" fmla="val 17241"/>
            </a:avLst>
          </a:prstGeom>
          <a:solidFill>
            <a:srgbClr val="7E57FF"/>
          </a:solidFill>
          <a:ln w="12700">
            <a:solidFill>
              <a:srgbClr val="7E57FF"/>
            </a:solidFill>
            <a:prstDash val="solid"/>
          </a:ln>
        </p:spPr>
      </p:sp>
      <p:sp>
        <p:nvSpPr>
          <p:cNvPr id="8" name="Slot4"/>
          <p:cNvSpPr/>
          <p:nvPr/>
        </p:nvSpPr>
        <p:spPr>
          <a:xfrm>
            <a:off x="9418320" y="1901952"/>
            <a:ext cx="530352" cy="585216"/>
          </a:xfrm>
          <a:prstGeom prst="roundRect">
            <a:avLst>
              <a:gd name="adj" fmla="val 17241"/>
            </a:avLst>
          </a:prstGeom>
          <a:solidFill>
            <a:srgbClr val="36D3D6"/>
          </a:solidFill>
          <a:ln w="12700">
            <a:solidFill>
              <a:srgbClr val="36D3D6"/>
            </a:solidFill>
            <a:prstDash val="solid"/>
          </a:ln>
        </p:spPr>
      </p:sp>
      <p:sp>
        <p:nvSpPr>
          <p:cNvPr id="9" name="Slot5"/>
          <p:cNvSpPr/>
          <p:nvPr/>
        </p:nvSpPr>
        <p:spPr>
          <a:xfrm>
            <a:off x="10040112" y="1901952"/>
            <a:ext cx="530352" cy="585216"/>
          </a:xfrm>
          <a:prstGeom prst="roundRect">
            <a:avLst>
              <a:gd name="adj" fmla="val 17241"/>
            </a:avLst>
          </a:prstGeom>
          <a:solidFill>
            <a:srgbClr val="EB5B99"/>
          </a:solidFill>
          <a:ln w="12700">
            <a:solidFill>
              <a:srgbClr val="EB5B99"/>
            </a:solidFill>
            <a:prstDash val="solid"/>
          </a:ln>
        </p:spPr>
      </p:sp>
      <p:sp>
        <p:nvSpPr>
          <p:cNvPr id="10" name="Slot6"/>
          <p:cNvSpPr/>
          <p:nvPr/>
        </p:nvSpPr>
        <p:spPr>
          <a:xfrm>
            <a:off x="10661904" y="1901952"/>
            <a:ext cx="530352" cy="585216"/>
          </a:xfrm>
          <a:prstGeom prst="roundRect">
            <a:avLst>
              <a:gd name="adj" fmla="val 17241"/>
            </a:avLst>
          </a:prstGeom>
          <a:solidFill>
            <a:srgbClr val="4991FF"/>
          </a:solidFill>
          <a:ln w="12700">
            <a:solidFill>
              <a:srgbClr val="4991FF"/>
            </a:solidFill>
            <a:prstDash val="solid"/>
          </a:ln>
        </p:spPr>
      </p:sp>
      <p:sp>
        <p:nvSpPr>
          <p:cNvPr id="11" name="Slot7"/>
          <p:cNvSpPr/>
          <p:nvPr/>
        </p:nvSpPr>
        <p:spPr>
          <a:xfrm>
            <a:off x="9418320" y="2615184"/>
            <a:ext cx="530352" cy="585216"/>
          </a:xfrm>
          <a:prstGeom prst="roundRect">
            <a:avLst>
              <a:gd name="adj" fmla="val 17241"/>
            </a:avLst>
          </a:prstGeom>
          <a:solidFill>
            <a:srgbClr val="36D3D6"/>
          </a:solidFill>
          <a:ln w="12700">
            <a:solidFill>
              <a:srgbClr val="36D3D6"/>
            </a:solidFill>
            <a:prstDash val="solid"/>
          </a:ln>
        </p:spPr>
      </p:sp>
      <p:sp>
        <p:nvSpPr>
          <p:cNvPr id="12" name="Slot8"/>
          <p:cNvSpPr/>
          <p:nvPr/>
        </p:nvSpPr>
        <p:spPr>
          <a:xfrm>
            <a:off x="10040112" y="2615184"/>
            <a:ext cx="530352" cy="585216"/>
          </a:xfrm>
          <a:prstGeom prst="roundRect">
            <a:avLst>
              <a:gd name="adj" fmla="val 17241"/>
            </a:avLst>
          </a:prstGeom>
          <a:solidFill>
            <a:srgbClr val="34C98B"/>
          </a:solidFill>
          <a:ln w="12700">
            <a:solidFill>
              <a:srgbClr val="34C98B"/>
            </a:solidFill>
            <a:prstDash val="solid"/>
          </a:ln>
        </p:spPr>
      </p:sp>
      <p:sp>
        <p:nvSpPr>
          <p:cNvPr id="13" name="Slot9"/>
          <p:cNvSpPr/>
          <p:nvPr/>
        </p:nvSpPr>
        <p:spPr>
          <a:xfrm>
            <a:off x="10661904" y="2615184"/>
            <a:ext cx="530352" cy="585216"/>
          </a:xfrm>
          <a:prstGeom prst="roundRect">
            <a:avLst>
              <a:gd name="adj" fmla="val 17241"/>
            </a:avLst>
          </a:prstGeom>
          <a:solidFill>
            <a:srgbClr val="7E57FF"/>
          </a:solidFill>
          <a:ln w="12700">
            <a:solidFill>
              <a:srgbClr val="7E57FF"/>
            </a:solidFill>
            <a:prstDash val="solid"/>
          </a:ln>
        </p:spPr>
      </p:sp>
      <p:sp>
        <p:nvSpPr>
          <p:cNvPr id="14" name="Slot10"/>
          <p:cNvSpPr/>
          <p:nvPr/>
        </p:nvSpPr>
        <p:spPr>
          <a:xfrm>
            <a:off x="9418320" y="3328416"/>
            <a:ext cx="530352" cy="585216"/>
          </a:xfrm>
          <a:prstGeom prst="roundRect">
            <a:avLst>
              <a:gd name="adj" fmla="val 17241"/>
            </a:avLst>
          </a:prstGeom>
          <a:solidFill>
            <a:srgbClr val="EB5B99"/>
          </a:solidFill>
          <a:ln w="12700">
            <a:solidFill>
              <a:srgbClr val="EB5B99"/>
            </a:solidFill>
            <a:prstDash val="solid"/>
          </a:ln>
        </p:spPr>
      </p:sp>
      <p:sp>
        <p:nvSpPr>
          <p:cNvPr id="15" name="Slot11"/>
          <p:cNvSpPr/>
          <p:nvPr/>
        </p:nvSpPr>
        <p:spPr>
          <a:xfrm>
            <a:off x="10040112" y="3328416"/>
            <a:ext cx="530352" cy="585216"/>
          </a:xfrm>
          <a:prstGeom prst="roundRect">
            <a:avLst>
              <a:gd name="adj" fmla="val 17241"/>
            </a:avLst>
          </a:prstGeom>
          <a:solidFill>
            <a:srgbClr val="34C98B"/>
          </a:solidFill>
          <a:ln w="12700">
            <a:solidFill>
              <a:srgbClr val="34C98B"/>
            </a:solidFill>
            <a:prstDash val="solid"/>
          </a:ln>
        </p:spPr>
      </p:sp>
      <p:sp>
        <p:nvSpPr>
          <p:cNvPr id="16" name="Slot12"/>
          <p:cNvSpPr/>
          <p:nvPr/>
        </p:nvSpPr>
        <p:spPr>
          <a:xfrm>
            <a:off x="10661904" y="3328416"/>
            <a:ext cx="530352" cy="585216"/>
          </a:xfrm>
          <a:prstGeom prst="roundRect">
            <a:avLst>
              <a:gd name="adj" fmla="val 17241"/>
            </a:avLst>
          </a:prstGeom>
          <a:solidFill>
            <a:srgbClr val="4991FF"/>
          </a:solidFill>
          <a:ln w="12700">
            <a:solidFill>
              <a:srgbClr val="4991FF"/>
            </a:solidFill>
            <a:prstDash val="solid"/>
          </a:ln>
        </p:spPr>
      </p:sp>
      <p:sp>
        <p:nvSpPr>
          <p:cNvPr id="17" name="Text 15"/>
          <p:cNvSpPr txBox="1"/>
          <p:nvPr/>
        </p:nvSpPr>
        <p:spPr>
          <a:xfrm>
            <a:off x="9144000" y="4251960"/>
            <a:ext cx="2377440" cy="457200"/>
          </a:xfrm>
          <a:prstGeom prst="rect">
            <a:avLst/>
          </a:prstGeom>
          <a:noFill/>
          <a:ln/>
        </p:spPr>
        <p:txBody>
          <a:bodyPr wrap="square" lIns="0" tIns="0" rIns="0" bIns="0" rtlCol="0" anchor="ctr"/>
          <a:lstStyle/>
          <a:p>
            <a:pPr algn="ctr" indent="0" marL="0">
              <a:buNone/>
            </a:pPr>
            <a:r>
              <a:rPr lang="en-US" sz="2600" b="1" dirty="0">
                <a:solidFill>
                  <a:srgbClr val="36D3D6"/>
                </a:solidFill>
              </a:rPr>
              <a:t>SLOT</a:t>
            </a:r>
            <a:endParaRPr lang="en-US" sz="2600" dirty="0"/>
          </a:p>
        </p:txBody>
      </p:sp>
      <p:sp>
        <p:nvSpPr>
          <p:cNvPr id="18" name="Text 16"/>
          <p:cNvSpPr txBox="1"/>
          <p:nvPr/>
        </p:nvSpPr>
        <p:spPr>
          <a:xfrm>
            <a:off x="9144000" y="4754880"/>
            <a:ext cx="2377440" cy="274320"/>
          </a:xfrm>
          <a:prstGeom prst="rect">
            <a:avLst/>
          </a:prstGeom>
          <a:noFill/>
          <a:ln/>
        </p:spPr>
        <p:txBody>
          <a:bodyPr wrap="square" lIns="0" tIns="0" rIns="0" bIns="0" rtlCol="0" anchor="ctr"/>
          <a:lstStyle/>
          <a:p>
            <a:pPr algn="ctr" indent="0" marL="0">
              <a:buNone/>
            </a:pPr>
            <a:r>
              <a:rPr lang="en-US" sz="900" b="1" dirty="0">
                <a:solidFill>
                  <a:srgbClr val="AAB0CD"/>
                </a:solidFill>
              </a:rPr>
              <a:t>OPTIMIZED STORAGE</a:t>
            </a:r>
            <a:endParaRPr lang="en-US" sz="900" dirty="0"/>
          </a:p>
        </p:txBody>
      </p:sp>
      <p:pic>
        <p:nvPicPr>
          <p:cNvPr id="19" name="Logo" descr="logo.png">    </p:cNvPr>
          <p:cNvPicPr>
            <a:picLocks noChangeAspect="1"/>
          </p:cNvPicPr>
          <p:nvPr/>
        </p:nvPicPr>
        <p:blipFill>
          <a:blip r:embed="rId1"/>
          <a:stretch>
            <a:fillRect/>
          </a:stretch>
        </p:blipFill>
        <p:spPr>
          <a:xfrm>
            <a:off x="594360" y="320040"/>
            <a:ext cx="1325880" cy="621792"/>
          </a:xfrm>
          <a:prstGeom prst="rect">
            <a:avLst/>
          </a:prstGeom>
        </p:spPr>
      </p:pic>
      <p:sp>
        <p:nvSpPr>
          <p:cNvPr id="20" name="Text 17"/>
          <p:cNvSpPr txBox="1"/>
          <p:nvPr/>
        </p:nvSpPr>
        <p:spPr>
          <a:xfrm>
            <a:off x="777240" y="1188720"/>
            <a:ext cx="5486400" cy="274320"/>
          </a:xfrm>
          <a:prstGeom prst="rect">
            <a:avLst/>
          </a:prstGeom>
          <a:noFill/>
          <a:ln/>
        </p:spPr>
        <p:txBody>
          <a:bodyPr wrap="square" lIns="0" tIns="0" rIns="0" bIns="0" rtlCol="0" anchor="ctr"/>
          <a:lstStyle/>
          <a:p>
            <a:pPr indent="0" marL="0">
              <a:buNone/>
            </a:pPr>
            <a:r>
              <a:rPr lang="en-US" sz="1100" b="1" dirty="0">
                <a:solidFill>
                  <a:srgbClr val="36D3D6"/>
                </a:solidFill>
              </a:rPr>
              <a:t>PROJECT PRESENTATION</a:t>
            </a:r>
            <a:endParaRPr lang="en-US" sz="1100" dirty="0"/>
          </a:p>
        </p:txBody>
      </p:sp>
      <p:sp>
        <p:nvSpPr>
          <p:cNvPr id="21" name="Text 18"/>
          <p:cNvSpPr txBox="1"/>
          <p:nvPr/>
        </p:nvSpPr>
        <p:spPr>
          <a:xfrm>
            <a:off x="777240" y="1600200"/>
            <a:ext cx="7132320" cy="1371600"/>
          </a:xfrm>
          <a:prstGeom prst="rect">
            <a:avLst/>
          </a:prstGeom>
          <a:noFill/>
          <a:ln/>
        </p:spPr>
        <p:txBody>
          <a:bodyPr wrap="square" lIns="0" tIns="0" rIns="0" bIns="0" rtlCol="0" anchor="t"/>
          <a:lstStyle/>
          <a:p>
            <a:pPr indent="0" marL="0">
              <a:buNone/>
            </a:pPr>
            <a:r>
              <a:rPr lang="en-US" sz="4000" b="1" dirty="0">
                <a:solidFill>
                  <a:srgbClr val="F5F7FF"/>
                </a:solidFill>
              </a:rPr>
              <a:t>Inventory &amp; Warehouse</a:t>
            </a:r>
            <a:endParaRPr lang="en-US" sz="4000" dirty="0"/>
          </a:p>
          <a:p>
            <a:pPr indent="0" marL="0">
              <a:buNone/>
            </a:pPr>
            <a:r>
              <a:rPr lang="en-US" sz="4000" b="1" dirty="0">
                <a:solidFill>
                  <a:srgbClr val="F5F7FF"/>
                </a:solidFill>
              </a:rPr>
              <a:t>Management System</a:t>
            </a:r>
            <a:endParaRPr lang="en-US" sz="4000" dirty="0"/>
          </a:p>
        </p:txBody>
      </p:sp>
      <p:sp>
        <p:nvSpPr>
          <p:cNvPr id="22" name="Text 19"/>
          <p:cNvSpPr txBox="1"/>
          <p:nvPr/>
        </p:nvSpPr>
        <p:spPr>
          <a:xfrm>
            <a:off x="795528" y="3108960"/>
            <a:ext cx="7132320" cy="457200"/>
          </a:xfrm>
          <a:prstGeom prst="rect">
            <a:avLst/>
          </a:prstGeom>
          <a:noFill/>
          <a:ln/>
        </p:spPr>
        <p:txBody>
          <a:bodyPr wrap="square" lIns="0" tIns="0" rIns="0" bIns="0" rtlCol="0" anchor="ctr"/>
          <a:lstStyle/>
          <a:p>
            <a:pPr indent="0" marL="0">
              <a:buNone/>
            </a:pPr>
            <a:r>
              <a:rPr lang="en-US" sz="2200" b="1" dirty="0">
                <a:solidFill>
                  <a:srgbClr val="7E57FF"/>
                </a:solidFill>
              </a:rPr>
              <a:t>with Warehouse Slotting Optimization</a:t>
            </a:r>
            <a:endParaRPr lang="en-US" sz="2200" dirty="0"/>
          </a:p>
        </p:txBody>
      </p:sp>
      <p:sp>
        <p:nvSpPr>
          <p:cNvPr id="23" name="Text 20"/>
          <p:cNvSpPr txBox="1"/>
          <p:nvPr/>
        </p:nvSpPr>
        <p:spPr>
          <a:xfrm>
            <a:off x="795528" y="3749040"/>
            <a:ext cx="7315200" cy="274320"/>
          </a:xfrm>
          <a:prstGeom prst="rect">
            <a:avLst/>
          </a:prstGeom>
          <a:noFill/>
          <a:ln/>
        </p:spPr>
        <p:txBody>
          <a:bodyPr wrap="square" lIns="0" tIns="0" rIns="0" bIns="0" rtlCol="0" anchor="ctr"/>
          <a:lstStyle/>
          <a:p>
            <a:pPr indent="0" marL="0">
              <a:buNone/>
            </a:pPr>
            <a:r>
              <a:rPr lang="en-US" sz="1100" b="1" dirty="0">
                <a:solidFill>
                  <a:srgbClr val="F5F7FF"/>
                </a:solidFill>
              </a:rPr>
              <a:t>Database Systems Engineering and Distributed Backend Development (25CS1302E)</a:t>
            </a:r>
            <a:endParaRPr lang="en-US" sz="1100" dirty="0"/>
          </a:p>
        </p:txBody>
      </p:sp>
      <p:sp>
        <p:nvSpPr>
          <p:cNvPr id="24" name="Text 21"/>
          <p:cNvSpPr txBox="1"/>
          <p:nvPr/>
        </p:nvSpPr>
        <p:spPr>
          <a:xfrm>
            <a:off x="795528" y="4114800"/>
            <a:ext cx="6766560" cy="548640"/>
          </a:xfrm>
          <a:prstGeom prst="rect">
            <a:avLst/>
          </a:prstGeom>
          <a:noFill/>
          <a:ln/>
        </p:spPr>
        <p:txBody>
          <a:bodyPr wrap="square" lIns="0" tIns="0" rIns="0" bIns="0" rtlCol="0" anchor="t"/>
          <a:lstStyle/>
          <a:p>
            <a:pPr indent="0" marL="0">
              <a:buNone/>
            </a:pPr>
            <a:r>
              <a:rPr lang="en-US" sz="1300" dirty="0">
                <a:solidFill>
                  <a:srgbClr val="AAB0CD"/>
                </a:solidFill>
              </a:rPr>
              <a:t>A centralized platform for managing products, warehouses, suppliers, staff, stock transactions and orders.</a:t>
            </a:r>
            <a:endParaRPr lang="en-US" sz="1300" dirty="0"/>
          </a:p>
        </p:txBody>
      </p:sp>
      <p:sp>
        <p:nvSpPr>
          <p:cNvPr id="25" name="Text 22"/>
          <p:cNvSpPr txBox="1"/>
          <p:nvPr/>
        </p:nvSpPr>
        <p:spPr>
          <a:xfrm>
            <a:off x="795528" y="4983480"/>
            <a:ext cx="5486400" cy="228600"/>
          </a:xfrm>
          <a:prstGeom prst="rect">
            <a:avLst/>
          </a:prstGeom>
          <a:noFill/>
          <a:ln/>
        </p:spPr>
        <p:txBody>
          <a:bodyPr wrap="square" lIns="0" tIns="0" rIns="0" bIns="0" rtlCol="0" anchor="ctr"/>
          <a:lstStyle/>
          <a:p>
            <a:pPr indent="0" marL="0">
              <a:buNone/>
            </a:pPr>
            <a:r>
              <a:rPr lang="en-US" sz="900" b="1" dirty="0">
                <a:solidFill>
                  <a:srgbClr val="AAB0CD"/>
                </a:solidFill>
              </a:rPr>
              <a:t>TEAM 17  •  SEC 12</a:t>
            </a:r>
            <a:endParaRPr lang="en-US" sz="900" dirty="0"/>
          </a:p>
        </p:txBody>
      </p:sp>
      <p:sp>
        <p:nvSpPr>
          <p:cNvPr id="26" name="Text 23"/>
          <p:cNvSpPr txBox="1"/>
          <p:nvPr/>
        </p:nvSpPr>
        <p:spPr>
          <a:xfrm>
            <a:off x="795528" y="5257800"/>
            <a:ext cx="5486400" cy="777240"/>
          </a:xfrm>
          <a:prstGeom prst="rect">
            <a:avLst/>
          </a:prstGeom>
          <a:noFill/>
          <a:ln/>
        </p:spPr>
        <p:txBody>
          <a:bodyPr wrap="square" lIns="0" tIns="0" rIns="0" bIns="0" rtlCol="0" anchor="t"/>
          <a:lstStyle/>
          <a:p>
            <a:pPr indent="0" marL="0">
              <a:buNone/>
            </a:pPr>
            <a:r>
              <a:rPr lang="en-US" sz="1100" dirty="0">
                <a:solidFill>
                  <a:srgbClr val="F5F7FF"/>
                </a:solidFill>
              </a:rPr>
              <a:t>M. Laasya Sri — 2520090196</a:t>
            </a:r>
            <a:endParaRPr lang="en-US" sz="1100" dirty="0"/>
          </a:p>
          <a:p>
            <a:pPr indent="0" marL="0">
              <a:buNone/>
            </a:pPr>
            <a:r>
              <a:rPr lang="en-US" sz="1100" dirty="0">
                <a:solidFill>
                  <a:srgbClr val="F5F7FF"/>
                </a:solidFill>
              </a:rPr>
              <a:t>M. Rajini — 2520090197</a:t>
            </a:r>
            <a:endParaRPr lang="en-US" sz="1100" dirty="0"/>
          </a:p>
          <a:p>
            <a:pPr indent="0" marL="0">
              <a:buNone/>
            </a:pPr>
            <a:r>
              <a:rPr lang="en-US" sz="1100" dirty="0">
                <a:solidFill>
                  <a:srgbClr val="F5F7FF"/>
                </a:solidFill>
              </a:rPr>
              <a:t>K. Ramya — 2520090313</a:t>
            </a:r>
            <a:endParaRPr lang="en-US" sz="1100" dirty="0"/>
          </a:p>
        </p:txBody>
      </p:sp>
      <p:sp>
        <p:nvSpPr>
          <p:cNvPr id="27" name="Text 24"/>
          <p:cNvSpPr txBox="1"/>
          <p:nvPr/>
        </p:nvSpPr>
        <p:spPr>
          <a:xfrm>
            <a:off x="795528" y="6355080"/>
            <a:ext cx="5486400" cy="228600"/>
          </a:xfrm>
          <a:prstGeom prst="rect">
            <a:avLst/>
          </a:prstGeom>
          <a:noFill/>
          <a:ln/>
        </p:spPr>
        <p:txBody>
          <a:bodyPr wrap="square" lIns="0" tIns="0" rIns="0" bIns="0" rtlCol="0" anchor="ctr"/>
          <a:lstStyle/>
          <a:p>
            <a:pPr indent="0" marL="0">
              <a:buNone/>
            </a:pPr>
            <a:r>
              <a:rPr lang="en-US" sz="1000" b="1" dirty="0">
                <a:solidFill>
                  <a:srgbClr val="36D3D6"/>
                </a:solidFill>
              </a:rPr>
              <a:t>Y25 • 2026-2027 • TRIMESTER 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Abstract</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Overview of the proposed inventory and warehouse solution</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02</a:t>
            </a:r>
            <a:endParaRPr lang="en-US" sz="800" dirty="0"/>
          </a:p>
        </p:txBody>
      </p:sp>
      <p:sp>
        <p:nvSpPr>
          <p:cNvPr id="7" name="Card"/>
          <p:cNvSpPr/>
          <p:nvPr/>
        </p:nvSpPr>
        <p:spPr>
          <a:xfrm>
            <a:off x="731520" y="1783080"/>
            <a:ext cx="10698480" cy="4343400"/>
          </a:xfrm>
          <a:prstGeom prst="roundRect">
            <a:avLst>
              <a:gd name="adj" fmla="val 7368"/>
            </a:avLst>
          </a:prstGeom>
          <a:solidFill>
            <a:srgbClr val="181B31"/>
          </a:solidFill>
          <a:ln w="12700">
            <a:solidFill>
              <a:srgbClr val="181B31"/>
            </a:solidFill>
            <a:prstDash val="solid"/>
          </a:ln>
        </p:spPr>
      </p:sp>
      <p:sp>
        <p:nvSpPr>
          <p:cNvPr id="8" name="Text 5"/>
          <p:cNvSpPr txBox="1"/>
          <p:nvPr/>
        </p:nvSpPr>
        <p:spPr>
          <a:xfrm>
            <a:off x="1051560" y="205740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PROJECT ABSTRACT</a:t>
            </a:r>
            <a:endParaRPr lang="en-US" sz="1100" dirty="0"/>
          </a:p>
        </p:txBody>
      </p:sp>
      <p:sp>
        <p:nvSpPr>
          <p:cNvPr id="9" name="Text 6"/>
          <p:cNvSpPr txBox="1"/>
          <p:nvPr/>
        </p:nvSpPr>
        <p:spPr>
          <a:xfrm>
            <a:off x="1051560" y="2468880"/>
            <a:ext cx="9966960" cy="3383280"/>
          </a:xfrm>
          <a:prstGeom prst="rect">
            <a:avLst/>
          </a:prstGeom>
          <a:noFill/>
          <a:ln/>
        </p:spPr>
        <p:txBody>
          <a:bodyPr wrap="square" lIns="0" tIns="0" rIns="0" bIns="0" rtlCol="0" anchor="t"/>
          <a:lstStyle/>
          <a:p>
            <a:pPr indent="0" marL="0">
              <a:spcAft>
                <a:spcPts val="1200"/>
              </a:spcAft>
              <a:buNone/>
            </a:pPr>
            <a:r>
              <a:rPr lang="en-US" sz="1400" dirty="0">
                <a:solidFill>
                  <a:srgbClr val="F5F7FF"/>
                </a:solidFill>
              </a:rPr>
              <a:t>The Inventory and Warehouse Management System is a web-based application designed to efficiently manage products, warehouses, suppliers, staff, stock transactions and orders through a centralized platform. It provides a secure and organized environment for monitoring inventory, tracking stock movement, managing warehouse capacity and viewing the products stored in each warehouse, protected by authentication and role-based access control.</a:t>
            </a:r>
            <a:endParaRPr lang="en-US" sz="1400" dirty="0"/>
          </a:p>
          <a:p>
            <a:pPr indent="0" marL="0">
              <a:spcAft>
                <a:spcPts val="1200"/>
              </a:spcAft>
              <a:buNone/>
            </a:pPr>
            <a:r>
              <a:rPr lang="en-US" sz="1400" dirty="0">
                <a:solidFill>
                  <a:srgbClr val="F5F7FF"/>
                </a:solidFill>
              </a:rPr>
              <a:t>The system also improves warehouse efficiency through Warehouse Slotting Optimization. DSA techniques such as sorting, priority queues and greedy algorithms prioritize products based on demand and assign them to suitable warehouse locations, considering storage capacity, product requirements and accessibility.</a:t>
            </a:r>
            <a:endParaRPr lang="en-US" sz="1400" dirty="0"/>
          </a:p>
          <a:p>
            <a:pPr indent="0" marL="0">
              <a:buNone/>
            </a:pPr>
            <a:r>
              <a:rPr lang="en-US" sz="1400" dirty="0">
                <a:solidFill>
                  <a:srgbClr val="F5F7FF"/>
                </a:solidFill>
              </a:rPr>
              <a:t>The main goal is to improve inventory visibility, utilize warehouse space efficiently, and reduce the time and distance required for product retrieval.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Introduction</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One platform for the complete inventory lifecycle</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03</a:t>
            </a:r>
            <a:endParaRPr lang="en-US" sz="800" dirty="0"/>
          </a:p>
        </p:txBody>
      </p:sp>
      <p:sp>
        <p:nvSpPr>
          <p:cNvPr id="7" name="Card"/>
          <p:cNvSpPr/>
          <p:nvPr/>
        </p:nvSpPr>
        <p:spPr>
          <a:xfrm>
            <a:off x="731520" y="1783080"/>
            <a:ext cx="7040880" cy="4343400"/>
          </a:xfrm>
          <a:prstGeom prst="roundRect">
            <a:avLst>
              <a:gd name="adj" fmla="val 7368"/>
            </a:avLst>
          </a:prstGeom>
          <a:solidFill>
            <a:srgbClr val="181B31"/>
          </a:solidFill>
          <a:ln w="12700">
            <a:solidFill>
              <a:srgbClr val="181B31"/>
            </a:solidFill>
            <a:prstDash val="solid"/>
          </a:ln>
        </p:spPr>
      </p:sp>
      <p:sp>
        <p:nvSpPr>
          <p:cNvPr id="8" name="Text 5"/>
          <p:cNvSpPr txBox="1"/>
          <p:nvPr/>
        </p:nvSpPr>
        <p:spPr>
          <a:xfrm>
            <a:off x="1051560" y="205740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THE IDEA</a:t>
            </a:r>
            <a:endParaRPr lang="en-US" sz="1100" dirty="0"/>
          </a:p>
        </p:txBody>
      </p:sp>
      <p:sp>
        <p:nvSpPr>
          <p:cNvPr id="9" name="Text 6"/>
          <p:cNvSpPr txBox="1"/>
          <p:nvPr/>
        </p:nvSpPr>
        <p:spPr>
          <a:xfrm>
            <a:off x="1051560" y="2423160"/>
            <a:ext cx="6400800" cy="548640"/>
          </a:xfrm>
          <a:prstGeom prst="rect">
            <a:avLst/>
          </a:prstGeom>
          <a:noFill/>
          <a:ln/>
        </p:spPr>
        <p:txBody>
          <a:bodyPr wrap="square" lIns="0" tIns="0" rIns="0" bIns="0" rtlCol="0" anchor="ctr"/>
          <a:lstStyle/>
          <a:p>
            <a:pPr indent="0" marL="0">
              <a:buNone/>
            </a:pPr>
            <a:r>
              <a:rPr lang="en-US" sz="2400" b="1" dirty="0">
                <a:solidFill>
                  <a:srgbClr val="F5F7FF"/>
                </a:solidFill>
              </a:rPr>
              <a:t>Receive → Store → Track → Fulfil</a:t>
            </a:r>
            <a:endParaRPr lang="en-US" sz="2400" dirty="0"/>
          </a:p>
        </p:txBody>
      </p:sp>
      <p:sp>
        <p:nvSpPr>
          <p:cNvPr id="10" name="Marker"/>
          <p:cNvSpPr/>
          <p:nvPr/>
        </p:nvSpPr>
        <p:spPr>
          <a:xfrm>
            <a:off x="1051560" y="3200400"/>
            <a:ext cx="365760" cy="365760"/>
          </a:xfrm>
          <a:prstGeom prst="ellipse">
            <a:avLst/>
          </a:prstGeom>
          <a:solidFill>
            <a:srgbClr val="34C98B"/>
          </a:solidFill>
          <a:ln w="12700">
            <a:solidFill>
              <a:srgbClr val="34C98B"/>
            </a:solidFill>
            <a:prstDash val="solid"/>
          </a:ln>
        </p:spPr>
      </p:sp>
      <p:sp>
        <p:nvSpPr>
          <p:cNvPr id="11" name="Text 8"/>
          <p:cNvSpPr txBox="1"/>
          <p:nvPr/>
        </p:nvSpPr>
        <p:spPr>
          <a:xfrm>
            <a:off x="1051560" y="3200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2" name="Text 9"/>
          <p:cNvSpPr txBox="1"/>
          <p:nvPr/>
        </p:nvSpPr>
        <p:spPr>
          <a:xfrm>
            <a:off x="1581912" y="315468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Manage products, suppliers, staff and warehouses in one place</a:t>
            </a:r>
            <a:endParaRPr lang="en-US" sz="1300" dirty="0"/>
          </a:p>
        </p:txBody>
      </p:sp>
      <p:sp>
        <p:nvSpPr>
          <p:cNvPr id="13" name="Marker"/>
          <p:cNvSpPr/>
          <p:nvPr/>
        </p:nvSpPr>
        <p:spPr>
          <a:xfrm>
            <a:off x="1051560" y="3749040"/>
            <a:ext cx="365760" cy="365760"/>
          </a:xfrm>
          <a:prstGeom prst="ellipse">
            <a:avLst/>
          </a:prstGeom>
          <a:solidFill>
            <a:srgbClr val="34C98B"/>
          </a:solidFill>
          <a:ln w="12700">
            <a:solidFill>
              <a:srgbClr val="34C98B"/>
            </a:solidFill>
            <a:prstDash val="solid"/>
          </a:ln>
        </p:spPr>
      </p:sp>
      <p:sp>
        <p:nvSpPr>
          <p:cNvPr id="14" name="Text 11"/>
          <p:cNvSpPr txBox="1"/>
          <p:nvPr/>
        </p:nvSpPr>
        <p:spPr>
          <a:xfrm>
            <a:off x="1051560" y="3749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5" name="Text 12"/>
          <p:cNvSpPr txBox="1"/>
          <p:nvPr/>
        </p:nvSpPr>
        <p:spPr>
          <a:xfrm>
            <a:off x="1581912" y="370332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Record every stock transaction to track stock movement</a:t>
            </a:r>
            <a:endParaRPr lang="en-US" sz="1300" dirty="0"/>
          </a:p>
        </p:txBody>
      </p:sp>
      <p:sp>
        <p:nvSpPr>
          <p:cNvPr id="16" name="Marker"/>
          <p:cNvSpPr/>
          <p:nvPr/>
        </p:nvSpPr>
        <p:spPr>
          <a:xfrm>
            <a:off x="1051560" y="4297680"/>
            <a:ext cx="365760" cy="365760"/>
          </a:xfrm>
          <a:prstGeom prst="ellipse">
            <a:avLst/>
          </a:prstGeom>
          <a:solidFill>
            <a:srgbClr val="34C98B"/>
          </a:solidFill>
          <a:ln w="12700">
            <a:solidFill>
              <a:srgbClr val="34C98B"/>
            </a:solidFill>
            <a:prstDash val="solid"/>
          </a:ln>
        </p:spPr>
      </p:sp>
      <p:sp>
        <p:nvSpPr>
          <p:cNvPr id="17" name="Text 14"/>
          <p:cNvSpPr txBox="1"/>
          <p:nvPr/>
        </p:nvSpPr>
        <p:spPr>
          <a:xfrm>
            <a:off x="1051560" y="42976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8" name="Text 15"/>
          <p:cNvSpPr txBox="1"/>
          <p:nvPr/>
        </p:nvSpPr>
        <p:spPr>
          <a:xfrm>
            <a:off x="1581912" y="425196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Monitor warehouse capacity and products stored in each warehouse</a:t>
            </a:r>
            <a:endParaRPr lang="en-US" sz="1300" dirty="0"/>
          </a:p>
        </p:txBody>
      </p:sp>
      <p:sp>
        <p:nvSpPr>
          <p:cNvPr id="19" name="Marker"/>
          <p:cNvSpPr/>
          <p:nvPr/>
        </p:nvSpPr>
        <p:spPr>
          <a:xfrm>
            <a:off x="1051560" y="4846320"/>
            <a:ext cx="365760" cy="365760"/>
          </a:xfrm>
          <a:prstGeom prst="ellipse">
            <a:avLst/>
          </a:prstGeom>
          <a:solidFill>
            <a:srgbClr val="34C98B"/>
          </a:solidFill>
          <a:ln w="12700">
            <a:solidFill>
              <a:srgbClr val="34C98B"/>
            </a:solidFill>
            <a:prstDash val="solid"/>
          </a:ln>
        </p:spPr>
      </p:sp>
      <p:sp>
        <p:nvSpPr>
          <p:cNvPr id="20" name="Text 17"/>
          <p:cNvSpPr txBox="1"/>
          <p:nvPr/>
        </p:nvSpPr>
        <p:spPr>
          <a:xfrm>
            <a:off x="1051560" y="4846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1" name="Text 18"/>
          <p:cNvSpPr txBox="1"/>
          <p:nvPr/>
        </p:nvSpPr>
        <p:spPr>
          <a:xfrm>
            <a:off x="1581912" y="480060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Place products smartly using slotting optimization</a:t>
            </a:r>
            <a:endParaRPr lang="en-US" sz="1300" dirty="0"/>
          </a:p>
        </p:txBody>
      </p:sp>
      <p:sp>
        <p:nvSpPr>
          <p:cNvPr id="22" name="Marker"/>
          <p:cNvSpPr/>
          <p:nvPr/>
        </p:nvSpPr>
        <p:spPr>
          <a:xfrm>
            <a:off x="1051560" y="5394960"/>
            <a:ext cx="365760" cy="365760"/>
          </a:xfrm>
          <a:prstGeom prst="ellipse">
            <a:avLst/>
          </a:prstGeom>
          <a:solidFill>
            <a:srgbClr val="34C98B"/>
          </a:solidFill>
          <a:ln w="12700">
            <a:solidFill>
              <a:srgbClr val="34C98B"/>
            </a:solidFill>
            <a:prstDash val="solid"/>
          </a:ln>
        </p:spPr>
      </p:sp>
      <p:sp>
        <p:nvSpPr>
          <p:cNvPr id="23" name="Text 20"/>
          <p:cNvSpPr txBox="1"/>
          <p:nvPr/>
        </p:nvSpPr>
        <p:spPr>
          <a:xfrm>
            <a:off x="1051560" y="5394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4" name="Text 21"/>
          <p:cNvSpPr txBox="1"/>
          <p:nvPr/>
        </p:nvSpPr>
        <p:spPr>
          <a:xfrm>
            <a:off x="1581912" y="534924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Secure access through authentication and role-based control</a:t>
            </a:r>
            <a:endParaRPr lang="en-US" sz="1300" dirty="0"/>
          </a:p>
        </p:txBody>
      </p:sp>
      <p:sp>
        <p:nvSpPr>
          <p:cNvPr id="25" name="Card"/>
          <p:cNvSpPr/>
          <p:nvPr/>
        </p:nvSpPr>
        <p:spPr>
          <a:xfrm>
            <a:off x="8046720" y="1783080"/>
            <a:ext cx="3383280" cy="4343400"/>
          </a:xfrm>
          <a:prstGeom prst="roundRect">
            <a:avLst>
              <a:gd name="adj" fmla="val 9459"/>
            </a:avLst>
          </a:prstGeom>
          <a:solidFill>
            <a:srgbClr val="1F233E"/>
          </a:solidFill>
          <a:ln w="12700">
            <a:solidFill>
              <a:srgbClr val="1F233E"/>
            </a:solidFill>
            <a:prstDash val="solid"/>
          </a:ln>
        </p:spPr>
      </p:sp>
      <p:sp>
        <p:nvSpPr>
          <p:cNvPr id="26" name="Text 23"/>
          <p:cNvSpPr txBox="1"/>
          <p:nvPr/>
        </p:nvSpPr>
        <p:spPr>
          <a:xfrm>
            <a:off x="8366760" y="2057400"/>
            <a:ext cx="4572000" cy="274320"/>
          </a:xfrm>
          <a:prstGeom prst="rect">
            <a:avLst/>
          </a:prstGeom>
          <a:noFill/>
          <a:ln/>
        </p:spPr>
        <p:txBody>
          <a:bodyPr wrap="square" lIns="0" tIns="0" rIns="0" bIns="0" rtlCol="0" anchor="ctr"/>
          <a:lstStyle/>
          <a:p>
            <a:pPr indent="0" marL="0">
              <a:buNone/>
            </a:pPr>
            <a:r>
              <a:rPr lang="en-US" sz="1100" b="1" spc="100" kern="0" dirty="0">
                <a:solidFill>
                  <a:srgbClr val="7E57FF"/>
                </a:solidFill>
              </a:rPr>
              <a:t>INVENTORY FLOW</a:t>
            </a:r>
            <a:endParaRPr lang="en-US" sz="1100" dirty="0"/>
          </a:p>
        </p:txBody>
      </p:sp>
      <p:sp>
        <p:nvSpPr>
          <p:cNvPr id="27" name="Marker"/>
          <p:cNvSpPr/>
          <p:nvPr/>
        </p:nvSpPr>
        <p:spPr>
          <a:xfrm>
            <a:off x="8412480" y="2606040"/>
            <a:ext cx="502920" cy="502920"/>
          </a:xfrm>
          <a:prstGeom prst="ellipse">
            <a:avLst/>
          </a:prstGeom>
          <a:solidFill>
            <a:srgbClr val="4991FF"/>
          </a:solidFill>
          <a:ln w="12700">
            <a:solidFill>
              <a:srgbClr val="4991FF"/>
            </a:solidFill>
            <a:prstDash val="solid"/>
          </a:ln>
        </p:spPr>
      </p:sp>
      <p:sp>
        <p:nvSpPr>
          <p:cNvPr id="28" name="Text 25"/>
          <p:cNvSpPr txBox="1"/>
          <p:nvPr/>
        </p:nvSpPr>
        <p:spPr>
          <a:xfrm>
            <a:off x="8412480" y="260604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29" name="Text 26"/>
          <p:cNvSpPr txBox="1"/>
          <p:nvPr/>
        </p:nvSpPr>
        <p:spPr>
          <a:xfrm>
            <a:off x="9144000" y="260604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RECEIVE</a:t>
            </a:r>
            <a:endParaRPr lang="en-US" sz="1300" dirty="0"/>
          </a:p>
        </p:txBody>
      </p:sp>
      <p:sp>
        <p:nvSpPr>
          <p:cNvPr id="30" name="Marker"/>
          <p:cNvSpPr/>
          <p:nvPr/>
        </p:nvSpPr>
        <p:spPr>
          <a:xfrm>
            <a:off x="8412480" y="3474720"/>
            <a:ext cx="502920" cy="502920"/>
          </a:xfrm>
          <a:prstGeom prst="ellipse">
            <a:avLst/>
          </a:prstGeom>
          <a:solidFill>
            <a:srgbClr val="7E57FF"/>
          </a:solidFill>
          <a:ln w="12700">
            <a:solidFill>
              <a:srgbClr val="7E57FF"/>
            </a:solidFill>
            <a:prstDash val="solid"/>
          </a:ln>
        </p:spPr>
      </p:sp>
      <p:sp>
        <p:nvSpPr>
          <p:cNvPr id="31" name="Text 28"/>
          <p:cNvSpPr txBox="1"/>
          <p:nvPr/>
        </p:nvSpPr>
        <p:spPr>
          <a:xfrm>
            <a:off x="8412480" y="347472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32" name="Text 29"/>
          <p:cNvSpPr txBox="1"/>
          <p:nvPr/>
        </p:nvSpPr>
        <p:spPr>
          <a:xfrm>
            <a:off x="9144000" y="347472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SLOT</a:t>
            </a:r>
            <a:endParaRPr lang="en-US" sz="1300" dirty="0"/>
          </a:p>
        </p:txBody>
      </p:sp>
      <p:sp>
        <p:nvSpPr>
          <p:cNvPr id="33" name="Marker"/>
          <p:cNvSpPr/>
          <p:nvPr/>
        </p:nvSpPr>
        <p:spPr>
          <a:xfrm>
            <a:off x="8412480" y="4343400"/>
            <a:ext cx="502920" cy="502920"/>
          </a:xfrm>
          <a:prstGeom prst="ellipse">
            <a:avLst/>
          </a:prstGeom>
          <a:solidFill>
            <a:srgbClr val="36D3D6"/>
          </a:solidFill>
          <a:ln w="12700">
            <a:solidFill>
              <a:srgbClr val="36D3D6"/>
            </a:solidFill>
            <a:prstDash val="solid"/>
          </a:ln>
        </p:spPr>
      </p:sp>
      <p:sp>
        <p:nvSpPr>
          <p:cNvPr id="34" name="Text 31"/>
          <p:cNvSpPr txBox="1"/>
          <p:nvPr/>
        </p:nvSpPr>
        <p:spPr>
          <a:xfrm>
            <a:off x="8412480" y="434340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35" name="Text 32"/>
          <p:cNvSpPr txBox="1"/>
          <p:nvPr/>
        </p:nvSpPr>
        <p:spPr>
          <a:xfrm>
            <a:off x="9144000" y="434340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TRACK</a:t>
            </a:r>
            <a:endParaRPr lang="en-US" sz="1300" dirty="0"/>
          </a:p>
        </p:txBody>
      </p:sp>
      <p:sp>
        <p:nvSpPr>
          <p:cNvPr id="36" name="Marker"/>
          <p:cNvSpPr/>
          <p:nvPr/>
        </p:nvSpPr>
        <p:spPr>
          <a:xfrm>
            <a:off x="8412480" y="5212080"/>
            <a:ext cx="502920" cy="502920"/>
          </a:xfrm>
          <a:prstGeom prst="ellipse">
            <a:avLst/>
          </a:prstGeom>
          <a:solidFill>
            <a:srgbClr val="34C98B"/>
          </a:solidFill>
          <a:ln w="12700">
            <a:solidFill>
              <a:srgbClr val="34C98B"/>
            </a:solidFill>
            <a:prstDash val="solid"/>
          </a:ln>
        </p:spPr>
      </p:sp>
      <p:sp>
        <p:nvSpPr>
          <p:cNvPr id="37" name="Text 34"/>
          <p:cNvSpPr txBox="1"/>
          <p:nvPr/>
        </p:nvSpPr>
        <p:spPr>
          <a:xfrm>
            <a:off x="8412480" y="52120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8" name="Text 35"/>
          <p:cNvSpPr txBox="1"/>
          <p:nvPr/>
        </p:nvSpPr>
        <p:spPr>
          <a:xfrm>
            <a:off x="9144000" y="5212080"/>
            <a:ext cx="2011680" cy="502920"/>
          </a:xfrm>
          <a:prstGeom prst="rect">
            <a:avLst/>
          </a:prstGeom>
          <a:noFill/>
          <a:ln/>
        </p:spPr>
        <p:txBody>
          <a:bodyPr wrap="square" lIns="0" tIns="0" rIns="0" bIns="0" rtlCol="0" anchor="ctr"/>
          <a:lstStyle/>
          <a:p>
            <a:pPr indent="0" marL="0">
              <a:buNone/>
            </a:pPr>
            <a:r>
              <a:rPr lang="en-US" sz="1300" b="1" dirty="0">
                <a:solidFill>
                  <a:srgbClr val="F5F7FF"/>
                </a:solidFill>
              </a:rPr>
              <a:t>FULFIL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Problem Statement &amp; Solution</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The existing challenges and our proposed solution</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04</a:t>
            </a:r>
            <a:endParaRPr lang="en-US" sz="800" dirty="0"/>
          </a:p>
        </p:txBody>
      </p:sp>
      <p:sp>
        <p:nvSpPr>
          <p:cNvPr id="7" name="Card"/>
          <p:cNvSpPr/>
          <p:nvPr/>
        </p:nvSpPr>
        <p:spPr>
          <a:xfrm>
            <a:off x="685800" y="1783080"/>
            <a:ext cx="5257800" cy="4480560"/>
          </a:xfrm>
          <a:prstGeom prst="roundRect">
            <a:avLst>
              <a:gd name="adj" fmla="val 7143"/>
            </a:avLst>
          </a:prstGeom>
          <a:solidFill>
            <a:srgbClr val="181B31"/>
          </a:solidFill>
          <a:ln w="12700">
            <a:solidFill>
              <a:srgbClr val="181B31"/>
            </a:solidFill>
            <a:prstDash val="solid"/>
          </a:ln>
        </p:spPr>
      </p:sp>
      <p:sp>
        <p:nvSpPr>
          <p:cNvPr id="8" name="Text 5"/>
          <p:cNvSpPr txBox="1"/>
          <p:nvPr/>
        </p:nvSpPr>
        <p:spPr>
          <a:xfrm>
            <a:off x="1005840" y="2103120"/>
            <a:ext cx="4572000" cy="274320"/>
          </a:xfrm>
          <a:prstGeom prst="rect">
            <a:avLst/>
          </a:prstGeom>
          <a:noFill/>
          <a:ln/>
        </p:spPr>
        <p:txBody>
          <a:bodyPr wrap="square" lIns="0" tIns="0" rIns="0" bIns="0" rtlCol="0" anchor="ctr"/>
          <a:lstStyle/>
          <a:p>
            <a:pPr indent="0" marL="0">
              <a:buNone/>
            </a:pPr>
            <a:r>
              <a:rPr lang="en-US" sz="1100" b="1" spc="100" kern="0" dirty="0">
                <a:solidFill>
                  <a:srgbClr val="EB5B99"/>
                </a:solidFill>
              </a:rPr>
              <a:t>PROBLEM STATEMENT</a:t>
            </a:r>
            <a:endParaRPr lang="en-US" sz="1100" dirty="0"/>
          </a:p>
        </p:txBody>
      </p:sp>
      <p:sp>
        <p:nvSpPr>
          <p:cNvPr id="9" name="Marker"/>
          <p:cNvSpPr/>
          <p:nvPr/>
        </p:nvSpPr>
        <p:spPr>
          <a:xfrm>
            <a:off x="1005840" y="2606040"/>
            <a:ext cx="365760" cy="365760"/>
          </a:xfrm>
          <a:prstGeom prst="ellipse">
            <a:avLst/>
          </a:prstGeom>
          <a:solidFill>
            <a:srgbClr val="EB5B99"/>
          </a:solidFill>
          <a:ln w="12700">
            <a:solidFill>
              <a:srgbClr val="EB5B99"/>
            </a:solidFill>
            <a:prstDash val="solid"/>
          </a:ln>
        </p:spPr>
      </p:sp>
      <p:sp>
        <p:nvSpPr>
          <p:cNvPr id="10" name="Text 7"/>
          <p:cNvSpPr txBox="1"/>
          <p:nvPr/>
        </p:nvSpPr>
        <p:spPr>
          <a:xfrm>
            <a:off x="100584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1" name="Text 8"/>
          <p:cNvSpPr txBox="1"/>
          <p:nvPr/>
        </p:nvSpPr>
        <p:spPr>
          <a:xfrm>
            <a:off x="1536192" y="2560320"/>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Scattered records of products, stock and suppliers</a:t>
            </a:r>
            <a:endParaRPr lang="en-US" sz="1300" dirty="0"/>
          </a:p>
        </p:txBody>
      </p:sp>
      <p:sp>
        <p:nvSpPr>
          <p:cNvPr id="12" name="Marker"/>
          <p:cNvSpPr/>
          <p:nvPr/>
        </p:nvSpPr>
        <p:spPr>
          <a:xfrm>
            <a:off x="1005840" y="3355848"/>
            <a:ext cx="365760" cy="365760"/>
          </a:xfrm>
          <a:prstGeom prst="ellipse">
            <a:avLst/>
          </a:prstGeom>
          <a:solidFill>
            <a:srgbClr val="EB5B99"/>
          </a:solidFill>
          <a:ln w="12700">
            <a:solidFill>
              <a:srgbClr val="EB5B99"/>
            </a:solidFill>
            <a:prstDash val="solid"/>
          </a:ln>
        </p:spPr>
      </p:sp>
      <p:sp>
        <p:nvSpPr>
          <p:cNvPr id="13" name="Text 10"/>
          <p:cNvSpPr txBox="1"/>
          <p:nvPr/>
        </p:nvSpPr>
        <p:spPr>
          <a:xfrm>
            <a:off x="1005840" y="33558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4" name="Text 11"/>
          <p:cNvSpPr txBox="1"/>
          <p:nvPr/>
        </p:nvSpPr>
        <p:spPr>
          <a:xfrm>
            <a:off x="1536192" y="3310128"/>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No clear visibility of stock movement</a:t>
            </a:r>
            <a:endParaRPr lang="en-US" sz="1300" dirty="0"/>
          </a:p>
        </p:txBody>
      </p:sp>
      <p:sp>
        <p:nvSpPr>
          <p:cNvPr id="15" name="Marker"/>
          <p:cNvSpPr/>
          <p:nvPr/>
        </p:nvSpPr>
        <p:spPr>
          <a:xfrm>
            <a:off x="1005840" y="4105656"/>
            <a:ext cx="365760" cy="365760"/>
          </a:xfrm>
          <a:prstGeom prst="ellipse">
            <a:avLst/>
          </a:prstGeom>
          <a:solidFill>
            <a:srgbClr val="EB5B99"/>
          </a:solidFill>
          <a:ln w="12700">
            <a:solidFill>
              <a:srgbClr val="EB5B99"/>
            </a:solidFill>
            <a:prstDash val="solid"/>
          </a:ln>
        </p:spPr>
      </p:sp>
      <p:sp>
        <p:nvSpPr>
          <p:cNvPr id="16" name="Text 13"/>
          <p:cNvSpPr txBox="1"/>
          <p:nvPr/>
        </p:nvSpPr>
        <p:spPr>
          <a:xfrm>
            <a:off x="1005840" y="41056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7" name="Text 14"/>
          <p:cNvSpPr txBox="1"/>
          <p:nvPr/>
        </p:nvSpPr>
        <p:spPr>
          <a:xfrm>
            <a:off x="1536192" y="4059936"/>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Poor use of warehouse space and capacity</a:t>
            </a:r>
            <a:endParaRPr lang="en-US" sz="1300" dirty="0"/>
          </a:p>
        </p:txBody>
      </p:sp>
      <p:sp>
        <p:nvSpPr>
          <p:cNvPr id="18" name="Marker"/>
          <p:cNvSpPr/>
          <p:nvPr/>
        </p:nvSpPr>
        <p:spPr>
          <a:xfrm>
            <a:off x="1005840" y="4855464"/>
            <a:ext cx="365760" cy="365760"/>
          </a:xfrm>
          <a:prstGeom prst="ellipse">
            <a:avLst/>
          </a:prstGeom>
          <a:solidFill>
            <a:srgbClr val="EB5B99"/>
          </a:solidFill>
          <a:ln w="12700">
            <a:solidFill>
              <a:srgbClr val="EB5B99"/>
            </a:solidFill>
            <a:prstDash val="solid"/>
          </a:ln>
        </p:spPr>
      </p:sp>
      <p:sp>
        <p:nvSpPr>
          <p:cNvPr id="19" name="Text 16"/>
          <p:cNvSpPr txBox="1"/>
          <p:nvPr/>
        </p:nvSpPr>
        <p:spPr>
          <a:xfrm>
            <a:off x="1005840" y="48554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0" name="Text 17"/>
          <p:cNvSpPr txBox="1"/>
          <p:nvPr/>
        </p:nvSpPr>
        <p:spPr>
          <a:xfrm>
            <a:off x="1536192" y="4809744"/>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Long time and distance to retrieve products</a:t>
            </a:r>
            <a:endParaRPr lang="en-US" sz="1300" dirty="0"/>
          </a:p>
        </p:txBody>
      </p:sp>
      <p:sp>
        <p:nvSpPr>
          <p:cNvPr id="21" name="Card"/>
          <p:cNvSpPr/>
          <p:nvPr/>
        </p:nvSpPr>
        <p:spPr>
          <a:xfrm>
            <a:off x="6263640" y="1783080"/>
            <a:ext cx="5257800" cy="4480560"/>
          </a:xfrm>
          <a:prstGeom prst="roundRect">
            <a:avLst>
              <a:gd name="adj" fmla="val 7143"/>
            </a:avLst>
          </a:prstGeom>
          <a:solidFill>
            <a:srgbClr val="181B31"/>
          </a:solidFill>
          <a:ln w="12700">
            <a:solidFill>
              <a:srgbClr val="181B31"/>
            </a:solidFill>
            <a:prstDash val="solid"/>
          </a:ln>
        </p:spPr>
      </p:sp>
      <p:sp>
        <p:nvSpPr>
          <p:cNvPr id="22" name="Text 19"/>
          <p:cNvSpPr txBox="1"/>
          <p:nvPr/>
        </p:nvSpPr>
        <p:spPr>
          <a:xfrm>
            <a:off x="6583680" y="210312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PROPOSED SOLUTION</a:t>
            </a:r>
            <a:endParaRPr lang="en-US" sz="1100" dirty="0"/>
          </a:p>
        </p:txBody>
      </p:sp>
      <p:sp>
        <p:nvSpPr>
          <p:cNvPr id="23" name="Marker"/>
          <p:cNvSpPr/>
          <p:nvPr/>
        </p:nvSpPr>
        <p:spPr>
          <a:xfrm>
            <a:off x="6583680" y="2560320"/>
            <a:ext cx="365760" cy="365760"/>
          </a:xfrm>
          <a:prstGeom prst="ellipse">
            <a:avLst/>
          </a:prstGeom>
          <a:solidFill>
            <a:srgbClr val="34C98B"/>
          </a:solidFill>
          <a:ln w="12700">
            <a:solidFill>
              <a:srgbClr val="34C98B"/>
            </a:solidFill>
            <a:prstDash val="solid"/>
          </a:ln>
        </p:spPr>
      </p:sp>
      <p:sp>
        <p:nvSpPr>
          <p:cNvPr id="24" name="Text 21"/>
          <p:cNvSpPr txBox="1"/>
          <p:nvPr/>
        </p:nvSpPr>
        <p:spPr>
          <a:xfrm>
            <a:off x="6583680" y="2560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5" name="Text 22"/>
          <p:cNvSpPr txBox="1"/>
          <p:nvPr/>
        </p:nvSpPr>
        <p:spPr>
          <a:xfrm>
            <a:off x="7114032" y="2514600"/>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Centralized management of products, orders and staff</a:t>
            </a:r>
            <a:endParaRPr lang="en-US" sz="1300" dirty="0"/>
          </a:p>
        </p:txBody>
      </p:sp>
      <p:sp>
        <p:nvSpPr>
          <p:cNvPr id="26" name="Marker"/>
          <p:cNvSpPr/>
          <p:nvPr/>
        </p:nvSpPr>
        <p:spPr>
          <a:xfrm>
            <a:off x="6583680" y="3264408"/>
            <a:ext cx="365760" cy="365760"/>
          </a:xfrm>
          <a:prstGeom prst="ellipse">
            <a:avLst/>
          </a:prstGeom>
          <a:solidFill>
            <a:srgbClr val="34C98B"/>
          </a:solidFill>
          <a:ln w="12700">
            <a:solidFill>
              <a:srgbClr val="34C98B"/>
            </a:solidFill>
            <a:prstDash val="solid"/>
          </a:ln>
        </p:spPr>
      </p:sp>
      <p:sp>
        <p:nvSpPr>
          <p:cNvPr id="27" name="Text 24"/>
          <p:cNvSpPr txBox="1"/>
          <p:nvPr/>
        </p:nvSpPr>
        <p:spPr>
          <a:xfrm>
            <a:off x="6583680" y="32644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8" name="Text 25"/>
          <p:cNvSpPr txBox="1"/>
          <p:nvPr/>
        </p:nvSpPr>
        <p:spPr>
          <a:xfrm>
            <a:off x="7114032" y="3218688"/>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Stock transaction tracking for full visibility</a:t>
            </a:r>
            <a:endParaRPr lang="en-US" sz="1300" dirty="0"/>
          </a:p>
        </p:txBody>
      </p:sp>
      <p:sp>
        <p:nvSpPr>
          <p:cNvPr id="29" name="Marker"/>
          <p:cNvSpPr/>
          <p:nvPr/>
        </p:nvSpPr>
        <p:spPr>
          <a:xfrm>
            <a:off x="6583680" y="3968496"/>
            <a:ext cx="365760" cy="365760"/>
          </a:xfrm>
          <a:prstGeom prst="ellipse">
            <a:avLst/>
          </a:prstGeom>
          <a:solidFill>
            <a:srgbClr val="34C98B"/>
          </a:solidFill>
          <a:ln w="12700">
            <a:solidFill>
              <a:srgbClr val="34C98B"/>
            </a:solidFill>
            <a:prstDash val="solid"/>
          </a:ln>
        </p:spPr>
      </p:sp>
      <p:sp>
        <p:nvSpPr>
          <p:cNvPr id="30" name="Text 27"/>
          <p:cNvSpPr txBox="1"/>
          <p:nvPr/>
        </p:nvSpPr>
        <p:spPr>
          <a:xfrm>
            <a:off x="6583680" y="396849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1" name="Text 28"/>
          <p:cNvSpPr txBox="1"/>
          <p:nvPr/>
        </p:nvSpPr>
        <p:spPr>
          <a:xfrm>
            <a:off x="7114032" y="3922776"/>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Warehouse capacity monitoring</a:t>
            </a:r>
            <a:endParaRPr lang="en-US" sz="1300" dirty="0"/>
          </a:p>
        </p:txBody>
      </p:sp>
      <p:sp>
        <p:nvSpPr>
          <p:cNvPr id="32" name="Marker"/>
          <p:cNvSpPr/>
          <p:nvPr/>
        </p:nvSpPr>
        <p:spPr>
          <a:xfrm>
            <a:off x="6583680" y="4672584"/>
            <a:ext cx="365760" cy="365760"/>
          </a:xfrm>
          <a:prstGeom prst="ellipse">
            <a:avLst/>
          </a:prstGeom>
          <a:solidFill>
            <a:srgbClr val="34C98B"/>
          </a:solidFill>
          <a:ln w="12700">
            <a:solidFill>
              <a:srgbClr val="34C98B"/>
            </a:solidFill>
            <a:prstDash val="solid"/>
          </a:ln>
        </p:spPr>
      </p:sp>
      <p:sp>
        <p:nvSpPr>
          <p:cNvPr id="33" name="Text 30"/>
          <p:cNvSpPr txBox="1"/>
          <p:nvPr/>
        </p:nvSpPr>
        <p:spPr>
          <a:xfrm>
            <a:off x="6583680" y="467258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4" name="Text 31"/>
          <p:cNvSpPr txBox="1"/>
          <p:nvPr/>
        </p:nvSpPr>
        <p:spPr>
          <a:xfrm>
            <a:off x="7114032" y="4626864"/>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Slotting optimization using sorting, priority queues, greedy</a:t>
            </a:r>
            <a:endParaRPr lang="en-US" sz="1300" dirty="0"/>
          </a:p>
        </p:txBody>
      </p:sp>
      <p:sp>
        <p:nvSpPr>
          <p:cNvPr id="35" name="Marker"/>
          <p:cNvSpPr/>
          <p:nvPr/>
        </p:nvSpPr>
        <p:spPr>
          <a:xfrm>
            <a:off x="6583680" y="5376672"/>
            <a:ext cx="365760" cy="365760"/>
          </a:xfrm>
          <a:prstGeom prst="ellipse">
            <a:avLst/>
          </a:prstGeom>
          <a:solidFill>
            <a:srgbClr val="34C98B"/>
          </a:solidFill>
          <a:ln w="12700">
            <a:solidFill>
              <a:srgbClr val="34C98B"/>
            </a:solidFill>
            <a:prstDash val="solid"/>
          </a:ln>
        </p:spPr>
      </p:sp>
      <p:sp>
        <p:nvSpPr>
          <p:cNvPr id="36" name="Text 33"/>
          <p:cNvSpPr txBox="1"/>
          <p:nvPr/>
        </p:nvSpPr>
        <p:spPr>
          <a:xfrm>
            <a:off x="6583680" y="53766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7" name="Text 34"/>
          <p:cNvSpPr txBox="1"/>
          <p:nvPr/>
        </p:nvSpPr>
        <p:spPr>
          <a:xfrm>
            <a:off x="7114032" y="5330952"/>
            <a:ext cx="4206240" cy="457200"/>
          </a:xfrm>
          <a:prstGeom prst="rect">
            <a:avLst/>
          </a:prstGeom>
          <a:noFill/>
          <a:ln/>
        </p:spPr>
        <p:txBody>
          <a:bodyPr wrap="square" lIns="0" tIns="0" rIns="0" bIns="0" rtlCol="0" anchor="ctr"/>
          <a:lstStyle/>
          <a:p>
            <a:pPr indent="0" marL="0">
              <a:buNone/>
            </a:pPr>
            <a:r>
              <a:rPr lang="en-US" sz="1300" b="1" dirty="0">
                <a:solidFill>
                  <a:srgbClr val="F5F7FF"/>
                </a:solidFill>
              </a:rPr>
              <a:t>Secure login with role-based access control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Key Features</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Core modules and smart, secure capabilities</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05</a:t>
            </a:r>
            <a:endParaRPr lang="en-US" sz="800" dirty="0"/>
          </a:p>
        </p:txBody>
      </p:sp>
      <p:sp>
        <p:nvSpPr>
          <p:cNvPr id="7" name="Card"/>
          <p:cNvSpPr/>
          <p:nvPr/>
        </p:nvSpPr>
        <p:spPr>
          <a:xfrm>
            <a:off x="685800" y="1783080"/>
            <a:ext cx="5257800" cy="4480560"/>
          </a:xfrm>
          <a:prstGeom prst="roundRect">
            <a:avLst>
              <a:gd name="adj" fmla="val 7143"/>
            </a:avLst>
          </a:prstGeom>
          <a:solidFill>
            <a:srgbClr val="181B31"/>
          </a:solidFill>
          <a:ln w="12700">
            <a:solidFill>
              <a:srgbClr val="181B31"/>
            </a:solidFill>
            <a:prstDash val="solid"/>
          </a:ln>
        </p:spPr>
      </p:sp>
      <p:sp>
        <p:nvSpPr>
          <p:cNvPr id="8" name="Text 5"/>
          <p:cNvSpPr txBox="1"/>
          <p:nvPr/>
        </p:nvSpPr>
        <p:spPr>
          <a:xfrm>
            <a:off x="1005840" y="210312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CORE MODULES</a:t>
            </a:r>
            <a:endParaRPr lang="en-US" sz="1100" dirty="0"/>
          </a:p>
        </p:txBody>
      </p:sp>
      <p:sp>
        <p:nvSpPr>
          <p:cNvPr id="9" name="Marker"/>
          <p:cNvSpPr/>
          <p:nvPr/>
        </p:nvSpPr>
        <p:spPr>
          <a:xfrm>
            <a:off x="1005840" y="2606040"/>
            <a:ext cx="365760" cy="365760"/>
          </a:xfrm>
          <a:prstGeom prst="ellipse">
            <a:avLst/>
          </a:prstGeom>
          <a:solidFill>
            <a:srgbClr val="4991FF"/>
          </a:solidFill>
          <a:ln w="12700">
            <a:solidFill>
              <a:srgbClr val="4991FF"/>
            </a:solidFill>
            <a:prstDash val="solid"/>
          </a:ln>
        </p:spPr>
      </p:sp>
      <p:sp>
        <p:nvSpPr>
          <p:cNvPr id="10" name="Text 7"/>
          <p:cNvSpPr txBox="1"/>
          <p:nvPr/>
        </p:nvSpPr>
        <p:spPr>
          <a:xfrm>
            <a:off x="100584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1" name="Text 8"/>
          <p:cNvSpPr txBox="1"/>
          <p:nvPr/>
        </p:nvSpPr>
        <p:spPr>
          <a:xfrm>
            <a:off x="153619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Product management</a:t>
            </a:r>
            <a:endParaRPr lang="en-US" sz="1200" dirty="0"/>
          </a:p>
        </p:txBody>
      </p:sp>
      <p:sp>
        <p:nvSpPr>
          <p:cNvPr id="12" name="Marker"/>
          <p:cNvSpPr/>
          <p:nvPr/>
        </p:nvSpPr>
        <p:spPr>
          <a:xfrm>
            <a:off x="3566160" y="2606040"/>
            <a:ext cx="365760" cy="365760"/>
          </a:xfrm>
          <a:prstGeom prst="ellipse">
            <a:avLst/>
          </a:prstGeom>
          <a:solidFill>
            <a:srgbClr val="4991FF"/>
          </a:solidFill>
          <a:ln w="12700">
            <a:solidFill>
              <a:srgbClr val="4991FF"/>
            </a:solidFill>
            <a:prstDash val="solid"/>
          </a:ln>
        </p:spPr>
      </p:sp>
      <p:sp>
        <p:nvSpPr>
          <p:cNvPr id="13" name="Text 10"/>
          <p:cNvSpPr txBox="1"/>
          <p:nvPr/>
        </p:nvSpPr>
        <p:spPr>
          <a:xfrm>
            <a:off x="356616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4" name="Text 11"/>
          <p:cNvSpPr txBox="1"/>
          <p:nvPr/>
        </p:nvSpPr>
        <p:spPr>
          <a:xfrm>
            <a:off x="409651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Warehouse management</a:t>
            </a:r>
            <a:endParaRPr lang="en-US" sz="1200" dirty="0"/>
          </a:p>
        </p:txBody>
      </p:sp>
      <p:sp>
        <p:nvSpPr>
          <p:cNvPr id="15" name="Marker"/>
          <p:cNvSpPr/>
          <p:nvPr/>
        </p:nvSpPr>
        <p:spPr>
          <a:xfrm>
            <a:off x="1005840" y="3474720"/>
            <a:ext cx="365760" cy="365760"/>
          </a:xfrm>
          <a:prstGeom prst="ellipse">
            <a:avLst/>
          </a:prstGeom>
          <a:solidFill>
            <a:srgbClr val="4991FF"/>
          </a:solidFill>
          <a:ln w="12700">
            <a:solidFill>
              <a:srgbClr val="4991FF"/>
            </a:solidFill>
            <a:prstDash val="solid"/>
          </a:ln>
        </p:spPr>
      </p:sp>
      <p:sp>
        <p:nvSpPr>
          <p:cNvPr id="16" name="Text 13"/>
          <p:cNvSpPr txBox="1"/>
          <p:nvPr/>
        </p:nvSpPr>
        <p:spPr>
          <a:xfrm>
            <a:off x="100584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7" name="Text 14"/>
          <p:cNvSpPr txBox="1"/>
          <p:nvPr/>
        </p:nvSpPr>
        <p:spPr>
          <a:xfrm>
            <a:off x="153619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Supplier management</a:t>
            </a:r>
            <a:endParaRPr lang="en-US" sz="1200" dirty="0"/>
          </a:p>
        </p:txBody>
      </p:sp>
      <p:sp>
        <p:nvSpPr>
          <p:cNvPr id="18" name="Marker"/>
          <p:cNvSpPr/>
          <p:nvPr/>
        </p:nvSpPr>
        <p:spPr>
          <a:xfrm>
            <a:off x="3566160" y="3474720"/>
            <a:ext cx="365760" cy="365760"/>
          </a:xfrm>
          <a:prstGeom prst="ellipse">
            <a:avLst/>
          </a:prstGeom>
          <a:solidFill>
            <a:srgbClr val="4991FF"/>
          </a:solidFill>
          <a:ln w="12700">
            <a:solidFill>
              <a:srgbClr val="4991FF"/>
            </a:solidFill>
            <a:prstDash val="solid"/>
          </a:ln>
        </p:spPr>
      </p:sp>
      <p:sp>
        <p:nvSpPr>
          <p:cNvPr id="19" name="Text 16"/>
          <p:cNvSpPr txBox="1"/>
          <p:nvPr/>
        </p:nvSpPr>
        <p:spPr>
          <a:xfrm>
            <a:off x="356616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0" name="Text 17"/>
          <p:cNvSpPr txBox="1"/>
          <p:nvPr/>
        </p:nvSpPr>
        <p:spPr>
          <a:xfrm>
            <a:off x="409651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Staff management</a:t>
            </a:r>
            <a:endParaRPr lang="en-US" sz="1200" dirty="0"/>
          </a:p>
        </p:txBody>
      </p:sp>
      <p:sp>
        <p:nvSpPr>
          <p:cNvPr id="21" name="Marker"/>
          <p:cNvSpPr/>
          <p:nvPr/>
        </p:nvSpPr>
        <p:spPr>
          <a:xfrm>
            <a:off x="1005840" y="4343400"/>
            <a:ext cx="365760" cy="365760"/>
          </a:xfrm>
          <a:prstGeom prst="ellipse">
            <a:avLst/>
          </a:prstGeom>
          <a:solidFill>
            <a:srgbClr val="4991FF"/>
          </a:solidFill>
          <a:ln w="12700">
            <a:solidFill>
              <a:srgbClr val="4991FF"/>
            </a:solidFill>
            <a:prstDash val="solid"/>
          </a:ln>
        </p:spPr>
      </p:sp>
      <p:sp>
        <p:nvSpPr>
          <p:cNvPr id="22" name="Text 19"/>
          <p:cNvSpPr txBox="1"/>
          <p:nvPr/>
        </p:nvSpPr>
        <p:spPr>
          <a:xfrm>
            <a:off x="100584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3" name="Text 20"/>
          <p:cNvSpPr txBox="1"/>
          <p:nvPr/>
        </p:nvSpPr>
        <p:spPr>
          <a:xfrm>
            <a:off x="153619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Stock transactions</a:t>
            </a:r>
            <a:endParaRPr lang="en-US" sz="1200" dirty="0"/>
          </a:p>
        </p:txBody>
      </p:sp>
      <p:sp>
        <p:nvSpPr>
          <p:cNvPr id="24" name="Marker"/>
          <p:cNvSpPr/>
          <p:nvPr/>
        </p:nvSpPr>
        <p:spPr>
          <a:xfrm>
            <a:off x="3566160" y="4343400"/>
            <a:ext cx="365760" cy="365760"/>
          </a:xfrm>
          <a:prstGeom prst="ellipse">
            <a:avLst/>
          </a:prstGeom>
          <a:solidFill>
            <a:srgbClr val="4991FF"/>
          </a:solidFill>
          <a:ln w="12700">
            <a:solidFill>
              <a:srgbClr val="4991FF"/>
            </a:solidFill>
            <a:prstDash val="solid"/>
          </a:ln>
        </p:spPr>
      </p:sp>
      <p:sp>
        <p:nvSpPr>
          <p:cNvPr id="25" name="Text 22"/>
          <p:cNvSpPr txBox="1"/>
          <p:nvPr/>
        </p:nvSpPr>
        <p:spPr>
          <a:xfrm>
            <a:off x="356616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6" name="Text 23"/>
          <p:cNvSpPr txBox="1"/>
          <p:nvPr/>
        </p:nvSpPr>
        <p:spPr>
          <a:xfrm>
            <a:off x="409651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Order management</a:t>
            </a:r>
            <a:endParaRPr lang="en-US" sz="1200" dirty="0"/>
          </a:p>
        </p:txBody>
      </p:sp>
      <p:sp>
        <p:nvSpPr>
          <p:cNvPr id="27" name="Marker"/>
          <p:cNvSpPr/>
          <p:nvPr/>
        </p:nvSpPr>
        <p:spPr>
          <a:xfrm>
            <a:off x="1005840" y="5212080"/>
            <a:ext cx="365760" cy="365760"/>
          </a:xfrm>
          <a:prstGeom prst="ellipse">
            <a:avLst/>
          </a:prstGeom>
          <a:solidFill>
            <a:srgbClr val="4991FF"/>
          </a:solidFill>
          <a:ln w="12700">
            <a:solidFill>
              <a:srgbClr val="4991FF"/>
            </a:solidFill>
            <a:prstDash val="solid"/>
          </a:ln>
        </p:spPr>
      </p:sp>
      <p:sp>
        <p:nvSpPr>
          <p:cNvPr id="28" name="Text 25"/>
          <p:cNvSpPr txBox="1"/>
          <p:nvPr/>
        </p:nvSpPr>
        <p:spPr>
          <a:xfrm>
            <a:off x="100584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9" name="Text 26"/>
          <p:cNvSpPr txBox="1"/>
          <p:nvPr/>
        </p:nvSpPr>
        <p:spPr>
          <a:xfrm>
            <a:off x="153619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Capacity tracking</a:t>
            </a:r>
            <a:endParaRPr lang="en-US" sz="1200" dirty="0"/>
          </a:p>
        </p:txBody>
      </p:sp>
      <p:sp>
        <p:nvSpPr>
          <p:cNvPr id="30" name="Marker"/>
          <p:cNvSpPr/>
          <p:nvPr/>
        </p:nvSpPr>
        <p:spPr>
          <a:xfrm>
            <a:off x="3566160" y="5212080"/>
            <a:ext cx="365760" cy="365760"/>
          </a:xfrm>
          <a:prstGeom prst="ellipse">
            <a:avLst/>
          </a:prstGeom>
          <a:solidFill>
            <a:srgbClr val="4991FF"/>
          </a:solidFill>
          <a:ln w="12700">
            <a:solidFill>
              <a:srgbClr val="4991FF"/>
            </a:solidFill>
            <a:prstDash val="solid"/>
          </a:ln>
        </p:spPr>
      </p:sp>
      <p:sp>
        <p:nvSpPr>
          <p:cNvPr id="31" name="Text 28"/>
          <p:cNvSpPr txBox="1"/>
          <p:nvPr/>
        </p:nvSpPr>
        <p:spPr>
          <a:xfrm>
            <a:off x="356616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2" name="Text 29"/>
          <p:cNvSpPr txBox="1"/>
          <p:nvPr/>
        </p:nvSpPr>
        <p:spPr>
          <a:xfrm>
            <a:off x="409651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Products per warehouse</a:t>
            </a:r>
            <a:endParaRPr lang="en-US" sz="1200" dirty="0"/>
          </a:p>
        </p:txBody>
      </p:sp>
      <p:sp>
        <p:nvSpPr>
          <p:cNvPr id="33" name="Card"/>
          <p:cNvSpPr/>
          <p:nvPr/>
        </p:nvSpPr>
        <p:spPr>
          <a:xfrm>
            <a:off x="6263640" y="1783080"/>
            <a:ext cx="5257800" cy="4480560"/>
          </a:xfrm>
          <a:prstGeom prst="roundRect">
            <a:avLst>
              <a:gd name="adj" fmla="val 7143"/>
            </a:avLst>
          </a:prstGeom>
          <a:solidFill>
            <a:srgbClr val="1F233E"/>
          </a:solidFill>
          <a:ln w="12700">
            <a:solidFill>
              <a:srgbClr val="1F233E"/>
            </a:solidFill>
            <a:prstDash val="solid"/>
          </a:ln>
        </p:spPr>
      </p:sp>
      <p:sp>
        <p:nvSpPr>
          <p:cNvPr id="34" name="Text 31"/>
          <p:cNvSpPr txBox="1"/>
          <p:nvPr/>
        </p:nvSpPr>
        <p:spPr>
          <a:xfrm>
            <a:off x="6583680" y="2103120"/>
            <a:ext cx="4572000" cy="274320"/>
          </a:xfrm>
          <a:prstGeom prst="rect">
            <a:avLst/>
          </a:prstGeom>
          <a:noFill/>
          <a:ln/>
        </p:spPr>
        <p:txBody>
          <a:bodyPr wrap="square" lIns="0" tIns="0" rIns="0" bIns="0" rtlCol="0" anchor="ctr"/>
          <a:lstStyle/>
          <a:p>
            <a:pPr indent="0" marL="0">
              <a:buNone/>
            </a:pPr>
            <a:r>
              <a:rPr lang="en-US" sz="1100" b="1" spc="100" kern="0" dirty="0">
                <a:solidFill>
                  <a:srgbClr val="7E57FF"/>
                </a:solidFill>
              </a:rPr>
              <a:t>SMART &amp; SECURE</a:t>
            </a:r>
            <a:endParaRPr lang="en-US" sz="1100" dirty="0"/>
          </a:p>
        </p:txBody>
      </p:sp>
      <p:sp>
        <p:nvSpPr>
          <p:cNvPr id="35" name="Marker"/>
          <p:cNvSpPr/>
          <p:nvPr/>
        </p:nvSpPr>
        <p:spPr>
          <a:xfrm>
            <a:off x="6583680" y="2606040"/>
            <a:ext cx="365760" cy="365760"/>
          </a:xfrm>
          <a:prstGeom prst="ellipse">
            <a:avLst/>
          </a:prstGeom>
          <a:solidFill>
            <a:srgbClr val="34C98B"/>
          </a:solidFill>
          <a:ln w="12700">
            <a:solidFill>
              <a:srgbClr val="34C98B"/>
            </a:solidFill>
            <a:prstDash val="solid"/>
          </a:ln>
        </p:spPr>
      </p:sp>
      <p:sp>
        <p:nvSpPr>
          <p:cNvPr id="36" name="Text 33"/>
          <p:cNvSpPr txBox="1"/>
          <p:nvPr/>
        </p:nvSpPr>
        <p:spPr>
          <a:xfrm>
            <a:off x="658368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7" name="Text 34"/>
          <p:cNvSpPr txBox="1"/>
          <p:nvPr/>
        </p:nvSpPr>
        <p:spPr>
          <a:xfrm>
            <a:off x="711403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JWT authentication</a:t>
            </a:r>
            <a:endParaRPr lang="en-US" sz="1200" dirty="0"/>
          </a:p>
        </p:txBody>
      </p:sp>
      <p:sp>
        <p:nvSpPr>
          <p:cNvPr id="38" name="Marker"/>
          <p:cNvSpPr/>
          <p:nvPr/>
        </p:nvSpPr>
        <p:spPr>
          <a:xfrm>
            <a:off x="9144000" y="2606040"/>
            <a:ext cx="365760" cy="365760"/>
          </a:xfrm>
          <a:prstGeom prst="ellipse">
            <a:avLst/>
          </a:prstGeom>
          <a:solidFill>
            <a:srgbClr val="34C98B"/>
          </a:solidFill>
          <a:ln w="12700">
            <a:solidFill>
              <a:srgbClr val="34C98B"/>
            </a:solidFill>
            <a:prstDash val="solid"/>
          </a:ln>
        </p:spPr>
      </p:sp>
      <p:sp>
        <p:nvSpPr>
          <p:cNvPr id="39" name="Text 36"/>
          <p:cNvSpPr txBox="1"/>
          <p:nvPr/>
        </p:nvSpPr>
        <p:spPr>
          <a:xfrm>
            <a:off x="914400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0" name="Text 37"/>
          <p:cNvSpPr txBox="1"/>
          <p:nvPr/>
        </p:nvSpPr>
        <p:spPr>
          <a:xfrm>
            <a:off x="9674352" y="256032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Role-based access control</a:t>
            </a:r>
            <a:endParaRPr lang="en-US" sz="1200" dirty="0"/>
          </a:p>
        </p:txBody>
      </p:sp>
      <p:sp>
        <p:nvSpPr>
          <p:cNvPr id="41" name="Marker"/>
          <p:cNvSpPr/>
          <p:nvPr/>
        </p:nvSpPr>
        <p:spPr>
          <a:xfrm>
            <a:off x="6583680" y="3474720"/>
            <a:ext cx="365760" cy="365760"/>
          </a:xfrm>
          <a:prstGeom prst="ellipse">
            <a:avLst/>
          </a:prstGeom>
          <a:solidFill>
            <a:srgbClr val="34C98B"/>
          </a:solidFill>
          <a:ln w="12700">
            <a:solidFill>
              <a:srgbClr val="34C98B"/>
            </a:solidFill>
            <a:prstDash val="solid"/>
          </a:ln>
        </p:spPr>
      </p:sp>
      <p:sp>
        <p:nvSpPr>
          <p:cNvPr id="42" name="Text 39"/>
          <p:cNvSpPr txBox="1"/>
          <p:nvPr/>
        </p:nvSpPr>
        <p:spPr>
          <a:xfrm>
            <a:off x="658368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3" name="Text 40"/>
          <p:cNvSpPr txBox="1"/>
          <p:nvPr/>
        </p:nvSpPr>
        <p:spPr>
          <a:xfrm>
            <a:off x="711403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Slotting optimization</a:t>
            </a:r>
            <a:endParaRPr lang="en-US" sz="1200" dirty="0"/>
          </a:p>
        </p:txBody>
      </p:sp>
      <p:sp>
        <p:nvSpPr>
          <p:cNvPr id="44" name="Marker"/>
          <p:cNvSpPr/>
          <p:nvPr/>
        </p:nvSpPr>
        <p:spPr>
          <a:xfrm>
            <a:off x="9144000" y="3474720"/>
            <a:ext cx="365760" cy="365760"/>
          </a:xfrm>
          <a:prstGeom prst="ellipse">
            <a:avLst/>
          </a:prstGeom>
          <a:solidFill>
            <a:srgbClr val="34C98B"/>
          </a:solidFill>
          <a:ln w="12700">
            <a:solidFill>
              <a:srgbClr val="34C98B"/>
            </a:solidFill>
            <a:prstDash val="solid"/>
          </a:ln>
        </p:spPr>
      </p:sp>
      <p:sp>
        <p:nvSpPr>
          <p:cNvPr id="45" name="Text 42"/>
          <p:cNvSpPr txBox="1"/>
          <p:nvPr/>
        </p:nvSpPr>
        <p:spPr>
          <a:xfrm>
            <a:off x="9144000" y="34747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6" name="Text 43"/>
          <p:cNvSpPr txBox="1"/>
          <p:nvPr/>
        </p:nvSpPr>
        <p:spPr>
          <a:xfrm>
            <a:off x="9674352" y="342900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Demand-based priority</a:t>
            </a:r>
            <a:endParaRPr lang="en-US" sz="1200" dirty="0"/>
          </a:p>
        </p:txBody>
      </p:sp>
      <p:sp>
        <p:nvSpPr>
          <p:cNvPr id="47" name="Marker"/>
          <p:cNvSpPr/>
          <p:nvPr/>
        </p:nvSpPr>
        <p:spPr>
          <a:xfrm>
            <a:off x="6583680" y="4343400"/>
            <a:ext cx="365760" cy="365760"/>
          </a:xfrm>
          <a:prstGeom prst="ellipse">
            <a:avLst/>
          </a:prstGeom>
          <a:solidFill>
            <a:srgbClr val="34C98B"/>
          </a:solidFill>
          <a:ln w="12700">
            <a:solidFill>
              <a:srgbClr val="34C98B"/>
            </a:solidFill>
            <a:prstDash val="solid"/>
          </a:ln>
        </p:spPr>
      </p:sp>
      <p:sp>
        <p:nvSpPr>
          <p:cNvPr id="48" name="Text 45"/>
          <p:cNvSpPr txBox="1"/>
          <p:nvPr/>
        </p:nvSpPr>
        <p:spPr>
          <a:xfrm>
            <a:off x="658368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9" name="Text 46"/>
          <p:cNvSpPr txBox="1"/>
          <p:nvPr/>
        </p:nvSpPr>
        <p:spPr>
          <a:xfrm>
            <a:off x="711403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Barcode scanning</a:t>
            </a:r>
            <a:endParaRPr lang="en-US" sz="1200" dirty="0"/>
          </a:p>
        </p:txBody>
      </p:sp>
      <p:sp>
        <p:nvSpPr>
          <p:cNvPr id="50" name="Marker"/>
          <p:cNvSpPr/>
          <p:nvPr/>
        </p:nvSpPr>
        <p:spPr>
          <a:xfrm>
            <a:off x="9144000" y="4343400"/>
            <a:ext cx="365760" cy="365760"/>
          </a:xfrm>
          <a:prstGeom prst="ellipse">
            <a:avLst/>
          </a:prstGeom>
          <a:solidFill>
            <a:srgbClr val="34C98B"/>
          </a:solidFill>
          <a:ln w="12700">
            <a:solidFill>
              <a:srgbClr val="34C98B"/>
            </a:solidFill>
            <a:prstDash val="solid"/>
          </a:ln>
        </p:spPr>
      </p:sp>
      <p:sp>
        <p:nvSpPr>
          <p:cNvPr id="51" name="Text 48"/>
          <p:cNvSpPr txBox="1"/>
          <p:nvPr/>
        </p:nvSpPr>
        <p:spPr>
          <a:xfrm>
            <a:off x="9144000" y="43434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52" name="Text 49"/>
          <p:cNvSpPr txBox="1"/>
          <p:nvPr/>
        </p:nvSpPr>
        <p:spPr>
          <a:xfrm>
            <a:off x="9674352" y="429768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Dashboard charts</a:t>
            </a:r>
            <a:endParaRPr lang="en-US" sz="1200" dirty="0"/>
          </a:p>
        </p:txBody>
      </p:sp>
      <p:sp>
        <p:nvSpPr>
          <p:cNvPr id="53" name="Marker"/>
          <p:cNvSpPr/>
          <p:nvPr/>
        </p:nvSpPr>
        <p:spPr>
          <a:xfrm>
            <a:off x="6583680" y="5212080"/>
            <a:ext cx="365760" cy="365760"/>
          </a:xfrm>
          <a:prstGeom prst="ellipse">
            <a:avLst/>
          </a:prstGeom>
          <a:solidFill>
            <a:srgbClr val="34C98B"/>
          </a:solidFill>
          <a:ln w="12700">
            <a:solidFill>
              <a:srgbClr val="34C98B"/>
            </a:solidFill>
            <a:prstDash val="solid"/>
          </a:ln>
        </p:spPr>
      </p:sp>
      <p:sp>
        <p:nvSpPr>
          <p:cNvPr id="54" name="Text 51"/>
          <p:cNvSpPr txBox="1"/>
          <p:nvPr/>
        </p:nvSpPr>
        <p:spPr>
          <a:xfrm>
            <a:off x="658368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55" name="Text 52"/>
          <p:cNvSpPr txBox="1"/>
          <p:nvPr/>
        </p:nvSpPr>
        <p:spPr>
          <a:xfrm>
            <a:off x="711403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Stock movement tracking</a:t>
            </a:r>
            <a:endParaRPr lang="en-US" sz="1200" dirty="0"/>
          </a:p>
        </p:txBody>
      </p:sp>
      <p:sp>
        <p:nvSpPr>
          <p:cNvPr id="56" name="Marker"/>
          <p:cNvSpPr/>
          <p:nvPr/>
        </p:nvSpPr>
        <p:spPr>
          <a:xfrm>
            <a:off x="9144000" y="5212080"/>
            <a:ext cx="365760" cy="365760"/>
          </a:xfrm>
          <a:prstGeom prst="ellipse">
            <a:avLst/>
          </a:prstGeom>
          <a:solidFill>
            <a:srgbClr val="34C98B"/>
          </a:solidFill>
          <a:ln w="12700">
            <a:solidFill>
              <a:srgbClr val="34C98B"/>
            </a:solidFill>
            <a:prstDash val="solid"/>
          </a:ln>
        </p:spPr>
      </p:sp>
      <p:sp>
        <p:nvSpPr>
          <p:cNvPr id="57" name="Text 54"/>
          <p:cNvSpPr txBox="1"/>
          <p:nvPr/>
        </p:nvSpPr>
        <p:spPr>
          <a:xfrm>
            <a:off x="9144000" y="52120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58" name="Text 55"/>
          <p:cNvSpPr txBox="1"/>
          <p:nvPr/>
        </p:nvSpPr>
        <p:spPr>
          <a:xfrm>
            <a:off x="9674352" y="5166360"/>
            <a:ext cx="1920240" cy="457200"/>
          </a:xfrm>
          <a:prstGeom prst="rect">
            <a:avLst/>
          </a:prstGeom>
          <a:noFill/>
          <a:ln/>
        </p:spPr>
        <p:txBody>
          <a:bodyPr wrap="square" lIns="0" tIns="0" rIns="0" bIns="0" rtlCol="0" anchor="ctr"/>
          <a:lstStyle/>
          <a:p>
            <a:pPr indent="0" marL="0">
              <a:buNone/>
            </a:pPr>
            <a:r>
              <a:rPr lang="en-US" sz="1200" b="1" dirty="0">
                <a:solidFill>
                  <a:srgbClr val="F5F7FF"/>
                </a:solidFill>
              </a:rPr>
              <a:t>Faster product retrieval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System Architecture</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Layered design from user interface to database</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06</a:t>
            </a:r>
            <a:endParaRPr lang="en-US" sz="800" dirty="0"/>
          </a:p>
        </p:txBody>
      </p:sp>
      <p:sp>
        <p:nvSpPr>
          <p:cNvPr id="7" name="Card"/>
          <p:cNvSpPr/>
          <p:nvPr/>
        </p:nvSpPr>
        <p:spPr>
          <a:xfrm>
            <a:off x="548640" y="1783080"/>
            <a:ext cx="2103120" cy="3840480"/>
          </a:xfrm>
          <a:prstGeom prst="roundRect">
            <a:avLst>
              <a:gd name="adj" fmla="val 15217"/>
            </a:avLst>
          </a:prstGeom>
          <a:solidFill>
            <a:srgbClr val="1F233E"/>
          </a:solidFill>
          <a:ln w="12700">
            <a:solidFill>
              <a:srgbClr val="1F233E"/>
            </a:solidFill>
            <a:prstDash val="solid"/>
          </a:ln>
        </p:spPr>
      </p:sp>
      <p:sp>
        <p:nvSpPr>
          <p:cNvPr id="8" name="Text 5"/>
          <p:cNvSpPr txBox="1"/>
          <p:nvPr/>
        </p:nvSpPr>
        <p:spPr>
          <a:xfrm>
            <a:off x="777240" y="2057400"/>
            <a:ext cx="4572000" cy="274320"/>
          </a:xfrm>
          <a:prstGeom prst="rect">
            <a:avLst/>
          </a:prstGeom>
          <a:noFill/>
          <a:ln/>
        </p:spPr>
        <p:txBody>
          <a:bodyPr wrap="square" lIns="0" tIns="0" rIns="0" bIns="0" rtlCol="0" anchor="ctr"/>
          <a:lstStyle/>
          <a:p>
            <a:pPr indent="0" marL="0">
              <a:buNone/>
            </a:pPr>
            <a:r>
              <a:rPr lang="en-US" sz="1100" b="1" spc="100" kern="0" dirty="0">
                <a:solidFill>
                  <a:srgbClr val="EB5B99"/>
                </a:solidFill>
              </a:rPr>
              <a:t>USERS</a:t>
            </a:r>
            <a:endParaRPr lang="en-US" sz="1100" dirty="0"/>
          </a:p>
        </p:txBody>
      </p:sp>
      <p:sp>
        <p:nvSpPr>
          <p:cNvPr id="9" name="Marker"/>
          <p:cNvSpPr/>
          <p:nvPr/>
        </p:nvSpPr>
        <p:spPr>
          <a:xfrm>
            <a:off x="777240" y="2606040"/>
            <a:ext cx="457200" cy="457200"/>
          </a:xfrm>
          <a:prstGeom prst="ellipse">
            <a:avLst/>
          </a:prstGeom>
          <a:solidFill>
            <a:srgbClr val="EB5B99"/>
          </a:solidFill>
          <a:ln w="12700">
            <a:solidFill>
              <a:srgbClr val="EB5B99"/>
            </a:solidFill>
            <a:prstDash val="solid"/>
          </a:ln>
        </p:spPr>
      </p:sp>
      <p:sp>
        <p:nvSpPr>
          <p:cNvPr id="10" name="Text 7"/>
          <p:cNvSpPr txBox="1"/>
          <p:nvPr/>
        </p:nvSpPr>
        <p:spPr>
          <a:xfrm>
            <a:off x="777240" y="26060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A</a:t>
            </a:r>
            <a:endParaRPr lang="en-US" sz="1300" dirty="0"/>
          </a:p>
        </p:txBody>
      </p:sp>
      <p:sp>
        <p:nvSpPr>
          <p:cNvPr id="11" name="Text 8"/>
          <p:cNvSpPr txBox="1"/>
          <p:nvPr/>
        </p:nvSpPr>
        <p:spPr>
          <a:xfrm>
            <a:off x="1371600" y="2606040"/>
            <a:ext cx="1188720" cy="457200"/>
          </a:xfrm>
          <a:prstGeom prst="rect">
            <a:avLst/>
          </a:prstGeom>
          <a:noFill/>
          <a:ln/>
        </p:spPr>
        <p:txBody>
          <a:bodyPr wrap="square" lIns="0" tIns="0" rIns="0" bIns="0" rtlCol="0" anchor="ctr"/>
          <a:lstStyle/>
          <a:p>
            <a:pPr indent="0" marL="0">
              <a:buNone/>
            </a:pPr>
            <a:r>
              <a:rPr lang="en-US" sz="1200" b="1" dirty="0">
                <a:solidFill>
                  <a:srgbClr val="F5F7FF"/>
                </a:solidFill>
              </a:rPr>
              <a:t>Admin</a:t>
            </a:r>
            <a:endParaRPr lang="en-US" sz="1200" dirty="0"/>
          </a:p>
        </p:txBody>
      </p:sp>
      <p:sp>
        <p:nvSpPr>
          <p:cNvPr id="12" name="Marker"/>
          <p:cNvSpPr/>
          <p:nvPr/>
        </p:nvSpPr>
        <p:spPr>
          <a:xfrm>
            <a:off x="777240" y="3703320"/>
            <a:ext cx="457200" cy="457200"/>
          </a:xfrm>
          <a:prstGeom prst="ellipse">
            <a:avLst/>
          </a:prstGeom>
          <a:solidFill>
            <a:srgbClr val="EB5B99"/>
          </a:solidFill>
          <a:ln w="12700">
            <a:solidFill>
              <a:srgbClr val="EB5B99"/>
            </a:solidFill>
            <a:prstDash val="solid"/>
          </a:ln>
        </p:spPr>
      </p:sp>
      <p:sp>
        <p:nvSpPr>
          <p:cNvPr id="13" name="Text 10"/>
          <p:cNvSpPr txBox="1"/>
          <p:nvPr/>
        </p:nvSpPr>
        <p:spPr>
          <a:xfrm>
            <a:off x="777240" y="3703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W</a:t>
            </a:r>
            <a:endParaRPr lang="en-US" sz="1300" dirty="0"/>
          </a:p>
        </p:txBody>
      </p:sp>
      <p:sp>
        <p:nvSpPr>
          <p:cNvPr id="14" name="Text 11"/>
          <p:cNvSpPr txBox="1"/>
          <p:nvPr/>
        </p:nvSpPr>
        <p:spPr>
          <a:xfrm>
            <a:off x="1371600" y="3703320"/>
            <a:ext cx="1188720" cy="457200"/>
          </a:xfrm>
          <a:prstGeom prst="rect">
            <a:avLst/>
          </a:prstGeom>
          <a:noFill/>
          <a:ln/>
        </p:spPr>
        <p:txBody>
          <a:bodyPr wrap="square" lIns="0" tIns="0" rIns="0" bIns="0" rtlCol="0" anchor="ctr"/>
          <a:lstStyle/>
          <a:p>
            <a:pPr indent="0" marL="0">
              <a:buNone/>
            </a:pPr>
            <a:r>
              <a:rPr lang="en-US" sz="1200" b="1" dirty="0">
                <a:solidFill>
                  <a:srgbClr val="F5F7FF"/>
                </a:solidFill>
              </a:rPr>
              <a:t>Warehouse Staff</a:t>
            </a:r>
            <a:endParaRPr lang="en-US" sz="1200" dirty="0"/>
          </a:p>
        </p:txBody>
      </p:sp>
      <p:sp>
        <p:nvSpPr>
          <p:cNvPr id="15" name="Text 12"/>
          <p:cNvSpPr txBox="1"/>
          <p:nvPr/>
        </p:nvSpPr>
        <p:spPr>
          <a:xfrm>
            <a:off x="777240" y="4709160"/>
            <a:ext cx="1737360" cy="548640"/>
          </a:xfrm>
          <a:prstGeom prst="rect">
            <a:avLst/>
          </a:prstGeom>
          <a:noFill/>
          <a:ln/>
        </p:spPr>
        <p:txBody>
          <a:bodyPr wrap="square" lIns="0" tIns="0" rIns="0" bIns="0" rtlCol="0" anchor="t"/>
          <a:lstStyle/>
          <a:p>
            <a:pPr indent="0" marL="0">
              <a:buNone/>
            </a:pPr>
            <a:r>
              <a:rPr lang="en-US" sz="1000" dirty="0">
                <a:solidFill>
                  <a:srgbClr val="AAB0CD"/>
                </a:solidFill>
              </a:rPr>
              <a:t>Login with role-based permissions</a:t>
            </a:r>
            <a:endParaRPr lang="en-US" sz="1000" dirty="0"/>
          </a:p>
        </p:txBody>
      </p:sp>
      <p:sp>
        <p:nvSpPr>
          <p:cNvPr id="16" name="Card"/>
          <p:cNvSpPr/>
          <p:nvPr/>
        </p:nvSpPr>
        <p:spPr>
          <a:xfrm>
            <a:off x="3154680" y="1783080"/>
            <a:ext cx="2468880" cy="3840480"/>
          </a:xfrm>
          <a:prstGeom prst="roundRect">
            <a:avLst>
              <a:gd name="adj" fmla="val 12963"/>
            </a:avLst>
          </a:prstGeom>
          <a:solidFill>
            <a:srgbClr val="181B31"/>
          </a:solidFill>
          <a:ln w="12700">
            <a:solidFill>
              <a:srgbClr val="181B31"/>
            </a:solidFill>
            <a:prstDash val="solid"/>
          </a:ln>
        </p:spPr>
      </p:sp>
      <p:sp>
        <p:nvSpPr>
          <p:cNvPr id="17" name="Accent"/>
          <p:cNvSpPr/>
          <p:nvPr/>
        </p:nvSpPr>
        <p:spPr>
          <a:xfrm>
            <a:off x="3429000" y="2039112"/>
            <a:ext cx="457200" cy="54864"/>
          </a:xfrm>
          <a:prstGeom prst="rect">
            <a:avLst/>
          </a:prstGeom>
          <a:solidFill>
            <a:srgbClr val="4991FF"/>
          </a:solidFill>
          <a:ln w="12700">
            <a:solidFill>
              <a:srgbClr val="4991FF"/>
            </a:solidFill>
            <a:prstDash val="solid"/>
          </a:ln>
        </p:spPr>
      </p:sp>
      <p:sp>
        <p:nvSpPr>
          <p:cNvPr id="18" name="Text 15"/>
          <p:cNvSpPr txBox="1"/>
          <p:nvPr/>
        </p:nvSpPr>
        <p:spPr>
          <a:xfrm>
            <a:off x="3429000" y="2194560"/>
            <a:ext cx="4572000" cy="274320"/>
          </a:xfrm>
          <a:prstGeom prst="rect">
            <a:avLst/>
          </a:prstGeom>
          <a:noFill/>
          <a:ln/>
        </p:spPr>
        <p:txBody>
          <a:bodyPr wrap="square" lIns="0" tIns="0" rIns="0" bIns="0" rtlCol="0" anchor="ctr"/>
          <a:lstStyle/>
          <a:p>
            <a:pPr indent="0" marL="0">
              <a:buNone/>
            </a:pPr>
            <a:r>
              <a:rPr lang="en-US" sz="1100" b="1" spc="100" kern="0" dirty="0">
                <a:solidFill>
                  <a:srgbClr val="4991FF"/>
                </a:solidFill>
              </a:rPr>
              <a:t>FRONTEND</a:t>
            </a:r>
            <a:endParaRPr lang="en-US" sz="1100" dirty="0"/>
          </a:p>
        </p:txBody>
      </p:sp>
      <p:sp>
        <p:nvSpPr>
          <p:cNvPr id="19" name="Text 16"/>
          <p:cNvSpPr txBox="1"/>
          <p:nvPr/>
        </p:nvSpPr>
        <p:spPr>
          <a:xfrm>
            <a:off x="3429000" y="2560320"/>
            <a:ext cx="2103120" cy="365760"/>
          </a:xfrm>
          <a:prstGeom prst="rect">
            <a:avLst/>
          </a:prstGeom>
          <a:noFill/>
          <a:ln/>
        </p:spPr>
        <p:txBody>
          <a:bodyPr wrap="square" lIns="0" tIns="0" rIns="0" bIns="0" rtlCol="0" anchor="ctr"/>
          <a:lstStyle/>
          <a:p>
            <a:pPr indent="0" marL="0">
              <a:buNone/>
            </a:pPr>
            <a:r>
              <a:rPr lang="en-US" sz="1300" b="1" dirty="0">
                <a:solidFill>
                  <a:srgbClr val="F5F7FF"/>
                </a:solidFill>
              </a:rPr>
              <a:t>React.js</a:t>
            </a:r>
            <a:endParaRPr lang="en-US" sz="1300" dirty="0"/>
          </a:p>
        </p:txBody>
      </p:sp>
      <p:sp>
        <p:nvSpPr>
          <p:cNvPr id="20" name="Bullet"/>
          <p:cNvSpPr/>
          <p:nvPr/>
        </p:nvSpPr>
        <p:spPr>
          <a:xfrm>
            <a:off x="3447288" y="3227832"/>
            <a:ext cx="109728" cy="109728"/>
          </a:xfrm>
          <a:prstGeom prst="ellipse">
            <a:avLst/>
          </a:prstGeom>
          <a:solidFill>
            <a:srgbClr val="4991FF"/>
          </a:solidFill>
          <a:ln w="12700">
            <a:solidFill>
              <a:srgbClr val="4991FF"/>
            </a:solidFill>
            <a:prstDash val="solid"/>
          </a:ln>
        </p:spPr>
      </p:sp>
      <p:sp>
        <p:nvSpPr>
          <p:cNvPr id="21" name="Text 18"/>
          <p:cNvSpPr txBox="1"/>
          <p:nvPr/>
        </p:nvSpPr>
        <p:spPr>
          <a:xfrm>
            <a:off x="3657600" y="3063240"/>
            <a:ext cx="1874520" cy="411480"/>
          </a:xfrm>
          <a:prstGeom prst="rect">
            <a:avLst/>
          </a:prstGeom>
          <a:noFill/>
          <a:ln/>
        </p:spPr>
        <p:txBody>
          <a:bodyPr wrap="square" lIns="0" tIns="0" rIns="0" bIns="0" rtlCol="0" anchor="ctr"/>
          <a:lstStyle/>
          <a:p>
            <a:pPr indent="0" marL="0">
              <a:buNone/>
            </a:pPr>
            <a:r>
              <a:rPr lang="en-US" sz="1100" dirty="0">
                <a:solidFill>
                  <a:srgbClr val="F5F7FF"/>
                </a:solidFill>
              </a:rPr>
              <a:t>Inventory screens</a:t>
            </a:r>
            <a:endParaRPr lang="en-US" sz="1100" dirty="0"/>
          </a:p>
        </p:txBody>
      </p:sp>
      <p:sp>
        <p:nvSpPr>
          <p:cNvPr id="22" name="Bullet"/>
          <p:cNvSpPr/>
          <p:nvPr/>
        </p:nvSpPr>
        <p:spPr>
          <a:xfrm>
            <a:off x="3447288" y="3730752"/>
            <a:ext cx="109728" cy="109728"/>
          </a:xfrm>
          <a:prstGeom prst="ellipse">
            <a:avLst/>
          </a:prstGeom>
          <a:solidFill>
            <a:srgbClr val="4991FF"/>
          </a:solidFill>
          <a:ln w="12700">
            <a:solidFill>
              <a:srgbClr val="4991FF"/>
            </a:solidFill>
            <a:prstDash val="solid"/>
          </a:ln>
        </p:spPr>
      </p:sp>
      <p:sp>
        <p:nvSpPr>
          <p:cNvPr id="23" name="Text 20"/>
          <p:cNvSpPr txBox="1"/>
          <p:nvPr/>
        </p:nvSpPr>
        <p:spPr>
          <a:xfrm>
            <a:off x="3657600" y="3566160"/>
            <a:ext cx="1874520" cy="411480"/>
          </a:xfrm>
          <a:prstGeom prst="rect">
            <a:avLst/>
          </a:prstGeom>
          <a:noFill/>
          <a:ln/>
        </p:spPr>
        <p:txBody>
          <a:bodyPr wrap="square" lIns="0" tIns="0" rIns="0" bIns="0" rtlCol="0" anchor="ctr"/>
          <a:lstStyle/>
          <a:p>
            <a:pPr indent="0" marL="0">
              <a:buNone/>
            </a:pPr>
            <a:r>
              <a:rPr lang="en-US" sz="1100" dirty="0">
                <a:solidFill>
                  <a:srgbClr val="F5F7FF"/>
                </a:solidFill>
              </a:rPr>
              <a:t>Orders &amp; transactions</a:t>
            </a:r>
            <a:endParaRPr lang="en-US" sz="1100" dirty="0"/>
          </a:p>
        </p:txBody>
      </p:sp>
      <p:sp>
        <p:nvSpPr>
          <p:cNvPr id="24" name="Bullet"/>
          <p:cNvSpPr/>
          <p:nvPr/>
        </p:nvSpPr>
        <p:spPr>
          <a:xfrm>
            <a:off x="3447288" y="4233672"/>
            <a:ext cx="109728" cy="109728"/>
          </a:xfrm>
          <a:prstGeom prst="ellipse">
            <a:avLst/>
          </a:prstGeom>
          <a:solidFill>
            <a:srgbClr val="4991FF"/>
          </a:solidFill>
          <a:ln w="12700">
            <a:solidFill>
              <a:srgbClr val="4991FF"/>
            </a:solidFill>
            <a:prstDash val="solid"/>
          </a:ln>
        </p:spPr>
      </p:sp>
      <p:sp>
        <p:nvSpPr>
          <p:cNvPr id="25" name="Text 22"/>
          <p:cNvSpPr txBox="1"/>
          <p:nvPr/>
        </p:nvSpPr>
        <p:spPr>
          <a:xfrm>
            <a:off x="3657600" y="4069080"/>
            <a:ext cx="1874520" cy="411480"/>
          </a:xfrm>
          <a:prstGeom prst="rect">
            <a:avLst/>
          </a:prstGeom>
          <a:noFill/>
          <a:ln/>
        </p:spPr>
        <p:txBody>
          <a:bodyPr wrap="square" lIns="0" tIns="0" rIns="0" bIns="0" rtlCol="0" anchor="ctr"/>
          <a:lstStyle/>
          <a:p>
            <a:pPr indent="0" marL="0">
              <a:buNone/>
            </a:pPr>
            <a:r>
              <a:rPr lang="en-US" sz="1100" dirty="0">
                <a:solidFill>
                  <a:srgbClr val="F5F7FF"/>
                </a:solidFill>
              </a:rPr>
              <a:t>Barcode scan input</a:t>
            </a:r>
            <a:endParaRPr lang="en-US" sz="1100" dirty="0"/>
          </a:p>
        </p:txBody>
      </p:sp>
      <p:sp>
        <p:nvSpPr>
          <p:cNvPr id="26" name="Bullet"/>
          <p:cNvSpPr/>
          <p:nvPr/>
        </p:nvSpPr>
        <p:spPr>
          <a:xfrm>
            <a:off x="3447288" y="4736592"/>
            <a:ext cx="109728" cy="109728"/>
          </a:xfrm>
          <a:prstGeom prst="ellipse">
            <a:avLst/>
          </a:prstGeom>
          <a:solidFill>
            <a:srgbClr val="4991FF"/>
          </a:solidFill>
          <a:ln w="12700">
            <a:solidFill>
              <a:srgbClr val="4991FF"/>
            </a:solidFill>
            <a:prstDash val="solid"/>
          </a:ln>
        </p:spPr>
      </p:sp>
      <p:sp>
        <p:nvSpPr>
          <p:cNvPr id="27" name="Text 24"/>
          <p:cNvSpPr txBox="1"/>
          <p:nvPr/>
        </p:nvSpPr>
        <p:spPr>
          <a:xfrm>
            <a:off x="3657600" y="4572000"/>
            <a:ext cx="1874520" cy="411480"/>
          </a:xfrm>
          <a:prstGeom prst="rect">
            <a:avLst/>
          </a:prstGeom>
          <a:noFill/>
          <a:ln/>
        </p:spPr>
        <p:txBody>
          <a:bodyPr wrap="square" lIns="0" tIns="0" rIns="0" bIns="0" rtlCol="0" anchor="ctr"/>
          <a:lstStyle/>
          <a:p>
            <a:pPr indent="0" marL="0">
              <a:buNone/>
            </a:pPr>
            <a:r>
              <a:rPr lang="en-US" sz="1100" dirty="0">
                <a:solidFill>
                  <a:srgbClr val="F5F7FF"/>
                </a:solidFill>
              </a:rPr>
              <a:t>Chart.js dashboards</a:t>
            </a:r>
            <a:endParaRPr lang="en-US" sz="1100" dirty="0"/>
          </a:p>
        </p:txBody>
      </p:sp>
      <p:sp>
        <p:nvSpPr>
          <p:cNvPr id="28" name="Card"/>
          <p:cNvSpPr/>
          <p:nvPr/>
        </p:nvSpPr>
        <p:spPr>
          <a:xfrm>
            <a:off x="5806440" y="1783080"/>
            <a:ext cx="2468880" cy="3840480"/>
          </a:xfrm>
          <a:prstGeom prst="roundRect">
            <a:avLst>
              <a:gd name="adj" fmla="val 12963"/>
            </a:avLst>
          </a:prstGeom>
          <a:solidFill>
            <a:srgbClr val="181B31"/>
          </a:solidFill>
          <a:ln w="12700">
            <a:solidFill>
              <a:srgbClr val="181B31"/>
            </a:solidFill>
            <a:prstDash val="solid"/>
          </a:ln>
        </p:spPr>
      </p:sp>
      <p:sp>
        <p:nvSpPr>
          <p:cNvPr id="29" name="Accent"/>
          <p:cNvSpPr/>
          <p:nvPr/>
        </p:nvSpPr>
        <p:spPr>
          <a:xfrm>
            <a:off x="6080760" y="2039112"/>
            <a:ext cx="457200" cy="54864"/>
          </a:xfrm>
          <a:prstGeom prst="rect">
            <a:avLst/>
          </a:prstGeom>
          <a:solidFill>
            <a:srgbClr val="7E57FF"/>
          </a:solidFill>
          <a:ln w="12700">
            <a:solidFill>
              <a:srgbClr val="7E57FF"/>
            </a:solidFill>
            <a:prstDash val="solid"/>
          </a:ln>
        </p:spPr>
      </p:sp>
      <p:sp>
        <p:nvSpPr>
          <p:cNvPr id="30" name="Text 27"/>
          <p:cNvSpPr txBox="1"/>
          <p:nvPr/>
        </p:nvSpPr>
        <p:spPr>
          <a:xfrm>
            <a:off x="6080760" y="2194560"/>
            <a:ext cx="4572000" cy="274320"/>
          </a:xfrm>
          <a:prstGeom prst="rect">
            <a:avLst/>
          </a:prstGeom>
          <a:noFill/>
          <a:ln/>
        </p:spPr>
        <p:txBody>
          <a:bodyPr wrap="square" lIns="0" tIns="0" rIns="0" bIns="0" rtlCol="0" anchor="ctr"/>
          <a:lstStyle/>
          <a:p>
            <a:pPr indent="0" marL="0">
              <a:buNone/>
            </a:pPr>
            <a:r>
              <a:rPr lang="en-US" sz="1100" b="1" spc="100" kern="0" dirty="0">
                <a:solidFill>
                  <a:srgbClr val="7E57FF"/>
                </a:solidFill>
              </a:rPr>
              <a:t>BACKEND API</a:t>
            </a:r>
            <a:endParaRPr lang="en-US" sz="1100" dirty="0"/>
          </a:p>
        </p:txBody>
      </p:sp>
      <p:sp>
        <p:nvSpPr>
          <p:cNvPr id="31" name="Text 28"/>
          <p:cNvSpPr txBox="1"/>
          <p:nvPr/>
        </p:nvSpPr>
        <p:spPr>
          <a:xfrm>
            <a:off x="6080760" y="2560320"/>
            <a:ext cx="2103120" cy="365760"/>
          </a:xfrm>
          <a:prstGeom prst="rect">
            <a:avLst/>
          </a:prstGeom>
          <a:noFill/>
          <a:ln/>
        </p:spPr>
        <p:txBody>
          <a:bodyPr wrap="square" lIns="0" tIns="0" rIns="0" bIns="0" rtlCol="0" anchor="ctr"/>
          <a:lstStyle/>
          <a:p>
            <a:pPr indent="0" marL="0">
              <a:buNone/>
            </a:pPr>
            <a:r>
              <a:rPr lang="en-US" sz="1300" b="1" dirty="0">
                <a:solidFill>
                  <a:srgbClr val="F5F7FF"/>
                </a:solidFill>
              </a:rPr>
              <a:t>Node.js + Express.js</a:t>
            </a:r>
            <a:endParaRPr lang="en-US" sz="1300" dirty="0"/>
          </a:p>
        </p:txBody>
      </p:sp>
      <p:sp>
        <p:nvSpPr>
          <p:cNvPr id="32" name="Bullet"/>
          <p:cNvSpPr/>
          <p:nvPr/>
        </p:nvSpPr>
        <p:spPr>
          <a:xfrm>
            <a:off x="6099048" y="3227832"/>
            <a:ext cx="109728" cy="109728"/>
          </a:xfrm>
          <a:prstGeom prst="ellipse">
            <a:avLst/>
          </a:prstGeom>
          <a:solidFill>
            <a:srgbClr val="7E57FF"/>
          </a:solidFill>
          <a:ln w="12700">
            <a:solidFill>
              <a:srgbClr val="7E57FF"/>
            </a:solidFill>
            <a:prstDash val="solid"/>
          </a:ln>
        </p:spPr>
      </p:sp>
      <p:sp>
        <p:nvSpPr>
          <p:cNvPr id="33" name="Text 30"/>
          <p:cNvSpPr txBox="1"/>
          <p:nvPr/>
        </p:nvSpPr>
        <p:spPr>
          <a:xfrm>
            <a:off x="6309360" y="3063240"/>
            <a:ext cx="1874520" cy="411480"/>
          </a:xfrm>
          <a:prstGeom prst="rect">
            <a:avLst/>
          </a:prstGeom>
          <a:noFill/>
          <a:ln/>
        </p:spPr>
        <p:txBody>
          <a:bodyPr wrap="square" lIns="0" tIns="0" rIns="0" bIns="0" rtlCol="0" anchor="ctr"/>
          <a:lstStyle/>
          <a:p>
            <a:pPr indent="0" marL="0">
              <a:buNone/>
            </a:pPr>
            <a:r>
              <a:rPr lang="en-US" sz="1100" dirty="0">
                <a:solidFill>
                  <a:srgbClr val="F5F7FF"/>
                </a:solidFill>
              </a:rPr>
              <a:t>REST endpoints</a:t>
            </a:r>
            <a:endParaRPr lang="en-US" sz="1100" dirty="0"/>
          </a:p>
        </p:txBody>
      </p:sp>
      <p:sp>
        <p:nvSpPr>
          <p:cNvPr id="34" name="Bullet"/>
          <p:cNvSpPr/>
          <p:nvPr/>
        </p:nvSpPr>
        <p:spPr>
          <a:xfrm>
            <a:off x="6099048" y="3730752"/>
            <a:ext cx="109728" cy="109728"/>
          </a:xfrm>
          <a:prstGeom prst="ellipse">
            <a:avLst/>
          </a:prstGeom>
          <a:solidFill>
            <a:srgbClr val="7E57FF"/>
          </a:solidFill>
          <a:ln w="12700">
            <a:solidFill>
              <a:srgbClr val="7E57FF"/>
            </a:solidFill>
            <a:prstDash val="solid"/>
          </a:ln>
        </p:spPr>
      </p:sp>
      <p:sp>
        <p:nvSpPr>
          <p:cNvPr id="35" name="Text 32"/>
          <p:cNvSpPr txBox="1"/>
          <p:nvPr/>
        </p:nvSpPr>
        <p:spPr>
          <a:xfrm>
            <a:off x="6309360" y="3566160"/>
            <a:ext cx="1874520" cy="411480"/>
          </a:xfrm>
          <a:prstGeom prst="rect">
            <a:avLst/>
          </a:prstGeom>
          <a:noFill/>
          <a:ln/>
        </p:spPr>
        <p:txBody>
          <a:bodyPr wrap="square" lIns="0" tIns="0" rIns="0" bIns="0" rtlCol="0" anchor="ctr"/>
          <a:lstStyle/>
          <a:p>
            <a:pPr indent="0" marL="0">
              <a:buNone/>
            </a:pPr>
            <a:r>
              <a:rPr lang="en-US" sz="1100" dirty="0">
                <a:solidFill>
                  <a:srgbClr val="F5F7FF"/>
                </a:solidFill>
              </a:rPr>
              <a:t>JWT authentication</a:t>
            </a:r>
            <a:endParaRPr lang="en-US" sz="1100" dirty="0"/>
          </a:p>
        </p:txBody>
      </p:sp>
      <p:sp>
        <p:nvSpPr>
          <p:cNvPr id="36" name="Bullet"/>
          <p:cNvSpPr/>
          <p:nvPr/>
        </p:nvSpPr>
        <p:spPr>
          <a:xfrm>
            <a:off x="6099048" y="4233672"/>
            <a:ext cx="109728" cy="109728"/>
          </a:xfrm>
          <a:prstGeom prst="ellipse">
            <a:avLst/>
          </a:prstGeom>
          <a:solidFill>
            <a:srgbClr val="7E57FF"/>
          </a:solidFill>
          <a:ln w="12700">
            <a:solidFill>
              <a:srgbClr val="7E57FF"/>
            </a:solidFill>
            <a:prstDash val="solid"/>
          </a:ln>
        </p:spPr>
      </p:sp>
      <p:sp>
        <p:nvSpPr>
          <p:cNvPr id="37" name="Text 34"/>
          <p:cNvSpPr txBox="1"/>
          <p:nvPr/>
        </p:nvSpPr>
        <p:spPr>
          <a:xfrm>
            <a:off x="6309360" y="4069080"/>
            <a:ext cx="1874520" cy="411480"/>
          </a:xfrm>
          <a:prstGeom prst="rect">
            <a:avLst/>
          </a:prstGeom>
          <a:noFill/>
          <a:ln/>
        </p:spPr>
        <p:txBody>
          <a:bodyPr wrap="square" lIns="0" tIns="0" rIns="0" bIns="0" rtlCol="0" anchor="ctr"/>
          <a:lstStyle/>
          <a:p>
            <a:pPr indent="0" marL="0">
              <a:buNone/>
            </a:pPr>
            <a:r>
              <a:rPr lang="en-US" sz="1100" dirty="0">
                <a:solidFill>
                  <a:srgbClr val="F5F7FF"/>
                </a:solidFill>
              </a:rPr>
              <a:t>Role-based access</a:t>
            </a:r>
            <a:endParaRPr lang="en-US" sz="1100" dirty="0"/>
          </a:p>
        </p:txBody>
      </p:sp>
      <p:sp>
        <p:nvSpPr>
          <p:cNvPr id="38" name="Bullet"/>
          <p:cNvSpPr/>
          <p:nvPr/>
        </p:nvSpPr>
        <p:spPr>
          <a:xfrm>
            <a:off x="6099048" y="4736592"/>
            <a:ext cx="109728" cy="109728"/>
          </a:xfrm>
          <a:prstGeom prst="ellipse">
            <a:avLst/>
          </a:prstGeom>
          <a:solidFill>
            <a:srgbClr val="7E57FF"/>
          </a:solidFill>
          <a:ln w="12700">
            <a:solidFill>
              <a:srgbClr val="7E57FF"/>
            </a:solidFill>
            <a:prstDash val="solid"/>
          </a:ln>
        </p:spPr>
      </p:sp>
      <p:sp>
        <p:nvSpPr>
          <p:cNvPr id="39" name="Text 36"/>
          <p:cNvSpPr txBox="1"/>
          <p:nvPr/>
        </p:nvSpPr>
        <p:spPr>
          <a:xfrm>
            <a:off x="6309360" y="4572000"/>
            <a:ext cx="1874520" cy="411480"/>
          </a:xfrm>
          <a:prstGeom prst="rect">
            <a:avLst/>
          </a:prstGeom>
          <a:noFill/>
          <a:ln/>
        </p:spPr>
        <p:txBody>
          <a:bodyPr wrap="square" lIns="0" tIns="0" rIns="0" bIns="0" rtlCol="0" anchor="ctr"/>
          <a:lstStyle/>
          <a:p>
            <a:pPr indent="0" marL="0">
              <a:buNone/>
            </a:pPr>
            <a:r>
              <a:rPr lang="en-US" sz="1100" dirty="0">
                <a:solidFill>
                  <a:srgbClr val="F5F7FF"/>
                </a:solidFill>
              </a:rPr>
              <a:t>Barcode Scanner API</a:t>
            </a:r>
            <a:endParaRPr lang="en-US" sz="1100" dirty="0"/>
          </a:p>
        </p:txBody>
      </p:sp>
      <p:sp>
        <p:nvSpPr>
          <p:cNvPr id="40" name="Card"/>
          <p:cNvSpPr/>
          <p:nvPr/>
        </p:nvSpPr>
        <p:spPr>
          <a:xfrm>
            <a:off x="8458200" y="1783080"/>
            <a:ext cx="2468880" cy="3840480"/>
          </a:xfrm>
          <a:prstGeom prst="roundRect">
            <a:avLst>
              <a:gd name="adj" fmla="val 12963"/>
            </a:avLst>
          </a:prstGeom>
          <a:solidFill>
            <a:srgbClr val="181B31"/>
          </a:solidFill>
          <a:ln w="12700">
            <a:solidFill>
              <a:srgbClr val="181B31"/>
            </a:solidFill>
            <a:prstDash val="solid"/>
          </a:ln>
        </p:spPr>
      </p:sp>
      <p:sp>
        <p:nvSpPr>
          <p:cNvPr id="41" name="Accent"/>
          <p:cNvSpPr/>
          <p:nvPr/>
        </p:nvSpPr>
        <p:spPr>
          <a:xfrm>
            <a:off x="8732520" y="2039112"/>
            <a:ext cx="457200" cy="54864"/>
          </a:xfrm>
          <a:prstGeom prst="rect">
            <a:avLst/>
          </a:prstGeom>
          <a:solidFill>
            <a:srgbClr val="34C98B"/>
          </a:solidFill>
          <a:ln w="12700">
            <a:solidFill>
              <a:srgbClr val="34C98B"/>
            </a:solidFill>
            <a:prstDash val="solid"/>
          </a:ln>
        </p:spPr>
      </p:sp>
      <p:sp>
        <p:nvSpPr>
          <p:cNvPr id="42" name="Text 39"/>
          <p:cNvSpPr txBox="1"/>
          <p:nvPr/>
        </p:nvSpPr>
        <p:spPr>
          <a:xfrm>
            <a:off x="8732520" y="2194560"/>
            <a:ext cx="4572000" cy="274320"/>
          </a:xfrm>
          <a:prstGeom prst="rect">
            <a:avLst/>
          </a:prstGeom>
          <a:noFill/>
          <a:ln/>
        </p:spPr>
        <p:txBody>
          <a:bodyPr wrap="square" lIns="0" tIns="0" rIns="0" bIns="0" rtlCol="0" anchor="ctr"/>
          <a:lstStyle/>
          <a:p>
            <a:pPr indent="0" marL="0">
              <a:buNone/>
            </a:pPr>
            <a:r>
              <a:rPr lang="en-US" sz="1100" b="1" spc="100" kern="0" dirty="0">
                <a:solidFill>
                  <a:srgbClr val="34C98B"/>
                </a:solidFill>
              </a:rPr>
              <a:t>DATABASE</a:t>
            </a:r>
            <a:endParaRPr lang="en-US" sz="1100" dirty="0"/>
          </a:p>
        </p:txBody>
      </p:sp>
      <p:sp>
        <p:nvSpPr>
          <p:cNvPr id="43" name="Text 40"/>
          <p:cNvSpPr txBox="1"/>
          <p:nvPr/>
        </p:nvSpPr>
        <p:spPr>
          <a:xfrm>
            <a:off x="8732520" y="2560320"/>
            <a:ext cx="2103120" cy="365760"/>
          </a:xfrm>
          <a:prstGeom prst="rect">
            <a:avLst/>
          </a:prstGeom>
          <a:noFill/>
          <a:ln/>
        </p:spPr>
        <p:txBody>
          <a:bodyPr wrap="square" lIns="0" tIns="0" rIns="0" bIns="0" rtlCol="0" anchor="ctr"/>
          <a:lstStyle/>
          <a:p>
            <a:pPr indent="0" marL="0">
              <a:buNone/>
            </a:pPr>
            <a:r>
              <a:rPr lang="en-US" sz="1300" b="1" dirty="0">
                <a:solidFill>
                  <a:srgbClr val="F5F7FF"/>
                </a:solidFill>
              </a:rPr>
              <a:t>MySQL</a:t>
            </a:r>
            <a:endParaRPr lang="en-US" sz="1300" dirty="0"/>
          </a:p>
        </p:txBody>
      </p:sp>
      <p:sp>
        <p:nvSpPr>
          <p:cNvPr id="44" name="Bullet"/>
          <p:cNvSpPr/>
          <p:nvPr/>
        </p:nvSpPr>
        <p:spPr>
          <a:xfrm>
            <a:off x="8750808" y="3227832"/>
            <a:ext cx="109728" cy="109728"/>
          </a:xfrm>
          <a:prstGeom prst="ellipse">
            <a:avLst/>
          </a:prstGeom>
          <a:solidFill>
            <a:srgbClr val="34C98B"/>
          </a:solidFill>
          <a:ln w="12700">
            <a:solidFill>
              <a:srgbClr val="34C98B"/>
            </a:solidFill>
            <a:prstDash val="solid"/>
          </a:ln>
        </p:spPr>
      </p:sp>
      <p:sp>
        <p:nvSpPr>
          <p:cNvPr id="45" name="Text 42"/>
          <p:cNvSpPr txBox="1"/>
          <p:nvPr/>
        </p:nvSpPr>
        <p:spPr>
          <a:xfrm>
            <a:off x="8961120" y="3063240"/>
            <a:ext cx="1874520" cy="411480"/>
          </a:xfrm>
          <a:prstGeom prst="rect">
            <a:avLst/>
          </a:prstGeom>
          <a:noFill/>
          <a:ln/>
        </p:spPr>
        <p:txBody>
          <a:bodyPr wrap="square" lIns="0" tIns="0" rIns="0" bIns="0" rtlCol="0" anchor="ctr"/>
          <a:lstStyle/>
          <a:p>
            <a:pPr indent="0" marL="0">
              <a:buNone/>
            </a:pPr>
            <a:r>
              <a:rPr lang="en-US" sz="1100" dirty="0">
                <a:solidFill>
                  <a:srgbClr val="F5F7FF"/>
                </a:solidFill>
              </a:rPr>
              <a:t>Products, Warehouses</a:t>
            </a:r>
            <a:endParaRPr lang="en-US" sz="1100" dirty="0"/>
          </a:p>
        </p:txBody>
      </p:sp>
      <p:sp>
        <p:nvSpPr>
          <p:cNvPr id="46" name="Bullet"/>
          <p:cNvSpPr/>
          <p:nvPr/>
        </p:nvSpPr>
        <p:spPr>
          <a:xfrm>
            <a:off x="8750808" y="3730752"/>
            <a:ext cx="109728" cy="109728"/>
          </a:xfrm>
          <a:prstGeom prst="ellipse">
            <a:avLst/>
          </a:prstGeom>
          <a:solidFill>
            <a:srgbClr val="34C98B"/>
          </a:solidFill>
          <a:ln w="12700">
            <a:solidFill>
              <a:srgbClr val="34C98B"/>
            </a:solidFill>
            <a:prstDash val="solid"/>
          </a:ln>
        </p:spPr>
      </p:sp>
      <p:sp>
        <p:nvSpPr>
          <p:cNvPr id="47" name="Text 44"/>
          <p:cNvSpPr txBox="1"/>
          <p:nvPr/>
        </p:nvSpPr>
        <p:spPr>
          <a:xfrm>
            <a:off x="8961120" y="3566160"/>
            <a:ext cx="1874520" cy="411480"/>
          </a:xfrm>
          <a:prstGeom prst="rect">
            <a:avLst/>
          </a:prstGeom>
          <a:noFill/>
          <a:ln/>
        </p:spPr>
        <p:txBody>
          <a:bodyPr wrap="square" lIns="0" tIns="0" rIns="0" bIns="0" rtlCol="0" anchor="ctr"/>
          <a:lstStyle/>
          <a:p>
            <a:pPr indent="0" marL="0">
              <a:buNone/>
            </a:pPr>
            <a:r>
              <a:rPr lang="en-US" sz="1100" dirty="0">
                <a:solidFill>
                  <a:srgbClr val="F5F7FF"/>
                </a:solidFill>
              </a:rPr>
              <a:t>Suppliers, Staff</a:t>
            </a:r>
            <a:endParaRPr lang="en-US" sz="1100" dirty="0"/>
          </a:p>
        </p:txBody>
      </p:sp>
      <p:sp>
        <p:nvSpPr>
          <p:cNvPr id="48" name="Bullet"/>
          <p:cNvSpPr/>
          <p:nvPr/>
        </p:nvSpPr>
        <p:spPr>
          <a:xfrm>
            <a:off x="8750808" y="4233672"/>
            <a:ext cx="109728" cy="109728"/>
          </a:xfrm>
          <a:prstGeom prst="ellipse">
            <a:avLst/>
          </a:prstGeom>
          <a:solidFill>
            <a:srgbClr val="34C98B"/>
          </a:solidFill>
          <a:ln w="12700">
            <a:solidFill>
              <a:srgbClr val="34C98B"/>
            </a:solidFill>
            <a:prstDash val="solid"/>
          </a:ln>
        </p:spPr>
      </p:sp>
      <p:sp>
        <p:nvSpPr>
          <p:cNvPr id="49" name="Text 46"/>
          <p:cNvSpPr txBox="1"/>
          <p:nvPr/>
        </p:nvSpPr>
        <p:spPr>
          <a:xfrm>
            <a:off x="8961120" y="4069080"/>
            <a:ext cx="1874520" cy="411480"/>
          </a:xfrm>
          <a:prstGeom prst="rect">
            <a:avLst/>
          </a:prstGeom>
          <a:noFill/>
          <a:ln/>
        </p:spPr>
        <p:txBody>
          <a:bodyPr wrap="square" lIns="0" tIns="0" rIns="0" bIns="0" rtlCol="0" anchor="ctr"/>
          <a:lstStyle/>
          <a:p>
            <a:pPr indent="0" marL="0">
              <a:buNone/>
            </a:pPr>
            <a:r>
              <a:rPr lang="en-US" sz="1100" dirty="0">
                <a:solidFill>
                  <a:srgbClr val="F5F7FF"/>
                </a:solidFill>
              </a:rPr>
              <a:t>Stock Transactions</a:t>
            </a:r>
            <a:endParaRPr lang="en-US" sz="1100" dirty="0"/>
          </a:p>
        </p:txBody>
      </p:sp>
      <p:sp>
        <p:nvSpPr>
          <p:cNvPr id="50" name="Bullet"/>
          <p:cNvSpPr/>
          <p:nvPr/>
        </p:nvSpPr>
        <p:spPr>
          <a:xfrm>
            <a:off x="8750808" y="4736592"/>
            <a:ext cx="109728" cy="109728"/>
          </a:xfrm>
          <a:prstGeom prst="ellipse">
            <a:avLst/>
          </a:prstGeom>
          <a:solidFill>
            <a:srgbClr val="34C98B"/>
          </a:solidFill>
          <a:ln w="12700">
            <a:solidFill>
              <a:srgbClr val="34C98B"/>
            </a:solidFill>
            <a:prstDash val="solid"/>
          </a:ln>
        </p:spPr>
      </p:sp>
      <p:sp>
        <p:nvSpPr>
          <p:cNvPr id="51" name="Text 48"/>
          <p:cNvSpPr txBox="1"/>
          <p:nvPr/>
        </p:nvSpPr>
        <p:spPr>
          <a:xfrm>
            <a:off x="8961120" y="4572000"/>
            <a:ext cx="1874520" cy="411480"/>
          </a:xfrm>
          <a:prstGeom prst="rect">
            <a:avLst/>
          </a:prstGeom>
          <a:noFill/>
          <a:ln/>
        </p:spPr>
        <p:txBody>
          <a:bodyPr wrap="square" lIns="0" tIns="0" rIns="0" bIns="0" rtlCol="0" anchor="ctr"/>
          <a:lstStyle/>
          <a:p>
            <a:pPr indent="0" marL="0">
              <a:buNone/>
            </a:pPr>
            <a:r>
              <a:rPr lang="en-US" sz="1100" dirty="0">
                <a:solidFill>
                  <a:srgbClr val="F5F7FF"/>
                </a:solidFill>
              </a:rPr>
              <a:t>Orders</a:t>
            </a:r>
            <a:endParaRPr lang="en-US" sz="1100" dirty="0"/>
          </a:p>
        </p:txBody>
      </p:sp>
      <p:sp>
        <p:nvSpPr>
          <p:cNvPr id="52" name="Arrow"/>
          <p:cNvSpPr/>
          <p:nvPr/>
        </p:nvSpPr>
        <p:spPr>
          <a:xfrm>
            <a:off x="2651760" y="3703320"/>
            <a:ext cx="502920" cy="0"/>
          </a:xfrm>
          <a:prstGeom prst="line">
            <a:avLst/>
          </a:prstGeom>
          <a:noFill/>
          <a:ln w="19050">
            <a:solidFill>
              <a:srgbClr val="AAB0CD"/>
            </a:solidFill>
            <a:prstDash val="solid"/>
            <a:tailEnd type="triangle"/>
          </a:ln>
        </p:spPr>
      </p:sp>
      <p:sp>
        <p:nvSpPr>
          <p:cNvPr id="53" name="Arrow"/>
          <p:cNvSpPr/>
          <p:nvPr/>
        </p:nvSpPr>
        <p:spPr>
          <a:xfrm>
            <a:off x="5623560" y="3703320"/>
            <a:ext cx="182880" cy="0"/>
          </a:xfrm>
          <a:prstGeom prst="line">
            <a:avLst/>
          </a:prstGeom>
          <a:noFill/>
          <a:ln w="19050">
            <a:solidFill>
              <a:srgbClr val="AAB0CD"/>
            </a:solidFill>
            <a:prstDash val="solid"/>
            <a:tailEnd type="triangle"/>
          </a:ln>
        </p:spPr>
      </p:sp>
      <p:sp>
        <p:nvSpPr>
          <p:cNvPr id="54" name="Arrow"/>
          <p:cNvSpPr/>
          <p:nvPr/>
        </p:nvSpPr>
        <p:spPr>
          <a:xfrm>
            <a:off x="8275320" y="3703320"/>
            <a:ext cx="182880" cy="0"/>
          </a:xfrm>
          <a:prstGeom prst="line">
            <a:avLst/>
          </a:prstGeom>
          <a:noFill/>
          <a:ln w="19050">
            <a:solidFill>
              <a:srgbClr val="AAB0CD"/>
            </a:solidFill>
            <a:prstDash val="solid"/>
            <a:tailEnd type="triangle"/>
          </a:ln>
        </p:spPr>
      </p:sp>
      <p:sp>
        <p:nvSpPr>
          <p:cNvPr id="55" name="SlotStrip"/>
          <p:cNvSpPr/>
          <p:nvPr/>
        </p:nvSpPr>
        <p:spPr>
          <a:xfrm>
            <a:off x="3154680" y="5760720"/>
            <a:ext cx="7772400" cy="548640"/>
          </a:xfrm>
          <a:prstGeom prst="roundRect">
            <a:avLst>
              <a:gd name="adj" fmla="val 58333"/>
            </a:avLst>
          </a:prstGeom>
          <a:solidFill>
            <a:srgbClr val="1F233E"/>
          </a:solidFill>
          <a:ln w="12700">
            <a:solidFill>
              <a:srgbClr val="1F233E"/>
            </a:solidFill>
            <a:prstDash val="solid"/>
          </a:ln>
        </p:spPr>
      </p:sp>
      <p:sp>
        <p:nvSpPr>
          <p:cNvPr id="56" name="Text 53"/>
          <p:cNvSpPr txBox="1"/>
          <p:nvPr/>
        </p:nvSpPr>
        <p:spPr>
          <a:xfrm>
            <a:off x="3383280" y="5760720"/>
            <a:ext cx="7406640" cy="548640"/>
          </a:xfrm>
          <a:prstGeom prst="rect">
            <a:avLst/>
          </a:prstGeom>
          <a:noFill/>
          <a:ln/>
        </p:spPr>
        <p:txBody>
          <a:bodyPr wrap="square" lIns="0" tIns="0" rIns="0" bIns="0" rtlCol="0" anchor="ctr"/>
          <a:lstStyle/>
          <a:p>
            <a:pPr indent="0" marL="0">
              <a:buNone/>
            </a:pPr>
            <a:r>
              <a:rPr lang="en-US" sz="1050" b="1" dirty="0">
                <a:solidFill>
                  <a:srgbClr val="36D3D6"/>
                </a:solidFill>
              </a:rPr>
              <a:t>SLOTTING OPTIMIZATION  </a:t>
            </a:r>
            <a:pPr indent="0" marL="0">
              <a:buNone/>
            </a:pPr>
            <a:r>
              <a:rPr lang="en-US" sz="1050" dirty="0">
                <a:solidFill>
                  <a:srgbClr val="F5F7FF"/>
                </a:solidFill>
              </a:rPr>
              <a:t>Sorting • Priority Queue • Greedy — by demand, capacity &amp; access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Application Workflow</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End-to-end inventory and warehouse process</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07</a:t>
            </a:r>
            <a:endParaRPr lang="en-US" sz="800" dirty="0"/>
          </a:p>
        </p:txBody>
      </p:sp>
      <p:sp>
        <p:nvSpPr>
          <p:cNvPr id="7" name="Card"/>
          <p:cNvSpPr/>
          <p:nvPr/>
        </p:nvSpPr>
        <p:spPr>
          <a:xfrm>
            <a:off x="685800" y="1920240"/>
            <a:ext cx="2514600" cy="1554480"/>
          </a:xfrm>
          <a:prstGeom prst="roundRect">
            <a:avLst>
              <a:gd name="adj" fmla="val 20588"/>
            </a:avLst>
          </a:prstGeom>
          <a:solidFill>
            <a:srgbClr val="181B31"/>
          </a:solidFill>
          <a:ln w="12700">
            <a:solidFill>
              <a:srgbClr val="181B31"/>
            </a:solidFill>
            <a:prstDash val="solid"/>
          </a:ln>
        </p:spPr>
      </p:sp>
      <p:sp>
        <p:nvSpPr>
          <p:cNvPr id="8" name="Marker"/>
          <p:cNvSpPr/>
          <p:nvPr/>
        </p:nvSpPr>
        <p:spPr>
          <a:xfrm>
            <a:off x="960120" y="2194560"/>
            <a:ext cx="457200" cy="457200"/>
          </a:xfrm>
          <a:prstGeom prst="ellipse">
            <a:avLst/>
          </a:prstGeom>
          <a:solidFill>
            <a:srgbClr val="4991FF"/>
          </a:solidFill>
          <a:ln w="12700">
            <a:solidFill>
              <a:srgbClr val="4991FF"/>
            </a:solidFill>
            <a:prstDash val="solid"/>
          </a:ln>
        </p:spPr>
      </p:sp>
      <p:sp>
        <p:nvSpPr>
          <p:cNvPr id="9" name="Text 6"/>
          <p:cNvSpPr txBox="1"/>
          <p:nvPr/>
        </p:nvSpPr>
        <p:spPr>
          <a:xfrm>
            <a:off x="9601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0" name="Text 7"/>
          <p:cNvSpPr txBox="1"/>
          <p:nvPr/>
        </p:nvSpPr>
        <p:spPr>
          <a:xfrm>
            <a:off x="15544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Secure Login</a:t>
            </a:r>
            <a:endParaRPr lang="en-US" sz="1300" dirty="0"/>
          </a:p>
        </p:txBody>
      </p:sp>
      <p:sp>
        <p:nvSpPr>
          <p:cNvPr id="11" name="Text 8"/>
          <p:cNvSpPr txBox="1"/>
          <p:nvPr/>
        </p:nvSpPr>
        <p:spPr>
          <a:xfrm>
            <a:off x="9601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Authenticate by role</a:t>
            </a:r>
            <a:endParaRPr lang="en-US" sz="1000" dirty="0"/>
          </a:p>
        </p:txBody>
      </p:sp>
      <p:sp>
        <p:nvSpPr>
          <p:cNvPr id="12" name="Card"/>
          <p:cNvSpPr/>
          <p:nvPr/>
        </p:nvSpPr>
        <p:spPr>
          <a:xfrm>
            <a:off x="3429000" y="1920240"/>
            <a:ext cx="2514600" cy="1554480"/>
          </a:xfrm>
          <a:prstGeom prst="roundRect">
            <a:avLst>
              <a:gd name="adj" fmla="val 20588"/>
            </a:avLst>
          </a:prstGeom>
          <a:solidFill>
            <a:srgbClr val="181B31"/>
          </a:solidFill>
          <a:ln w="12700">
            <a:solidFill>
              <a:srgbClr val="181B31"/>
            </a:solidFill>
            <a:prstDash val="solid"/>
          </a:ln>
        </p:spPr>
      </p:sp>
      <p:sp>
        <p:nvSpPr>
          <p:cNvPr id="13" name="Marker"/>
          <p:cNvSpPr/>
          <p:nvPr/>
        </p:nvSpPr>
        <p:spPr>
          <a:xfrm>
            <a:off x="3703320" y="2194560"/>
            <a:ext cx="457200" cy="457200"/>
          </a:xfrm>
          <a:prstGeom prst="ellipse">
            <a:avLst/>
          </a:prstGeom>
          <a:solidFill>
            <a:srgbClr val="7E57FF"/>
          </a:solidFill>
          <a:ln w="12700">
            <a:solidFill>
              <a:srgbClr val="7E57FF"/>
            </a:solidFill>
            <a:prstDash val="solid"/>
          </a:ln>
        </p:spPr>
      </p:sp>
      <p:sp>
        <p:nvSpPr>
          <p:cNvPr id="14" name="Text 11"/>
          <p:cNvSpPr txBox="1"/>
          <p:nvPr/>
        </p:nvSpPr>
        <p:spPr>
          <a:xfrm>
            <a:off x="37033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5" name="Text 12"/>
          <p:cNvSpPr txBox="1"/>
          <p:nvPr/>
        </p:nvSpPr>
        <p:spPr>
          <a:xfrm>
            <a:off x="42976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Add Products &amp; Suppliers</a:t>
            </a:r>
            <a:endParaRPr lang="en-US" sz="1300" dirty="0"/>
          </a:p>
        </p:txBody>
      </p:sp>
      <p:sp>
        <p:nvSpPr>
          <p:cNvPr id="16" name="Text 13"/>
          <p:cNvSpPr txBox="1"/>
          <p:nvPr/>
        </p:nvSpPr>
        <p:spPr>
          <a:xfrm>
            <a:off x="37033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Maintain master data</a:t>
            </a:r>
            <a:endParaRPr lang="en-US" sz="1000" dirty="0"/>
          </a:p>
        </p:txBody>
      </p:sp>
      <p:sp>
        <p:nvSpPr>
          <p:cNvPr id="17" name="Card"/>
          <p:cNvSpPr/>
          <p:nvPr/>
        </p:nvSpPr>
        <p:spPr>
          <a:xfrm>
            <a:off x="6172200" y="1920240"/>
            <a:ext cx="2514600" cy="1554480"/>
          </a:xfrm>
          <a:prstGeom prst="roundRect">
            <a:avLst>
              <a:gd name="adj" fmla="val 20588"/>
            </a:avLst>
          </a:prstGeom>
          <a:solidFill>
            <a:srgbClr val="181B31"/>
          </a:solidFill>
          <a:ln w="12700">
            <a:solidFill>
              <a:srgbClr val="181B31"/>
            </a:solidFill>
            <a:prstDash val="solid"/>
          </a:ln>
        </p:spPr>
      </p:sp>
      <p:sp>
        <p:nvSpPr>
          <p:cNvPr id="18" name="Marker"/>
          <p:cNvSpPr/>
          <p:nvPr/>
        </p:nvSpPr>
        <p:spPr>
          <a:xfrm>
            <a:off x="6446520" y="2194560"/>
            <a:ext cx="457200" cy="457200"/>
          </a:xfrm>
          <a:prstGeom prst="ellipse">
            <a:avLst/>
          </a:prstGeom>
          <a:solidFill>
            <a:srgbClr val="36D3D6"/>
          </a:solidFill>
          <a:ln w="12700">
            <a:solidFill>
              <a:srgbClr val="36D3D6"/>
            </a:solidFill>
            <a:prstDash val="solid"/>
          </a:ln>
        </p:spPr>
      </p:sp>
      <p:sp>
        <p:nvSpPr>
          <p:cNvPr id="19" name="Text 16"/>
          <p:cNvSpPr txBox="1"/>
          <p:nvPr/>
        </p:nvSpPr>
        <p:spPr>
          <a:xfrm>
            <a:off x="64465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0" name="Text 17"/>
          <p:cNvSpPr txBox="1"/>
          <p:nvPr/>
        </p:nvSpPr>
        <p:spPr>
          <a:xfrm>
            <a:off x="70408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Receive Stock</a:t>
            </a:r>
            <a:endParaRPr lang="en-US" sz="1300" dirty="0"/>
          </a:p>
        </p:txBody>
      </p:sp>
      <p:sp>
        <p:nvSpPr>
          <p:cNvPr id="21" name="Text 18"/>
          <p:cNvSpPr txBox="1"/>
          <p:nvPr/>
        </p:nvSpPr>
        <p:spPr>
          <a:xfrm>
            <a:off x="64465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Scan barcode, log it</a:t>
            </a:r>
            <a:endParaRPr lang="en-US" sz="1000" dirty="0"/>
          </a:p>
        </p:txBody>
      </p:sp>
      <p:sp>
        <p:nvSpPr>
          <p:cNvPr id="22" name="Card"/>
          <p:cNvSpPr/>
          <p:nvPr/>
        </p:nvSpPr>
        <p:spPr>
          <a:xfrm>
            <a:off x="8915400" y="1920240"/>
            <a:ext cx="2514600" cy="1554480"/>
          </a:xfrm>
          <a:prstGeom prst="roundRect">
            <a:avLst>
              <a:gd name="adj" fmla="val 20588"/>
            </a:avLst>
          </a:prstGeom>
          <a:solidFill>
            <a:srgbClr val="181B31"/>
          </a:solidFill>
          <a:ln w="12700">
            <a:solidFill>
              <a:srgbClr val="181B31"/>
            </a:solidFill>
            <a:prstDash val="solid"/>
          </a:ln>
        </p:spPr>
      </p:sp>
      <p:sp>
        <p:nvSpPr>
          <p:cNvPr id="23" name="Marker"/>
          <p:cNvSpPr/>
          <p:nvPr/>
        </p:nvSpPr>
        <p:spPr>
          <a:xfrm>
            <a:off x="9189720" y="2194560"/>
            <a:ext cx="457200" cy="457200"/>
          </a:xfrm>
          <a:prstGeom prst="ellipse">
            <a:avLst/>
          </a:prstGeom>
          <a:solidFill>
            <a:srgbClr val="34C98B"/>
          </a:solidFill>
          <a:ln w="12700">
            <a:solidFill>
              <a:srgbClr val="34C98B"/>
            </a:solidFill>
            <a:prstDash val="solid"/>
          </a:ln>
        </p:spPr>
      </p:sp>
      <p:sp>
        <p:nvSpPr>
          <p:cNvPr id="24" name="Text 21"/>
          <p:cNvSpPr txBox="1"/>
          <p:nvPr/>
        </p:nvSpPr>
        <p:spPr>
          <a:xfrm>
            <a:off x="91897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5" name="Text 22"/>
          <p:cNvSpPr txBox="1"/>
          <p:nvPr/>
        </p:nvSpPr>
        <p:spPr>
          <a:xfrm>
            <a:off x="9784080" y="21031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Run Slotting</a:t>
            </a:r>
            <a:endParaRPr lang="en-US" sz="1300" dirty="0"/>
          </a:p>
        </p:txBody>
      </p:sp>
      <p:sp>
        <p:nvSpPr>
          <p:cNvPr id="26" name="Text 23"/>
          <p:cNvSpPr txBox="1"/>
          <p:nvPr/>
        </p:nvSpPr>
        <p:spPr>
          <a:xfrm>
            <a:off x="9189720" y="2880360"/>
            <a:ext cx="2103120" cy="411480"/>
          </a:xfrm>
          <a:prstGeom prst="rect">
            <a:avLst/>
          </a:prstGeom>
          <a:noFill/>
          <a:ln/>
        </p:spPr>
        <p:txBody>
          <a:bodyPr wrap="square" lIns="0" tIns="0" rIns="0" bIns="0" rtlCol="0" anchor="t"/>
          <a:lstStyle/>
          <a:p>
            <a:pPr indent="0" marL="0">
              <a:buNone/>
            </a:pPr>
            <a:r>
              <a:rPr lang="en-US" sz="1000" dirty="0">
                <a:solidFill>
                  <a:srgbClr val="AAB0CD"/>
                </a:solidFill>
              </a:rPr>
              <a:t>Prioritize by demand</a:t>
            </a:r>
            <a:endParaRPr lang="en-US" sz="1000" dirty="0"/>
          </a:p>
        </p:txBody>
      </p:sp>
      <p:sp>
        <p:nvSpPr>
          <p:cNvPr id="27" name="Card"/>
          <p:cNvSpPr/>
          <p:nvPr/>
        </p:nvSpPr>
        <p:spPr>
          <a:xfrm>
            <a:off x="685800" y="3749040"/>
            <a:ext cx="2514600" cy="1554480"/>
          </a:xfrm>
          <a:prstGeom prst="roundRect">
            <a:avLst>
              <a:gd name="adj" fmla="val 20588"/>
            </a:avLst>
          </a:prstGeom>
          <a:solidFill>
            <a:srgbClr val="181B31"/>
          </a:solidFill>
          <a:ln w="12700">
            <a:solidFill>
              <a:srgbClr val="181B31"/>
            </a:solidFill>
            <a:prstDash val="solid"/>
          </a:ln>
        </p:spPr>
      </p:sp>
      <p:sp>
        <p:nvSpPr>
          <p:cNvPr id="28" name="Marker"/>
          <p:cNvSpPr/>
          <p:nvPr/>
        </p:nvSpPr>
        <p:spPr>
          <a:xfrm>
            <a:off x="960120" y="4023360"/>
            <a:ext cx="457200" cy="457200"/>
          </a:xfrm>
          <a:prstGeom prst="ellipse">
            <a:avLst/>
          </a:prstGeom>
          <a:solidFill>
            <a:srgbClr val="EB5B99"/>
          </a:solidFill>
          <a:ln w="12700">
            <a:solidFill>
              <a:srgbClr val="EB5B99"/>
            </a:solidFill>
            <a:prstDash val="solid"/>
          </a:ln>
        </p:spPr>
      </p:sp>
      <p:sp>
        <p:nvSpPr>
          <p:cNvPr id="29" name="Text 26"/>
          <p:cNvSpPr txBox="1"/>
          <p:nvPr/>
        </p:nvSpPr>
        <p:spPr>
          <a:xfrm>
            <a:off x="9601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0" name="Text 27"/>
          <p:cNvSpPr txBox="1"/>
          <p:nvPr/>
        </p:nvSpPr>
        <p:spPr>
          <a:xfrm>
            <a:off x="15544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Store in Warehouse</a:t>
            </a:r>
            <a:endParaRPr lang="en-US" sz="1300" dirty="0"/>
          </a:p>
        </p:txBody>
      </p:sp>
      <p:sp>
        <p:nvSpPr>
          <p:cNvPr id="31" name="Text 28"/>
          <p:cNvSpPr txBox="1"/>
          <p:nvPr/>
        </p:nvSpPr>
        <p:spPr>
          <a:xfrm>
            <a:off x="9601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Assign best location</a:t>
            </a:r>
            <a:endParaRPr lang="en-US" sz="1000" dirty="0"/>
          </a:p>
        </p:txBody>
      </p:sp>
      <p:sp>
        <p:nvSpPr>
          <p:cNvPr id="32" name="Card"/>
          <p:cNvSpPr/>
          <p:nvPr/>
        </p:nvSpPr>
        <p:spPr>
          <a:xfrm>
            <a:off x="3429000" y="3749040"/>
            <a:ext cx="2514600" cy="1554480"/>
          </a:xfrm>
          <a:prstGeom prst="roundRect">
            <a:avLst>
              <a:gd name="adj" fmla="val 20588"/>
            </a:avLst>
          </a:prstGeom>
          <a:solidFill>
            <a:srgbClr val="181B31"/>
          </a:solidFill>
          <a:ln w="12700">
            <a:solidFill>
              <a:srgbClr val="181B31"/>
            </a:solidFill>
            <a:prstDash val="solid"/>
          </a:ln>
        </p:spPr>
      </p:sp>
      <p:sp>
        <p:nvSpPr>
          <p:cNvPr id="33" name="Marker"/>
          <p:cNvSpPr/>
          <p:nvPr/>
        </p:nvSpPr>
        <p:spPr>
          <a:xfrm>
            <a:off x="3703320" y="4023360"/>
            <a:ext cx="457200" cy="457200"/>
          </a:xfrm>
          <a:prstGeom prst="ellipse">
            <a:avLst/>
          </a:prstGeom>
          <a:solidFill>
            <a:srgbClr val="4991FF"/>
          </a:solidFill>
          <a:ln w="12700">
            <a:solidFill>
              <a:srgbClr val="4991FF"/>
            </a:solidFill>
            <a:prstDash val="solid"/>
          </a:ln>
        </p:spPr>
      </p:sp>
      <p:sp>
        <p:nvSpPr>
          <p:cNvPr id="34" name="Text 31"/>
          <p:cNvSpPr txBox="1"/>
          <p:nvPr/>
        </p:nvSpPr>
        <p:spPr>
          <a:xfrm>
            <a:off x="37033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5" name="Text 32"/>
          <p:cNvSpPr txBox="1"/>
          <p:nvPr/>
        </p:nvSpPr>
        <p:spPr>
          <a:xfrm>
            <a:off x="42976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Process Order</a:t>
            </a:r>
            <a:endParaRPr lang="en-US" sz="1300" dirty="0"/>
          </a:p>
        </p:txBody>
      </p:sp>
      <p:sp>
        <p:nvSpPr>
          <p:cNvPr id="36" name="Text 33"/>
          <p:cNvSpPr txBox="1"/>
          <p:nvPr/>
        </p:nvSpPr>
        <p:spPr>
          <a:xfrm>
            <a:off x="37033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Pick &amp; dispatch</a:t>
            </a:r>
            <a:endParaRPr lang="en-US" sz="1000" dirty="0"/>
          </a:p>
        </p:txBody>
      </p:sp>
      <p:sp>
        <p:nvSpPr>
          <p:cNvPr id="37" name="Card"/>
          <p:cNvSpPr/>
          <p:nvPr/>
        </p:nvSpPr>
        <p:spPr>
          <a:xfrm>
            <a:off x="6172200" y="3749040"/>
            <a:ext cx="2514600" cy="1554480"/>
          </a:xfrm>
          <a:prstGeom prst="roundRect">
            <a:avLst>
              <a:gd name="adj" fmla="val 20588"/>
            </a:avLst>
          </a:prstGeom>
          <a:solidFill>
            <a:srgbClr val="181B31"/>
          </a:solidFill>
          <a:ln w="12700">
            <a:solidFill>
              <a:srgbClr val="181B31"/>
            </a:solidFill>
            <a:prstDash val="solid"/>
          </a:ln>
        </p:spPr>
      </p:sp>
      <p:sp>
        <p:nvSpPr>
          <p:cNvPr id="38" name="Marker"/>
          <p:cNvSpPr/>
          <p:nvPr/>
        </p:nvSpPr>
        <p:spPr>
          <a:xfrm>
            <a:off x="6446520" y="4023360"/>
            <a:ext cx="457200" cy="457200"/>
          </a:xfrm>
          <a:prstGeom prst="ellipse">
            <a:avLst/>
          </a:prstGeom>
          <a:solidFill>
            <a:srgbClr val="7E57FF"/>
          </a:solidFill>
          <a:ln w="12700">
            <a:solidFill>
              <a:srgbClr val="7E57FF"/>
            </a:solidFill>
            <a:prstDash val="solid"/>
          </a:ln>
        </p:spPr>
      </p:sp>
      <p:sp>
        <p:nvSpPr>
          <p:cNvPr id="39" name="Text 36"/>
          <p:cNvSpPr txBox="1"/>
          <p:nvPr/>
        </p:nvSpPr>
        <p:spPr>
          <a:xfrm>
            <a:off x="64465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7</a:t>
            </a:r>
            <a:endParaRPr lang="en-US" sz="1400" dirty="0"/>
          </a:p>
        </p:txBody>
      </p:sp>
      <p:sp>
        <p:nvSpPr>
          <p:cNvPr id="40" name="Text 37"/>
          <p:cNvSpPr txBox="1"/>
          <p:nvPr/>
        </p:nvSpPr>
        <p:spPr>
          <a:xfrm>
            <a:off x="70408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Update Transactions</a:t>
            </a:r>
            <a:endParaRPr lang="en-US" sz="1300" dirty="0"/>
          </a:p>
        </p:txBody>
      </p:sp>
      <p:sp>
        <p:nvSpPr>
          <p:cNvPr id="41" name="Text 38"/>
          <p:cNvSpPr txBox="1"/>
          <p:nvPr/>
        </p:nvSpPr>
        <p:spPr>
          <a:xfrm>
            <a:off x="64465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Record stock movement</a:t>
            </a:r>
            <a:endParaRPr lang="en-US" sz="1000" dirty="0"/>
          </a:p>
        </p:txBody>
      </p:sp>
      <p:sp>
        <p:nvSpPr>
          <p:cNvPr id="42" name="Card"/>
          <p:cNvSpPr/>
          <p:nvPr/>
        </p:nvSpPr>
        <p:spPr>
          <a:xfrm>
            <a:off x="8915400" y="3749040"/>
            <a:ext cx="2514600" cy="1554480"/>
          </a:xfrm>
          <a:prstGeom prst="roundRect">
            <a:avLst>
              <a:gd name="adj" fmla="val 20588"/>
            </a:avLst>
          </a:prstGeom>
          <a:solidFill>
            <a:srgbClr val="181B31"/>
          </a:solidFill>
          <a:ln w="12700">
            <a:solidFill>
              <a:srgbClr val="181B31"/>
            </a:solidFill>
            <a:prstDash val="solid"/>
          </a:ln>
        </p:spPr>
      </p:sp>
      <p:sp>
        <p:nvSpPr>
          <p:cNvPr id="43" name="Marker"/>
          <p:cNvSpPr/>
          <p:nvPr/>
        </p:nvSpPr>
        <p:spPr>
          <a:xfrm>
            <a:off x="9189720" y="4023360"/>
            <a:ext cx="457200" cy="457200"/>
          </a:xfrm>
          <a:prstGeom prst="ellipse">
            <a:avLst/>
          </a:prstGeom>
          <a:solidFill>
            <a:srgbClr val="36D3D6"/>
          </a:solidFill>
          <a:ln w="12700">
            <a:solidFill>
              <a:srgbClr val="36D3D6"/>
            </a:solidFill>
            <a:prstDash val="solid"/>
          </a:ln>
        </p:spPr>
      </p:sp>
      <p:sp>
        <p:nvSpPr>
          <p:cNvPr id="44" name="Text 41"/>
          <p:cNvSpPr txBox="1"/>
          <p:nvPr/>
        </p:nvSpPr>
        <p:spPr>
          <a:xfrm>
            <a:off x="91897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8</a:t>
            </a:r>
            <a:endParaRPr lang="en-US" sz="1400" dirty="0"/>
          </a:p>
        </p:txBody>
      </p:sp>
      <p:sp>
        <p:nvSpPr>
          <p:cNvPr id="45" name="Text 42"/>
          <p:cNvSpPr txBox="1"/>
          <p:nvPr/>
        </p:nvSpPr>
        <p:spPr>
          <a:xfrm>
            <a:off x="9784080" y="3931920"/>
            <a:ext cx="1508760" cy="640080"/>
          </a:xfrm>
          <a:prstGeom prst="rect">
            <a:avLst/>
          </a:prstGeom>
          <a:noFill/>
          <a:ln/>
        </p:spPr>
        <p:txBody>
          <a:bodyPr wrap="square" lIns="0" tIns="0" rIns="0" bIns="0" rtlCol="0" anchor="ctr"/>
          <a:lstStyle/>
          <a:p>
            <a:pPr indent="0" marL="0">
              <a:buNone/>
            </a:pPr>
            <a:r>
              <a:rPr lang="en-US" sz="1300" b="1" dirty="0">
                <a:solidFill>
                  <a:srgbClr val="F5F7FF"/>
                </a:solidFill>
              </a:rPr>
              <a:t>Monitor Dashboard</a:t>
            </a:r>
            <a:endParaRPr lang="en-US" sz="1300" dirty="0"/>
          </a:p>
        </p:txBody>
      </p:sp>
      <p:sp>
        <p:nvSpPr>
          <p:cNvPr id="46" name="Text 43"/>
          <p:cNvSpPr txBox="1"/>
          <p:nvPr/>
        </p:nvSpPr>
        <p:spPr>
          <a:xfrm>
            <a:off x="9189720" y="4709160"/>
            <a:ext cx="2103120" cy="411480"/>
          </a:xfrm>
          <a:prstGeom prst="rect">
            <a:avLst/>
          </a:prstGeom>
          <a:noFill/>
          <a:ln/>
        </p:spPr>
        <p:txBody>
          <a:bodyPr wrap="square" lIns="0" tIns="0" rIns="0" bIns="0" rtlCol="0" anchor="t"/>
          <a:lstStyle/>
          <a:p>
            <a:pPr indent="0" marL="0">
              <a:buNone/>
            </a:pPr>
            <a:r>
              <a:rPr lang="en-US" sz="1000" dirty="0">
                <a:solidFill>
                  <a:srgbClr val="AAB0CD"/>
                </a:solidFill>
              </a:rPr>
              <a:t>Track stock &amp; capacity</a:t>
            </a:r>
            <a:endParaRPr lang="en-US" sz="1000" dirty="0"/>
          </a:p>
        </p:txBody>
      </p:sp>
      <p:sp>
        <p:nvSpPr>
          <p:cNvPr id="47" name="FlowBar"/>
          <p:cNvSpPr/>
          <p:nvPr/>
        </p:nvSpPr>
        <p:spPr>
          <a:xfrm>
            <a:off x="685800" y="5669280"/>
            <a:ext cx="10744200" cy="457200"/>
          </a:xfrm>
          <a:prstGeom prst="roundRect">
            <a:avLst>
              <a:gd name="adj" fmla="val 70000"/>
            </a:avLst>
          </a:prstGeom>
          <a:solidFill>
            <a:srgbClr val="7E57FF"/>
          </a:solidFill>
          <a:ln w="12700">
            <a:solidFill>
              <a:srgbClr val="7E57FF"/>
            </a:solidFill>
            <a:prstDash val="solid"/>
          </a:ln>
        </p:spPr>
      </p:sp>
      <p:sp>
        <p:nvSpPr>
          <p:cNvPr id="48" name="Text 45"/>
          <p:cNvSpPr txBox="1"/>
          <p:nvPr/>
        </p:nvSpPr>
        <p:spPr>
          <a:xfrm>
            <a:off x="685800" y="5669280"/>
            <a:ext cx="10744200" cy="457200"/>
          </a:xfrm>
          <a:prstGeom prst="rect">
            <a:avLst/>
          </a:prstGeom>
          <a:noFill/>
          <a:ln/>
        </p:spPr>
        <p:txBody>
          <a:bodyPr wrap="square" lIns="0" tIns="0" rIns="0" bIns="0" rtlCol="0" anchor="ctr"/>
          <a:lstStyle/>
          <a:p>
            <a:pPr algn="ctr" indent="0" marL="0">
              <a:buNone/>
            </a:pPr>
            <a:r>
              <a:rPr lang="en-US" sz="1200" b="1" spc="100" kern="0" dirty="0">
                <a:solidFill>
                  <a:srgbClr val="FFFFFF"/>
                </a:solidFill>
              </a:rPr>
              <a:t>SECURE  →  RECEIVE  →  OPTIMIZE  →  FULFIL  →  MONITOR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Future Implementation</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Planned enhancements for the next stage</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08</a:t>
            </a:r>
            <a:endParaRPr lang="en-US" sz="800" dirty="0"/>
          </a:p>
        </p:txBody>
      </p:sp>
      <p:sp>
        <p:nvSpPr>
          <p:cNvPr id="7" name="Card"/>
          <p:cNvSpPr/>
          <p:nvPr/>
        </p:nvSpPr>
        <p:spPr>
          <a:xfrm>
            <a:off x="685800" y="1737360"/>
            <a:ext cx="10744200" cy="3977640"/>
          </a:xfrm>
          <a:prstGeom prst="roundRect">
            <a:avLst>
              <a:gd name="adj" fmla="val 8046"/>
            </a:avLst>
          </a:prstGeom>
          <a:solidFill>
            <a:srgbClr val="181B31"/>
          </a:solidFill>
          <a:ln w="12700">
            <a:solidFill>
              <a:srgbClr val="181B31"/>
            </a:solidFill>
            <a:prstDash val="solid"/>
          </a:ln>
        </p:spPr>
      </p:sp>
      <p:sp>
        <p:nvSpPr>
          <p:cNvPr id="8" name="Marker"/>
          <p:cNvSpPr/>
          <p:nvPr/>
        </p:nvSpPr>
        <p:spPr>
          <a:xfrm>
            <a:off x="1005840" y="1965960"/>
            <a:ext cx="365760" cy="365760"/>
          </a:xfrm>
          <a:prstGeom prst="ellipse">
            <a:avLst/>
          </a:prstGeom>
          <a:solidFill>
            <a:srgbClr val="7E57FF"/>
          </a:solidFill>
          <a:ln w="12700">
            <a:solidFill>
              <a:srgbClr val="7E57FF"/>
            </a:solidFill>
            <a:prstDash val="solid"/>
          </a:ln>
        </p:spPr>
      </p:sp>
      <p:sp>
        <p:nvSpPr>
          <p:cNvPr id="9" name="Text 6"/>
          <p:cNvSpPr txBox="1"/>
          <p:nvPr/>
        </p:nvSpPr>
        <p:spPr>
          <a:xfrm>
            <a:off x="1005840" y="1965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0" name="Text 7"/>
          <p:cNvSpPr txBox="1"/>
          <p:nvPr/>
        </p:nvSpPr>
        <p:spPr>
          <a:xfrm>
            <a:off x="1554480" y="1920240"/>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Low-stock alerts</a:t>
            </a:r>
            <a:endParaRPr lang="en-US" sz="1300" dirty="0"/>
          </a:p>
        </p:txBody>
      </p:sp>
      <p:sp>
        <p:nvSpPr>
          <p:cNvPr id="11" name="Text 8"/>
          <p:cNvSpPr txBox="1"/>
          <p:nvPr/>
        </p:nvSpPr>
        <p:spPr>
          <a:xfrm>
            <a:off x="4846320" y="1920240"/>
            <a:ext cx="6400800" cy="457200"/>
          </a:xfrm>
          <a:prstGeom prst="rect">
            <a:avLst/>
          </a:prstGeom>
          <a:noFill/>
          <a:ln/>
        </p:spPr>
        <p:txBody>
          <a:bodyPr wrap="square" lIns="0" tIns="0" rIns="0" bIns="0" rtlCol="0" anchor="ctr"/>
          <a:lstStyle/>
          <a:p>
            <a:pPr indent="0" marL="0">
              <a:buNone/>
            </a:pPr>
            <a:r>
              <a:rPr lang="en-US" sz="1200" dirty="0">
                <a:solidFill>
                  <a:srgbClr val="AAB0CD"/>
                </a:solidFill>
              </a:rPr>
              <a:t>Notify managers when items reach reorder levels.</a:t>
            </a:r>
            <a:endParaRPr lang="en-US" sz="1200" dirty="0"/>
          </a:p>
        </p:txBody>
      </p:sp>
      <p:sp>
        <p:nvSpPr>
          <p:cNvPr id="12" name="Marker"/>
          <p:cNvSpPr/>
          <p:nvPr/>
        </p:nvSpPr>
        <p:spPr>
          <a:xfrm>
            <a:off x="1005840" y="2569464"/>
            <a:ext cx="365760" cy="365760"/>
          </a:xfrm>
          <a:prstGeom prst="ellipse">
            <a:avLst/>
          </a:prstGeom>
          <a:solidFill>
            <a:srgbClr val="7E57FF"/>
          </a:solidFill>
          <a:ln w="12700">
            <a:solidFill>
              <a:srgbClr val="7E57FF"/>
            </a:solidFill>
            <a:prstDash val="solid"/>
          </a:ln>
        </p:spPr>
      </p:sp>
      <p:sp>
        <p:nvSpPr>
          <p:cNvPr id="13" name="Text 10"/>
          <p:cNvSpPr txBox="1"/>
          <p:nvPr/>
        </p:nvSpPr>
        <p:spPr>
          <a:xfrm>
            <a:off x="1005840" y="256946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4" name="Text 11"/>
          <p:cNvSpPr txBox="1"/>
          <p:nvPr/>
        </p:nvSpPr>
        <p:spPr>
          <a:xfrm>
            <a:off x="1554480" y="2523744"/>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Demand forecasting</a:t>
            </a:r>
            <a:endParaRPr lang="en-US" sz="1300" dirty="0"/>
          </a:p>
        </p:txBody>
      </p:sp>
      <p:sp>
        <p:nvSpPr>
          <p:cNvPr id="15" name="Text 12"/>
          <p:cNvSpPr txBox="1"/>
          <p:nvPr/>
        </p:nvSpPr>
        <p:spPr>
          <a:xfrm>
            <a:off x="4846320" y="2523744"/>
            <a:ext cx="6400800" cy="457200"/>
          </a:xfrm>
          <a:prstGeom prst="rect">
            <a:avLst/>
          </a:prstGeom>
          <a:noFill/>
          <a:ln/>
        </p:spPr>
        <p:txBody>
          <a:bodyPr wrap="square" lIns="0" tIns="0" rIns="0" bIns="0" rtlCol="0" anchor="ctr"/>
          <a:lstStyle/>
          <a:p>
            <a:pPr indent="0" marL="0">
              <a:buNone/>
            </a:pPr>
            <a:r>
              <a:rPr lang="en-US" sz="1200" dirty="0">
                <a:solidFill>
                  <a:srgbClr val="AAB0CD"/>
                </a:solidFill>
              </a:rPr>
              <a:t>Predict demand to refine slot priorities.</a:t>
            </a:r>
            <a:endParaRPr lang="en-US" sz="1200" dirty="0"/>
          </a:p>
        </p:txBody>
      </p:sp>
      <p:sp>
        <p:nvSpPr>
          <p:cNvPr id="16" name="Marker"/>
          <p:cNvSpPr/>
          <p:nvPr/>
        </p:nvSpPr>
        <p:spPr>
          <a:xfrm>
            <a:off x="1005840" y="3172968"/>
            <a:ext cx="365760" cy="365760"/>
          </a:xfrm>
          <a:prstGeom prst="ellipse">
            <a:avLst/>
          </a:prstGeom>
          <a:solidFill>
            <a:srgbClr val="7E57FF"/>
          </a:solidFill>
          <a:ln w="12700">
            <a:solidFill>
              <a:srgbClr val="7E57FF"/>
            </a:solidFill>
            <a:prstDash val="solid"/>
          </a:ln>
        </p:spPr>
      </p:sp>
      <p:sp>
        <p:nvSpPr>
          <p:cNvPr id="17" name="Text 14"/>
          <p:cNvSpPr txBox="1"/>
          <p:nvPr/>
        </p:nvSpPr>
        <p:spPr>
          <a:xfrm>
            <a:off x="1005840" y="31729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8" name="Text 15"/>
          <p:cNvSpPr txBox="1"/>
          <p:nvPr/>
        </p:nvSpPr>
        <p:spPr>
          <a:xfrm>
            <a:off x="1554480" y="3127248"/>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Handheld scanner app</a:t>
            </a:r>
            <a:endParaRPr lang="en-US" sz="1300" dirty="0"/>
          </a:p>
        </p:txBody>
      </p:sp>
      <p:sp>
        <p:nvSpPr>
          <p:cNvPr id="19" name="Text 16"/>
          <p:cNvSpPr txBox="1"/>
          <p:nvPr/>
        </p:nvSpPr>
        <p:spPr>
          <a:xfrm>
            <a:off x="4846320" y="3127248"/>
            <a:ext cx="6400800" cy="457200"/>
          </a:xfrm>
          <a:prstGeom prst="rect">
            <a:avLst/>
          </a:prstGeom>
          <a:noFill/>
          <a:ln/>
        </p:spPr>
        <p:txBody>
          <a:bodyPr wrap="square" lIns="0" tIns="0" rIns="0" bIns="0" rtlCol="0" anchor="ctr"/>
          <a:lstStyle/>
          <a:p>
            <a:pPr indent="0" marL="0">
              <a:buNone/>
            </a:pPr>
            <a:r>
              <a:rPr lang="en-US" sz="1200" dirty="0">
                <a:solidFill>
                  <a:srgbClr val="AAB0CD"/>
                </a:solidFill>
              </a:rPr>
              <a:t>Mobile scanning for faster receiving and picking.</a:t>
            </a:r>
            <a:endParaRPr lang="en-US" sz="1200" dirty="0"/>
          </a:p>
        </p:txBody>
      </p:sp>
      <p:sp>
        <p:nvSpPr>
          <p:cNvPr id="20" name="Marker"/>
          <p:cNvSpPr/>
          <p:nvPr/>
        </p:nvSpPr>
        <p:spPr>
          <a:xfrm>
            <a:off x="1005840" y="3776472"/>
            <a:ext cx="365760" cy="365760"/>
          </a:xfrm>
          <a:prstGeom prst="ellipse">
            <a:avLst/>
          </a:prstGeom>
          <a:solidFill>
            <a:srgbClr val="7E57FF"/>
          </a:solidFill>
          <a:ln w="12700">
            <a:solidFill>
              <a:srgbClr val="7E57FF"/>
            </a:solidFill>
            <a:prstDash val="solid"/>
          </a:ln>
        </p:spPr>
      </p:sp>
      <p:sp>
        <p:nvSpPr>
          <p:cNvPr id="21" name="Text 18"/>
          <p:cNvSpPr txBox="1"/>
          <p:nvPr/>
        </p:nvSpPr>
        <p:spPr>
          <a:xfrm>
            <a:off x="1005840" y="377647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22" name="Text 19"/>
          <p:cNvSpPr txBox="1"/>
          <p:nvPr/>
        </p:nvSpPr>
        <p:spPr>
          <a:xfrm>
            <a:off x="1554480" y="3730752"/>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Zone &amp; path optimization</a:t>
            </a:r>
            <a:endParaRPr lang="en-US" sz="1300" dirty="0"/>
          </a:p>
        </p:txBody>
      </p:sp>
      <p:sp>
        <p:nvSpPr>
          <p:cNvPr id="23" name="Text 20"/>
          <p:cNvSpPr txBox="1"/>
          <p:nvPr/>
        </p:nvSpPr>
        <p:spPr>
          <a:xfrm>
            <a:off x="4846320" y="3730752"/>
            <a:ext cx="6400800" cy="457200"/>
          </a:xfrm>
          <a:prstGeom prst="rect">
            <a:avLst/>
          </a:prstGeom>
          <a:noFill/>
          <a:ln/>
        </p:spPr>
        <p:txBody>
          <a:bodyPr wrap="square" lIns="0" tIns="0" rIns="0" bIns="0" rtlCol="0" anchor="ctr"/>
          <a:lstStyle/>
          <a:p>
            <a:pPr indent="0" marL="0">
              <a:buNone/>
            </a:pPr>
            <a:r>
              <a:rPr lang="en-US" sz="1200" dirty="0">
                <a:solidFill>
                  <a:srgbClr val="AAB0CD"/>
                </a:solidFill>
              </a:rPr>
              <a:t>Shorter picking routes inside the warehouse.</a:t>
            </a:r>
            <a:endParaRPr lang="en-US" sz="1200" dirty="0"/>
          </a:p>
        </p:txBody>
      </p:sp>
      <p:sp>
        <p:nvSpPr>
          <p:cNvPr id="24" name="Marker"/>
          <p:cNvSpPr/>
          <p:nvPr/>
        </p:nvSpPr>
        <p:spPr>
          <a:xfrm>
            <a:off x="1005840" y="4379976"/>
            <a:ext cx="365760" cy="365760"/>
          </a:xfrm>
          <a:prstGeom prst="ellipse">
            <a:avLst/>
          </a:prstGeom>
          <a:solidFill>
            <a:srgbClr val="7E57FF"/>
          </a:solidFill>
          <a:ln w="12700">
            <a:solidFill>
              <a:srgbClr val="7E57FF"/>
            </a:solidFill>
            <a:prstDash val="solid"/>
          </a:ln>
        </p:spPr>
      </p:sp>
      <p:sp>
        <p:nvSpPr>
          <p:cNvPr id="25" name="Text 22"/>
          <p:cNvSpPr txBox="1"/>
          <p:nvPr/>
        </p:nvSpPr>
        <p:spPr>
          <a:xfrm>
            <a:off x="1005840" y="43799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5</a:t>
            </a:r>
            <a:endParaRPr lang="en-US" sz="1100" dirty="0"/>
          </a:p>
        </p:txBody>
      </p:sp>
      <p:sp>
        <p:nvSpPr>
          <p:cNvPr id="26" name="Text 23"/>
          <p:cNvSpPr txBox="1"/>
          <p:nvPr/>
        </p:nvSpPr>
        <p:spPr>
          <a:xfrm>
            <a:off x="1554480" y="4334256"/>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Inter-warehouse transfers</a:t>
            </a:r>
            <a:endParaRPr lang="en-US" sz="1300" dirty="0"/>
          </a:p>
        </p:txBody>
      </p:sp>
      <p:sp>
        <p:nvSpPr>
          <p:cNvPr id="27" name="Text 24"/>
          <p:cNvSpPr txBox="1"/>
          <p:nvPr/>
        </p:nvSpPr>
        <p:spPr>
          <a:xfrm>
            <a:off x="4846320" y="4334256"/>
            <a:ext cx="6400800" cy="457200"/>
          </a:xfrm>
          <a:prstGeom prst="rect">
            <a:avLst/>
          </a:prstGeom>
          <a:noFill/>
          <a:ln/>
        </p:spPr>
        <p:txBody>
          <a:bodyPr wrap="square" lIns="0" tIns="0" rIns="0" bIns="0" rtlCol="0" anchor="ctr"/>
          <a:lstStyle/>
          <a:p>
            <a:pPr indent="0" marL="0">
              <a:buNone/>
            </a:pPr>
            <a:r>
              <a:rPr lang="en-US" sz="1200" dirty="0">
                <a:solidFill>
                  <a:srgbClr val="AAB0CD"/>
                </a:solidFill>
              </a:rPr>
              <a:t>Automate stock movement between locations.</a:t>
            </a:r>
            <a:endParaRPr lang="en-US" sz="1200" dirty="0"/>
          </a:p>
        </p:txBody>
      </p:sp>
      <p:sp>
        <p:nvSpPr>
          <p:cNvPr id="28" name="Marker"/>
          <p:cNvSpPr/>
          <p:nvPr/>
        </p:nvSpPr>
        <p:spPr>
          <a:xfrm>
            <a:off x="1005840" y="4983480"/>
            <a:ext cx="365760" cy="365760"/>
          </a:xfrm>
          <a:prstGeom prst="ellipse">
            <a:avLst/>
          </a:prstGeom>
          <a:solidFill>
            <a:srgbClr val="7E57FF"/>
          </a:solidFill>
          <a:ln w="12700">
            <a:solidFill>
              <a:srgbClr val="7E57FF"/>
            </a:solidFill>
            <a:prstDash val="solid"/>
          </a:ln>
        </p:spPr>
      </p:sp>
      <p:sp>
        <p:nvSpPr>
          <p:cNvPr id="29" name="Text 26"/>
          <p:cNvSpPr txBox="1"/>
          <p:nvPr/>
        </p:nvSpPr>
        <p:spPr>
          <a:xfrm>
            <a:off x="1005840" y="49834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6</a:t>
            </a:r>
            <a:endParaRPr lang="en-US" sz="1100" dirty="0"/>
          </a:p>
        </p:txBody>
      </p:sp>
      <p:sp>
        <p:nvSpPr>
          <p:cNvPr id="30" name="Text 27"/>
          <p:cNvSpPr txBox="1"/>
          <p:nvPr/>
        </p:nvSpPr>
        <p:spPr>
          <a:xfrm>
            <a:off x="1554480" y="4937760"/>
            <a:ext cx="3291840" cy="457200"/>
          </a:xfrm>
          <a:prstGeom prst="rect">
            <a:avLst/>
          </a:prstGeom>
          <a:noFill/>
          <a:ln/>
        </p:spPr>
        <p:txBody>
          <a:bodyPr wrap="square" lIns="0" tIns="0" rIns="0" bIns="0" rtlCol="0" anchor="ctr"/>
          <a:lstStyle/>
          <a:p>
            <a:pPr indent="0" marL="0">
              <a:buNone/>
            </a:pPr>
            <a:r>
              <a:rPr lang="en-US" sz="1300" b="1" dirty="0">
                <a:solidFill>
                  <a:srgbClr val="F5F7FF"/>
                </a:solidFill>
              </a:rPr>
              <a:t>Supplier analytics</a:t>
            </a:r>
            <a:endParaRPr lang="en-US" sz="1300" dirty="0"/>
          </a:p>
        </p:txBody>
      </p:sp>
      <p:sp>
        <p:nvSpPr>
          <p:cNvPr id="31" name="Text 28"/>
          <p:cNvSpPr txBox="1"/>
          <p:nvPr/>
        </p:nvSpPr>
        <p:spPr>
          <a:xfrm>
            <a:off x="4846320" y="4937760"/>
            <a:ext cx="6400800" cy="457200"/>
          </a:xfrm>
          <a:prstGeom prst="rect">
            <a:avLst/>
          </a:prstGeom>
          <a:noFill/>
          <a:ln/>
        </p:spPr>
        <p:txBody>
          <a:bodyPr wrap="square" lIns="0" tIns="0" rIns="0" bIns="0" rtlCol="0" anchor="ctr"/>
          <a:lstStyle/>
          <a:p>
            <a:pPr indent="0" marL="0">
              <a:buNone/>
            </a:pPr>
            <a:r>
              <a:rPr lang="en-US" sz="1200" dirty="0">
                <a:solidFill>
                  <a:srgbClr val="AAB0CD"/>
                </a:solidFill>
              </a:rPr>
              <a:t>Track delivery performance and lead times.</a:t>
            </a:r>
            <a:endParaRPr lang="en-US" sz="1200" dirty="0"/>
          </a:p>
        </p:txBody>
      </p:sp>
      <p:sp>
        <p:nvSpPr>
          <p:cNvPr id="32" name="GoalBar"/>
          <p:cNvSpPr/>
          <p:nvPr/>
        </p:nvSpPr>
        <p:spPr>
          <a:xfrm>
            <a:off x="685800" y="5852160"/>
            <a:ext cx="10744200" cy="411480"/>
          </a:xfrm>
          <a:prstGeom prst="roundRect">
            <a:avLst>
              <a:gd name="adj" fmla="val 77778"/>
            </a:avLst>
          </a:prstGeom>
          <a:solidFill>
            <a:srgbClr val="1F233E"/>
          </a:solidFill>
          <a:ln w="12700">
            <a:solidFill>
              <a:srgbClr val="1F233E"/>
            </a:solidFill>
            <a:prstDash val="solid"/>
          </a:ln>
        </p:spPr>
      </p:sp>
      <p:sp>
        <p:nvSpPr>
          <p:cNvPr id="33" name="Text 30"/>
          <p:cNvSpPr txBox="1"/>
          <p:nvPr/>
        </p:nvSpPr>
        <p:spPr>
          <a:xfrm>
            <a:off x="685800" y="5852160"/>
            <a:ext cx="10744200" cy="411480"/>
          </a:xfrm>
          <a:prstGeom prst="rect">
            <a:avLst/>
          </a:prstGeom>
          <a:noFill/>
          <a:ln/>
        </p:spPr>
        <p:txBody>
          <a:bodyPr wrap="square" lIns="0" tIns="0" rIns="0" bIns="0" rtlCol="0" anchor="ctr"/>
          <a:lstStyle/>
          <a:p>
            <a:pPr algn="ctr" indent="0" marL="0">
              <a:buNone/>
            </a:pPr>
            <a:r>
              <a:rPr lang="en-US" sz="1100" b="1" dirty="0">
                <a:solidFill>
                  <a:srgbClr val="36D3D6"/>
                </a:solidFill>
              </a:rPr>
              <a:t>Goal: move from basic stock tracking to an intelligent, optimized warehouse operation.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C1C"/>
        </a:solidFill>
      </p:bgPr>
    </p:bg>
    <p:spTree>
      <p:nvGrpSpPr>
        <p:cNvPr id="1" name=""/>
        <p:cNvGrpSpPr/>
        <p:nvPr/>
      </p:nvGrpSpPr>
      <p:grpSpPr>
        <a:xfrm>
          <a:off x="0" y="0"/>
          <a:ext cx="0" cy="0"/>
          <a:chOff x="0" y="0"/>
          <a:chExt cx="0" cy="0"/>
        </a:xfrm>
      </p:grpSpPr>
      <p:pic>
        <p:nvPicPr>
          <p:cNvPr id="2" name="Logo" descr="logo.png">    </p:cNvPr>
          <p:cNvPicPr>
            <a:picLocks noChangeAspect="1"/>
          </p:cNvPicPr>
          <p:nvPr/>
        </p:nvPicPr>
        <p:blipFill>
          <a:blip r:embed="rId1"/>
          <a:stretch>
            <a:fillRect/>
          </a:stretch>
        </p:blipFill>
        <p:spPr>
          <a:xfrm>
            <a:off x="10716768" y="73152"/>
            <a:ext cx="1325880" cy="621792"/>
          </a:xfrm>
          <a:prstGeom prst="rect">
            <a:avLst/>
          </a:prstGeom>
        </p:spPr>
      </p:pic>
      <p:sp>
        <p:nvSpPr>
          <p:cNvPr id="3" name="Title"/>
          <p:cNvSpPr txBox="1"/>
          <p:nvPr/>
        </p:nvSpPr>
        <p:spPr>
          <a:xfrm>
            <a:off x="594360" y="566928"/>
            <a:ext cx="9601200" cy="548640"/>
          </a:xfrm>
          <a:prstGeom prst="rect">
            <a:avLst/>
          </a:prstGeom>
          <a:noFill/>
          <a:ln/>
        </p:spPr>
        <p:txBody>
          <a:bodyPr wrap="square" lIns="0" tIns="0" rIns="0" bIns="0" rtlCol="0" anchor="ctr"/>
          <a:lstStyle/>
          <a:p>
            <a:pPr indent="0" marL="0">
              <a:buNone/>
            </a:pPr>
            <a:r>
              <a:rPr lang="en-US" sz="2800" b="1" dirty="0">
                <a:solidFill>
                  <a:srgbClr val="F5F7FF"/>
                </a:solidFill>
              </a:rPr>
              <a:t>Conclusion</a:t>
            </a:r>
            <a:endParaRPr lang="en-US" sz="2800" dirty="0"/>
          </a:p>
        </p:txBody>
      </p:sp>
      <p:sp>
        <p:nvSpPr>
          <p:cNvPr id="4" name="Subtitle"/>
          <p:cNvSpPr txBox="1"/>
          <p:nvPr/>
        </p:nvSpPr>
        <p:spPr>
          <a:xfrm>
            <a:off x="612648" y="1170432"/>
            <a:ext cx="9601200" cy="320040"/>
          </a:xfrm>
          <a:prstGeom prst="rect">
            <a:avLst/>
          </a:prstGeom>
          <a:noFill/>
          <a:ln/>
        </p:spPr>
        <p:txBody>
          <a:bodyPr wrap="square" lIns="0" tIns="0" rIns="0" bIns="0" rtlCol="0" anchor="ctr"/>
          <a:lstStyle/>
          <a:p>
            <a:pPr indent="0" marL="0">
              <a:buNone/>
            </a:pPr>
            <a:r>
              <a:rPr lang="en-US" sz="1200" dirty="0">
                <a:solidFill>
                  <a:srgbClr val="AAB0CD"/>
                </a:solidFill>
              </a:rPr>
              <a:t>A unified platform for smarter warehouse operations</a:t>
            </a:r>
            <a:endParaRPr lang="en-US" sz="1200" dirty="0"/>
          </a:p>
        </p:txBody>
      </p:sp>
      <p:sp>
        <p:nvSpPr>
          <p:cNvPr id="5" name="Footer"/>
          <p:cNvSpPr txBox="1"/>
          <p:nvPr/>
        </p:nvSpPr>
        <p:spPr>
          <a:xfrm>
            <a:off x="594360" y="6446520"/>
            <a:ext cx="7315200" cy="228600"/>
          </a:xfrm>
          <a:prstGeom prst="rect">
            <a:avLst/>
          </a:prstGeom>
          <a:noFill/>
          <a:ln/>
        </p:spPr>
        <p:txBody>
          <a:bodyPr wrap="square" lIns="0" tIns="0" rIns="0" bIns="0" rtlCol="0" anchor="ctr"/>
          <a:lstStyle/>
          <a:p>
            <a:pPr indent="0" marL="0">
              <a:buNone/>
            </a:pPr>
            <a:r>
              <a:rPr lang="en-US" sz="800" b="1" dirty="0">
                <a:solidFill>
                  <a:srgbClr val="AAB0CD"/>
                </a:solidFill>
              </a:rPr>
              <a:t>INVENTORY &amp; WAREHOUSE MANAGEMENT SYSTEM • SLOTTING OPTIMIZATION</a:t>
            </a:r>
            <a:endParaRPr lang="en-US" sz="800" dirty="0"/>
          </a:p>
        </p:txBody>
      </p:sp>
      <p:sp>
        <p:nvSpPr>
          <p:cNvPr id="6" name="PageNo"/>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800" b="1" dirty="0">
                <a:solidFill>
                  <a:srgbClr val="AAB0CD"/>
                </a:solidFill>
              </a:rPr>
              <a:t>09</a:t>
            </a:r>
            <a:endParaRPr lang="en-US" sz="800" dirty="0"/>
          </a:p>
        </p:txBody>
      </p:sp>
      <p:sp>
        <p:nvSpPr>
          <p:cNvPr id="7" name="Card"/>
          <p:cNvSpPr/>
          <p:nvPr/>
        </p:nvSpPr>
        <p:spPr>
          <a:xfrm>
            <a:off x="685800" y="1783080"/>
            <a:ext cx="7040880" cy="3657600"/>
          </a:xfrm>
          <a:prstGeom prst="roundRect">
            <a:avLst>
              <a:gd name="adj" fmla="val 8750"/>
            </a:avLst>
          </a:prstGeom>
          <a:solidFill>
            <a:srgbClr val="181B31"/>
          </a:solidFill>
          <a:ln w="12700">
            <a:solidFill>
              <a:srgbClr val="181B31"/>
            </a:solidFill>
            <a:prstDash val="solid"/>
          </a:ln>
        </p:spPr>
      </p:sp>
      <p:sp>
        <p:nvSpPr>
          <p:cNvPr id="8" name="Text 5"/>
          <p:cNvSpPr txBox="1"/>
          <p:nvPr/>
        </p:nvSpPr>
        <p:spPr>
          <a:xfrm>
            <a:off x="1005840" y="2103120"/>
            <a:ext cx="4572000" cy="274320"/>
          </a:xfrm>
          <a:prstGeom prst="rect">
            <a:avLst/>
          </a:prstGeom>
          <a:noFill/>
          <a:ln/>
        </p:spPr>
        <p:txBody>
          <a:bodyPr wrap="square" lIns="0" tIns="0" rIns="0" bIns="0" rtlCol="0" anchor="ctr"/>
          <a:lstStyle/>
          <a:p>
            <a:pPr indent="0" marL="0">
              <a:buNone/>
            </a:pPr>
            <a:r>
              <a:rPr lang="en-US" sz="1100" b="1" spc="100" kern="0" dirty="0">
                <a:solidFill>
                  <a:srgbClr val="36D3D6"/>
                </a:solidFill>
              </a:rPr>
              <a:t>KEY TAKEAWAYS</a:t>
            </a:r>
            <a:endParaRPr lang="en-US" sz="1100" dirty="0"/>
          </a:p>
        </p:txBody>
      </p:sp>
      <p:sp>
        <p:nvSpPr>
          <p:cNvPr id="9" name="Marker"/>
          <p:cNvSpPr/>
          <p:nvPr/>
        </p:nvSpPr>
        <p:spPr>
          <a:xfrm>
            <a:off x="1005840" y="2606040"/>
            <a:ext cx="365760" cy="365760"/>
          </a:xfrm>
          <a:prstGeom prst="ellipse">
            <a:avLst/>
          </a:prstGeom>
          <a:solidFill>
            <a:srgbClr val="34C98B"/>
          </a:solidFill>
          <a:ln w="12700">
            <a:solidFill>
              <a:srgbClr val="34C98B"/>
            </a:solidFill>
            <a:prstDash val="solid"/>
          </a:ln>
        </p:spPr>
      </p:sp>
      <p:sp>
        <p:nvSpPr>
          <p:cNvPr id="10" name="Text 7"/>
          <p:cNvSpPr txBox="1"/>
          <p:nvPr/>
        </p:nvSpPr>
        <p:spPr>
          <a:xfrm>
            <a:off x="1005840" y="26060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1" name="Text 8"/>
          <p:cNvSpPr txBox="1"/>
          <p:nvPr/>
        </p:nvSpPr>
        <p:spPr>
          <a:xfrm>
            <a:off x="1536192" y="256032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Centralizes products, warehouses, suppliers, staff and orders</a:t>
            </a:r>
            <a:endParaRPr lang="en-US" sz="1300" dirty="0"/>
          </a:p>
        </p:txBody>
      </p:sp>
      <p:sp>
        <p:nvSpPr>
          <p:cNvPr id="12" name="Marker"/>
          <p:cNvSpPr/>
          <p:nvPr/>
        </p:nvSpPr>
        <p:spPr>
          <a:xfrm>
            <a:off x="1005840" y="3154680"/>
            <a:ext cx="365760" cy="365760"/>
          </a:xfrm>
          <a:prstGeom prst="ellipse">
            <a:avLst/>
          </a:prstGeom>
          <a:solidFill>
            <a:srgbClr val="34C98B"/>
          </a:solidFill>
          <a:ln w="12700">
            <a:solidFill>
              <a:srgbClr val="34C98B"/>
            </a:solidFill>
            <a:prstDash val="solid"/>
          </a:ln>
        </p:spPr>
      </p:sp>
      <p:sp>
        <p:nvSpPr>
          <p:cNvPr id="13" name="Text 10"/>
          <p:cNvSpPr txBox="1"/>
          <p:nvPr/>
        </p:nvSpPr>
        <p:spPr>
          <a:xfrm>
            <a:off x="1005840" y="31546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4" name="Text 11"/>
          <p:cNvSpPr txBox="1"/>
          <p:nvPr/>
        </p:nvSpPr>
        <p:spPr>
          <a:xfrm>
            <a:off x="1536192" y="310896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Tracks stock movement and warehouse capacity</a:t>
            </a:r>
            <a:endParaRPr lang="en-US" sz="1300" dirty="0"/>
          </a:p>
        </p:txBody>
      </p:sp>
      <p:sp>
        <p:nvSpPr>
          <p:cNvPr id="15" name="Marker"/>
          <p:cNvSpPr/>
          <p:nvPr/>
        </p:nvSpPr>
        <p:spPr>
          <a:xfrm>
            <a:off x="1005840" y="3703320"/>
            <a:ext cx="365760" cy="365760"/>
          </a:xfrm>
          <a:prstGeom prst="ellipse">
            <a:avLst/>
          </a:prstGeom>
          <a:solidFill>
            <a:srgbClr val="34C98B"/>
          </a:solidFill>
          <a:ln w="12700">
            <a:solidFill>
              <a:srgbClr val="34C98B"/>
            </a:solidFill>
            <a:prstDash val="solid"/>
          </a:ln>
        </p:spPr>
      </p:sp>
      <p:sp>
        <p:nvSpPr>
          <p:cNvPr id="16" name="Text 13"/>
          <p:cNvSpPr txBox="1"/>
          <p:nvPr/>
        </p:nvSpPr>
        <p:spPr>
          <a:xfrm>
            <a:off x="1005840" y="37033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7" name="Text 14"/>
          <p:cNvSpPr txBox="1"/>
          <p:nvPr/>
        </p:nvSpPr>
        <p:spPr>
          <a:xfrm>
            <a:off x="1536192" y="365760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Slotting optimization cuts retrieval time and distance</a:t>
            </a:r>
            <a:endParaRPr lang="en-US" sz="1300" dirty="0"/>
          </a:p>
        </p:txBody>
      </p:sp>
      <p:sp>
        <p:nvSpPr>
          <p:cNvPr id="18" name="Marker"/>
          <p:cNvSpPr/>
          <p:nvPr/>
        </p:nvSpPr>
        <p:spPr>
          <a:xfrm>
            <a:off x="1005840" y="4251960"/>
            <a:ext cx="365760" cy="365760"/>
          </a:xfrm>
          <a:prstGeom prst="ellipse">
            <a:avLst/>
          </a:prstGeom>
          <a:solidFill>
            <a:srgbClr val="34C98B"/>
          </a:solidFill>
          <a:ln w="12700">
            <a:solidFill>
              <a:srgbClr val="34C98B"/>
            </a:solidFill>
            <a:prstDash val="solid"/>
          </a:ln>
        </p:spPr>
      </p:sp>
      <p:sp>
        <p:nvSpPr>
          <p:cNvPr id="19" name="Text 16"/>
          <p:cNvSpPr txBox="1"/>
          <p:nvPr/>
        </p:nvSpPr>
        <p:spPr>
          <a:xfrm>
            <a:off x="1005840" y="425196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0" name="Text 17"/>
          <p:cNvSpPr txBox="1"/>
          <p:nvPr/>
        </p:nvSpPr>
        <p:spPr>
          <a:xfrm>
            <a:off x="1536192" y="420624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Secured with authentication and role-based access</a:t>
            </a:r>
            <a:endParaRPr lang="en-US" sz="1300" dirty="0"/>
          </a:p>
        </p:txBody>
      </p:sp>
      <p:sp>
        <p:nvSpPr>
          <p:cNvPr id="21" name="Marker"/>
          <p:cNvSpPr/>
          <p:nvPr/>
        </p:nvSpPr>
        <p:spPr>
          <a:xfrm>
            <a:off x="1005840" y="4800600"/>
            <a:ext cx="365760" cy="365760"/>
          </a:xfrm>
          <a:prstGeom prst="ellipse">
            <a:avLst/>
          </a:prstGeom>
          <a:solidFill>
            <a:srgbClr val="34C98B"/>
          </a:solidFill>
          <a:ln w="12700">
            <a:solidFill>
              <a:srgbClr val="34C98B"/>
            </a:solidFill>
            <a:prstDash val="solid"/>
          </a:ln>
        </p:spPr>
      </p:sp>
      <p:sp>
        <p:nvSpPr>
          <p:cNvPr id="22" name="Text 19"/>
          <p:cNvSpPr txBox="1"/>
          <p:nvPr/>
        </p:nvSpPr>
        <p:spPr>
          <a:xfrm>
            <a:off x="1005840" y="48006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23" name="Text 20"/>
          <p:cNvSpPr txBox="1"/>
          <p:nvPr/>
        </p:nvSpPr>
        <p:spPr>
          <a:xfrm>
            <a:off x="1536192" y="4754880"/>
            <a:ext cx="5943600" cy="457200"/>
          </a:xfrm>
          <a:prstGeom prst="rect">
            <a:avLst/>
          </a:prstGeom>
          <a:noFill/>
          <a:ln/>
        </p:spPr>
        <p:txBody>
          <a:bodyPr wrap="square" lIns="0" tIns="0" rIns="0" bIns="0" rtlCol="0" anchor="ctr"/>
          <a:lstStyle/>
          <a:p>
            <a:pPr indent="0" marL="0">
              <a:buNone/>
            </a:pPr>
            <a:r>
              <a:rPr lang="en-US" sz="1300" b="1" dirty="0">
                <a:solidFill>
                  <a:srgbClr val="F5F7FF"/>
                </a:solidFill>
              </a:rPr>
              <a:t>Improves inventory visibility and space utilization</a:t>
            </a:r>
            <a:endParaRPr lang="en-US" sz="1300" dirty="0"/>
          </a:p>
        </p:txBody>
      </p:sp>
      <p:sp>
        <p:nvSpPr>
          <p:cNvPr id="24" name="Card"/>
          <p:cNvSpPr/>
          <p:nvPr/>
        </p:nvSpPr>
        <p:spPr>
          <a:xfrm>
            <a:off x="8046720" y="1783080"/>
            <a:ext cx="3383280" cy="3657600"/>
          </a:xfrm>
          <a:prstGeom prst="roundRect">
            <a:avLst>
              <a:gd name="adj" fmla="val 9459"/>
            </a:avLst>
          </a:prstGeom>
          <a:solidFill>
            <a:srgbClr val="1F233E"/>
          </a:solidFill>
          <a:ln w="12700">
            <a:solidFill>
              <a:srgbClr val="1F233E"/>
            </a:solidFill>
            <a:prstDash val="solid"/>
          </a:ln>
        </p:spPr>
      </p:sp>
      <p:sp>
        <p:nvSpPr>
          <p:cNvPr id="25" name="Text 22"/>
          <p:cNvSpPr txBox="1"/>
          <p:nvPr/>
        </p:nvSpPr>
        <p:spPr>
          <a:xfrm>
            <a:off x="8366760" y="2103120"/>
            <a:ext cx="4572000" cy="274320"/>
          </a:xfrm>
          <a:prstGeom prst="rect">
            <a:avLst/>
          </a:prstGeom>
          <a:noFill/>
          <a:ln/>
        </p:spPr>
        <p:txBody>
          <a:bodyPr wrap="square" lIns="0" tIns="0" rIns="0" bIns="0" rtlCol="0" anchor="ctr"/>
          <a:lstStyle/>
          <a:p>
            <a:pPr indent="0" marL="0">
              <a:buNone/>
            </a:pPr>
            <a:r>
              <a:rPr lang="en-US" sz="1100" b="1" spc="100" kern="0" dirty="0">
                <a:solidFill>
                  <a:srgbClr val="7E57FF"/>
                </a:solidFill>
              </a:rPr>
              <a:t>PROJECT GOAL</a:t>
            </a:r>
            <a:endParaRPr lang="en-US" sz="1100" dirty="0"/>
          </a:p>
        </p:txBody>
      </p:sp>
      <p:sp>
        <p:nvSpPr>
          <p:cNvPr id="26" name="Text 23"/>
          <p:cNvSpPr txBox="1"/>
          <p:nvPr/>
        </p:nvSpPr>
        <p:spPr>
          <a:xfrm>
            <a:off x="8366760" y="2514600"/>
            <a:ext cx="2743200" cy="2651760"/>
          </a:xfrm>
          <a:prstGeom prst="rect">
            <a:avLst/>
          </a:prstGeom>
          <a:noFill/>
          <a:ln/>
        </p:spPr>
        <p:txBody>
          <a:bodyPr wrap="square" lIns="0" tIns="0" rIns="0" bIns="0" rtlCol="0" anchor="ctr"/>
          <a:lstStyle/>
          <a:p>
            <a:pPr indent="0" marL="0">
              <a:buNone/>
            </a:pPr>
            <a:r>
              <a:rPr lang="en-US" sz="2000" b="1" dirty="0">
                <a:solidFill>
                  <a:srgbClr val="F5F7FF"/>
                </a:solidFill>
              </a:rPr>
              <a:t>CENTRALIZED</a:t>
            </a:r>
            <a:endParaRPr lang="en-US" sz="2000" dirty="0"/>
          </a:p>
          <a:p>
            <a:pPr indent="0" marL="0">
              <a:buNone/>
            </a:pPr>
            <a:r>
              <a:rPr lang="en-US" sz="2000" b="1" dirty="0">
                <a:solidFill>
                  <a:srgbClr val="F5F7FF"/>
                </a:solidFill>
              </a:rPr>
              <a:t>+</a:t>
            </a:r>
            <a:endParaRPr lang="en-US" sz="2000" dirty="0"/>
          </a:p>
          <a:p>
            <a:pPr indent="0" marL="0">
              <a:buNone/>
            </a:pPr>
            <a:r>
              <a:rPr lang="en-US" sz="2000" b="1" dirty="0">
                <a:solidFill>
                  <a:srgbClr val="F5F7FF"/>
                </a:solidFill>
              </a:rPr>
              <a:t>SECURE</a:t>
            </a:r>
            <a:endParaRPr lang="en-US" sz="2000" dirty="0"/>
          </a:p>
          <a:p>
            <a:pPr indent="0" marL="0">
              <a:buNone/>
            </a:pPr>
            <a:r>
              <a:rPr lang="en-US" sz="2000" b="1" dirty="0">
                <a:solidFill>
                  <a:srgbClr val="F5F7FF"/>
                </a:solidFill>
              </a:rPr>
              <a:t>+</a:t>
            </a:r>
            <a:endParaRPr lang="en-US" sz="2000" dirty="0"/>
          </a:p>
          <a:p>
            <a:pPr indent="0" marL="0">
              <a:buNone/>
            </a:pPr>
            <a:r>
              <a:rPr lang="en-US" sz="2000" b="1" dirty="0">
                <a:solidFill>
                  <a:srgbClr val="F5F7FF"/>
                </a:solidFill>
              </a:rPr>
              <a:t>OPTIMIZED</a:t>
            </a:r>
            <a:endParaRPr lang="en-US" sz="2000" dirty="0"/>
          </a:p>
        </p:txBody>
      </p:sp>
      <p:sp>
        <p:nvSpPr>
          <p:cNvPr id="27" name="Text 24"/>
          <p:cNvSpPr txBox="1"/>
          <p:nvPr/>
        </p:nvSpPr>
        <p:spPr>
          <a:xfrm>
            <a:off x="685800" y="5669280"/>
            <a:ext cx="3657600" cy="365760"/>
          </a:xfrm>
          <a:prstGeom prst="rect">
            <a:avLst/>
          </a:prstGeom>
          <a:noFill/>
          <a:ln/>
        </p:spPr>
        <p:txBody>
          <a:bodyPr wrap="square" lIns="0" tIns="0" rIns="0" bIns="0" rtlCol="0" anchor="ctr"/>
          <a:lstStyle/>
          <a:p>
            <a:pPr indent="0" marL="0">
              <a:buNone/>
            </a:pPr>
            <a:r>
              <a:rPr lang="en-US" sz="2000" b="1" dirty="0">
                <a:solidFill>
                  <a:srgbClr val="F5F7FF"/>
                </a:solidFill>
              </a:rPr>
              <a:t>THANK YOU</a:t>
            </a:r>
            <a:endParaRPr lang="en-US" sz="2000" dirty="0"/>
          </a:p>
        </p:txBody>
      </p:sp>
      <p:sp>
        <p:nvSpPr>
          <p:cNvPr id="28" name="Text 25"/>
          <p:cNvSpPr txBox="1"/>
          <p:nvPr/>
        </p:nvSpPr>
        <p:spPr>
          <a:xfrm>
            <a:off x="3840480" y="5669280"/>
            <a:ext cx="3657600" cy="365760"/>
          </a:xfrm>
          <a:prstGeom prst="rect">
            <a:avLst/>
          </a:prstGeom>
          <a:noFill/>
          <a:ln/>
        </p:spPr>
        <p:txBody>
          <a:bodyPr wrap="square" lIns="0" tIns="0" rIns="0" bIns="0" rtlCol="0" anchor="ctr"/>
          <a:lstStyle/>
          <a:p>
            <a:pPr indent="0" marL="0">
              <a:buNone/>
            </a:pPr>
            <a:r>
              <a:rPr lang="en-US" sz="1300" dirty="0">
                <a:solidFill>
                  <a:srgbClr val="AAB0CD"/>
                </a:solidFill>
              </a:rPr>
              <a:t>Questions &amp; Discussion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&amp; Warehouse Management System</dc:title>
  <dc:subject>PptxGenJS Presentation</dc:subject>
  <dc:creator>PptxGenJS</dc:creator>
  <cp:lastModifiedBy>PptxGenJS</cp:lastModifiedBy>
  <cp:revision>1</cp:revision>
  <dcterms:created xsi:type="dcterms:W3CDTF">2026-10-03T08:43:40Z</dcterms:created>
  <dcterms:modified xsi:type="dcterms:W3CDTF">2026-10-03T08:43:40Z</dcterms:modified>
</cp:coreProperties>
</file>